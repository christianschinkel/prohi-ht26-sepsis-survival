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7"/>
  </p:notesMasterIdLst>
  <p:handoutMasterIdLst>
    <p:handoutMasterId r:id="rId28"/>
  </p:handoutMasterIdLst>
  <p:sldIdLst>
    <p:sldId id="304" r:id="rId5"/>
    <p:sldId id="301" r:id="rId6"/>
    <p:sldId id="311" r:id="rId7"/>
    <p:sldId id="313" r:id="rId8"/>
    <p:sldId id="312" r:id="rId9"/>
    <p:sldId id="314" r:id="rId10"/>
    <p:sldId id="315" r:id="rId11"/>
    <p:sldId id="318" r:id="rId12"/>
    <p:sldId id="317" r:id="rId13"/>
    <p:sldId id="316" r:id="rId14"/>
    <p:sldId id="338" r:id="rId15"/>
    <p:sldId id="319" r:id="rId16"/>
    <p:sldId id="320" r:id="rId17"/>
    <p:sldId id="321" r:id="rId18"/>
    <p:sldId id="322" r:id="rId19"/>
    <p:sldId id="323" r:id="rId20"/>
    <p:sldId id="340" r:id="rId21"/>
    <p:sldId id="339" r:id="rId22"/>
    <p:sldId id="309" r:id="rId23"/>
    <p:sldId id="337" r:id="rId24"/>
    <p:sldId id="310" r:id="rId25"/>
    <p:sldId id="305" r:id="rId26"/>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ktioner" id="{6E6E6ECD-356C-4D49-9D22-22C3E7AF66C1}">
          <p14:sldIdLst/>
        </p14:section>
        <p14:section name="Presentation" id="{B972C155-D5BF-46A7-B591-A42909CFC1FA}">
          <p14:sldIdLst>
            <p14:sldId id="304"/>
          </p14:sldIdLst>
        </p14:section>
        <p14:section name="Agenda" id="{777D259E-E9B5-3F47-995B-E31A100D318E}">
          <p14:sldIdLst>
            <p14:sldId id="301"/>
          </p14:sldIdLst>
        </p14:section>
        <p14:section name="MAIN-content" id="{15C6094C-B1DA-304F-A792-2D4F8D0B1AD7}">
          <p14:sldIdLst>
            <p14:sldId id="311"/>
            <p14:sldId id="313"/>
            <p14:sldId id="312"/>
          </p14:sldIdLst>
        </p14:section>
        <p14:section name="Dataset" id="{638BDFC8-0FE0-864F-80F6-A645393D039E}">
          <p14:sldIdLst>
            <p14:sldId id="314"/>
            <p14:sldId id="315"/>
            <p14:sldId id="318"/>
            <p14:sldId id="317"/>
            <p14:sldId id="316"/>
            <p14:sldId id="338"/>
          </p14:sldIdLst>
        </p14:section>
        <p14:section name="Plan" id="{FAE0426E-9EC4-F244-B03A-95E207BD2164}">
          <p14:sldIdLst>
            <p14:sldId id="319"/>
            <p14:sldId id="320"/>
            <p14:sldId id="321"/>
            <p14:sldId id="322"/>
            <p14:sldId id="323"/>
            <p14:sldId id="340"/>
            <p14:sldId id="339"/>
          </p14:sldIdLst>
        </p14:section>
        <p14:section name="AI Policy" id="{F2DD7FD3-7FF1-1840-9391-8EE47E6FE5EB}">
          <p14:sldIdLst>
            <p14:sldId id="309"/>
            <p14:sldId id="337"/>
          </p14:sldIdLst>
        </p14:section>
        <p14:section name="Endnotes" id="{9F072097-D152-7046-9F16-7F062C60A16E}">
          <p14:sldIdLst>
            <p14:sldId id="310"/>
            <p14:sldId id="305"/>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C0552AA-E825-9B4D-910E-EAF2B48A64D8}" name="Josefine Fahlström" initials="JF" userId="S::josefine@rehngruppen.se::95f19734-20da-42a3-84f5-fc5f81c35d2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F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 dt="2026-09-28T11:10:30.180"/>
    <p1510:client id="{02B0717A-75A1-AE48-1F34-D43D224C1C43}" v="25" dt="2026-09-28T11:51:40.508"/>
    <p1510:client id="{7DDE1A4A-C051-DC47-B883-27BB5772C15F}" v="204" dt="2026-09-28T12:38:06.399"/>
    <p1510:client id="{8B82FAA4-2889-4965-9E86-FBB535ACA331}" v="105" dt="2026-09-28T11:33:37.770"/>
    <p1510:client id="{90B6A208-0786-296A-9A68-48EF994AB912}" v="69" dt="2026-09-27T21:00:08.033"/>
    <p1510:client id="{A380CF26-03DC-FF46-94D0-D668048B45E0}" v="146" dt="2026-09-28T11:26:46.845"/>
    <p1510:client id="{C3C66E82-C74C-055E-E48E-476BA37EA7B4}" v="56" dt="2026-09-28T11:54:55.060"/>
    <p1510:client id="{C66BFCB4-A094-7F2E-2623-FD9C49F1F371}" v="15" dt="2026-09-28T11:10:57.050"/>
  </p1510:revLst>
</p1510:revInfo>
</file>

<file path=ppt/tableStyles.xml><?xml version="1.0" encoding="utf-8"?>
<a:tblStyleLst xmlns:a="http://schemas.openxmlformats.org/drawingml/2006/main" def="{5C22544A-7EE6-4342-B048-85BDC9FD1C3A}">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1"/>
  </p:normalViewPr>
  <p:slideViewPr>
    <p:cSldViewPr snapToGrid="0">
      <p:cViewPr varScale="1">
        <p:scale>
          <a:sx n="103" d="100"/>
          <a:sy n="103" d="100"/>
        </p:scale>
        <p:origin x="200"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2CB07928-A75A-F107-620A-42E182A6EB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a:extLst>
              <a:ext uri="{FF2B5EF4-FFF2-40B4-BE49-F238E27FC236}">
                <a16:creationId xmlns:a16="http://schemas.microsoft.com/office/drawing/2014/main" id="{F5CB8B71-ED55-3CBF-1F30-436B288EF81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640C19-4F6C-45C5-B912-E9BC3B732BE0}" type="datetimeFigureOut">
              <a:rPr lang="sv-SE" smtClean="0"/>
              <a:t>2026-09-28</a:t>
            </a:fld>
            <a:endParaRPr lang="sv-SE"/>
          </a:p>
        </p:txBody>
      </p:sp>
      <p:sp>
        <p:nvSpPr>
          <p:cNvPr id="4" name="Platshållare för sidfot 3">
            <a:extLst>
              <a:ext uri="{FF2B5EF4-FFF2-40B4-BE49-F238E27FC236}">
                <a16:creationId xmlns:a16="http://schemas.microsoft.com/office/drawing/2014/main" id="{433D137E-D9E6-E5D5-B137-956C475C75B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5" name="Platshållare för bildnummer 4">
            <a:extLst>
              <a:ext uri="{FF2B5EF4-FFF2-40B4-BE49-F238E27FC236}">
                <a16:creationId xmlns:a16="http://schemas.microsoft.com/office/drawing/2014/main" id="{7F92D41C-250D-69B0-3DFB-1935D1F1EA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85218D-4E59-4AD4-B444-209800A8E347}" type="slidenum">
              <a:rPr lang="sv-SE" smtClean="0"/>
              <a:t>‹#›</a:t>
            </a:fld>
            <a:endParaRPr lang="sv-SE"/>
          </a:p>
        </p:txBody>
      </p:sp>
    </p:spTree>
    <p:extLst>
      <p:ext uri="{BB962C8B-B14F-4D97-AF65-F5344CB8AC3E}">
        <p14:creationId xmlns:p14="http://schemas.microsoft.com/office/powerpoint/2010/main" val="359290289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7650A7-E0AD-43B4-860B-B6EA87638F4F}" type="datetimeFigureOut">
              <a:rPr lang="sv-SE" smtClean="0"/>
              <a:t>2026-09-28</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58DAD-563E-44C2-9634-954658D40E65}" type="slidenum">
              <a:rPr lang="sv-SE" smtClean="0"/>
              <a:t>‹#›</a:t>
            </a:fld>
            <a:endParaRPr lang="sv-SE"/>
          </a:p>
        </p:txBody>
      </p:sp>
    </p:spTree>
    <p:extLst>
      <p:ext uri="{BB962C8B-B14F-4D97-AF65-F5344CB8AC3E}">
        <p14:creationId xmlns:p14="http://schemas.microsoft.com/office/powerpoint/2010/main" val="3821070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758DAD-563E-44C2-9634-954658D40E65}" type="slidenum">
              <a:rPr lang="sv-SE" smtClean="0"/>
              <a:t>2</a:t>
            </a:fld>
            <a:endParaRPr lang="sv-SE"/>
          </a:p>
        </p:txBody>
      </p:sp>
    </p:spTree>
    <p:extLst>
      <p:ext uri="{BB962C8B-B14F-4D97-AF65-F5344CB8AC3E}">
        <p14:creationId xmlns:p14="http://schemas.microsoft.com/office/powerpoint/2010/main" val="1039856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758DAD-563E-44C2-9634-954658D40E65}" type="slidenum">
              <a:rPr lang="sv-SE" smtClean="0"/>
              <a:t>4</a:t>
            </a:fld>
            <a:endParaRPr lang="sv-SE"/>
          </a:p>
        </p:txBody>
      </p:sp>
    </p:spTree>
    <p:extLst>
      <p:ext uri="{BB962C8B-B14F-4D97-AF65-F5344CB8AC3E}">
        <p14:creationId xmlns:p14="http://schemas.microsoft.com/office/powerpoint/2010/main" val="1962524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758DAD-563E-44C2-9634-954658D40E65}" type="slidenum">
              <a:rPr lang="sv-SE" smtClean="0"/>
              <a:t>5</a:t>
            </a:fld>
            <a:endParaRPr lang="sv-SE"/>
          </a:p>
        </p:txBody>
      </p:sp>
    </p:spTree>
    <p:extLst>
      <p:ext uri="{BB962C8B-B14F-4D97-AF65-F5344CB8AC3E}">
        <p14:creationId xmlns:p14="http://schemas.microsoft.com/office/powerpoint/2010/main" val="1786332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758DAD-563E-44C2-9634-954658D40E65}" type="slidenum">
              <a:rPr lang="sv-SE" smtClean="0"/>
              <a:t>7</a:t>
            </a:fld>
            <a:endParaRPr lang="sv-SE"/>
          </a:p>
        </p:txBody>
      </p:sp>
    </p:spTree>
    <p:extLst>
      <p:ext uri="{BB962C8B-B14F-4D97-AF65-F5344CB8AC3E}">
        <p14:creationId xmlns:p14="http://schemas.microsoft.com/office/powerpoint/2010/main" val="1861739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@Christian</a:t>
            </a:r>
          </a:p>
        </p:txBody>
      </p:sp>
      <p:sp>
        <p:nvSpPr>
          <p:cNvPr id="4" name="Slide Number Placeholder 3"/>
          <p:cNvSpPr>
            <a:spLocks noGrp="1"/>
          </p:cNvSpPr>
          <p:nvPr>
            <p:ph type="sldNum" sz="quarter" idx="5"/>
          </p:nvPr>
        </p:nvSpPr>
        <p:spPr/>
        <p:txBody>
          <a:bodyPr/>
          <a:lstStyle/>
          <a:p>
            <a:fld id="{F0758DAD-563E-44C2-9634-954658D40E65}" type="slidenum">
              <a:rPr lang="sv-SE" smtClean="0"/>
              <a:t>13</a:t>
            </a:fld>
            <a:endParaRPr lang="sv-SE"/>
          </a:p>
        </p:txBody>
      </p:sp>
    </p:spTree>
    <p:extLst>
      <p:ext uri="{BB962C8B-B14F-4D97-AF65-F5344CB8AC3E}">
        <p14:creationId xmlns:p14="http://schemas.microsoft.com/office/powerpoint/2010/main" val="1880208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Statistical power and effect of the "descriptive use case"</a:t>
            </a:r>
            <a:br>
              <a:rPr lang="en-US">
                <a:ea typeface="Calibri"/>
                <a:cs typeface="+mn-lt"/>
              </a:rPr>
            </a:br>
            <a:r>
              <a:rPr lang="en-US" b="1"/>
              <a:t>test statistic</a:t>
            </a:r>
            <a:br>
              <a:rPr lang="en-US" b="1">
                <a:ea typeface="Calibri"/>
                <a:cs typeface="+mn-lt"/>
              </a:rPr>
            </a:br>
            <a:br>
              <a:rPr lang="en-US" b="1">
                <a:ea typeface="Calibri"/>
                <a:cs typeface="+mn-lt"/>
              </a:rPr>
            </a:br>
            <a:r>
              <a:rPr lang="en-US" b="1">
                <a:ea typeface="Calibri"/>
                <a:cs typeface="Calibri"/>
              </a:rPr>
              <a:t>Age：continuous1-&gt; MW-U test -&gt; two groups' age distribution differ or not?</a:t>
            </a:r>
            <a:br>
              <a:rPr lang="en-US" b="1">
                <a:ea typeface="Calibri"/>
                <a:cs typeface="+mn-lt"/>
              </a:rPr>
            </a:br>
            <a:r>
              <a:rPr lang="en-US" b="1">
                <a:ea typeface="Calibri"/>
                <a:cs typeface="+mn-lt"/>
              </a:rPr>
              <a:t>Sex:  </a:t>
            </a:r>
            <a:r>
              <a:rPr lang="en-US"/>
              <a:t>contingency table of binary metrics( sex) and outcome,-&gt; chi's square</a:t>
            </a:r>
            <a:br>
              <a:rPr lang="en-US">
                <a:cs typeface="+mn-lt"/>
              </a:rPr>
            </a:br>
            <a:r>
              <a:rPr lang="en-US">
                <a:ea typeface="Calibri"/>
                <a:cs typeface="+mn-lt"/>
              </a:rPr>
              <a:t>Num of the admission episodes: Grouping and then,  chi's square analysis.</a:t>
            </a:r>
            <a:br>
              <a:rPr lang="en-US">
                <a:ea typeface="Calibri"/>
                <a:cs typeface="+mn-lt"/>
              </a:rPr>
            </a:br>
            <a:br>
              <a:rPr lang="en-US">
                <a:ea typeface="Calibri"/>
                <a:cs typeface="+mn-lt"/>
              </a:rPr>
            </a:br>
            <a:endParaRPr lang="en-US">
              <a:ea typeface="Calibri"/>
              <a:cs typeface="+mn-lt"/>
            </a:endParaRPr>
          </a:p>
        </p:txBody>
      </p:sp>
      <p:sp>
        <p:nvSpPr>
          <p:cNvPr id="4" name="Slide Number Placeholder 3"/>
          <p:cNvSpPr>
            <a:spLocks noGrp="1"/>
          </p:cNvSpPr>
          <p:nvPr>
            <p:ph type="sldNum" sz="quarter" idx="5"/>
          </p:nvPr>
        </p:nvSpPr>
        <p:spPr/>
        <p:txBody>
          <a:bodyPr/>
          <a:lstStyle/>
          <a:p>
            <a:fld id="{F0758DAD-563E-44C2-9634-954658D40E65}" type="slidenum">
              <a:rPr lang="sv-SE" smtClean="0"/>
              <a:t>14</a:t>
            </a:fld>
            <a:endParaRPr lang="sv-SE"/>
          </a:p>
        </p:txBody>
      </p:sp>
    </p:spTree>
    <p:extLst>
      <p:ext uri="{BB962C8B-B14F-4D97-AF65-F5344CB8AC3E}">
        <p14:creationId xmlns:p14="http://schemas.microsoft.com/office/powerpoint/2010/main" val="3703927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case three moves us from "why did outcomes differ" to "what is likely to happen". </a:t>
            </a:r>
          </a:p>
        </p:txBody>
      </p:sp>
      <p:sp>
        <p:nvSpPr>
          <p:cNvPr id="4" name="Slide Number Placeholder 3"/>
          <p:cNvSpPr>
            <a:spLocks noGrp="1"/>
          </p:cNvSpPr>
          <p:nvPr>
            <p:ph type="sldNum" sz="quarter" idx="5"/>
          </p:nvPr>
        </p:nvSpPr>
        <p:spPr/>
        <p:txBody>
          <a:bodyPr/>
          <a:lstStyle/>
          <a:p>
            <a:fld id="{F0758DAD-563E-44C2-9634-954658D40E65}" type="slidenum">
              <a:rPr lang="sv-SE" smtClean="0"/>
              <a:t>16</a:t>
            </a:fld>
            <a:endParaRPr lang="sv-SE"/>
          </a:p>
        </p:txBody>
      </p:sp>
    </p:spTree>
    <p:extLst>
      <p:ext uri="{BB962C8B-B14F-4D97-AF65-F5344CB8AC3E}">
        <p14:creationId xmlns:p14="http://schemas.microsoft.com/office/powerpoint/2010/main" val="1199497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Rubrikbild - kvist">
    <p:spTree>
      <p:nvGrpSpPr>
        <p:cNvPr id="1" name=""/>
        <p:cNvGrpSpPr/>
        <p:nvPr/>
      </p:nvGrpSpPr>
      <p:grpSpPr>
        <a:xfrm>
          <a:off x="0" y="0"/>
          <a:ext cx="0" cy="0"/>
          <a:chOff x="0" y="0"/>
          <a:chExt cx="0" cy="0"/>
        </a:xfrm>
      </p:grpSpPr>
      <p:pic>
        <p:nvPicPr>
          <p:cNvPr id="8" name="Picture 6">
            <a:extLst>
              <a:ext uri="{FF2B5EF4-FFF2-40B4-BE49-F238E27FC236}">
                <a16:creationId xmlns:a16="http://schemas.microsoft.com/office/drawing/2014/main" id="{A515873A-FD41-4820-315E-A137B74F082E}"/>
              </a:ext>
              <a:ext uri="{C183D7F6-B498-43B3-948B-1728B52AA6E4}">
                <adec:decorative xmlns:adec="http://schemas.microsoft.com/office/drawing/2017/decorative" val="1"/>
              </a:ext>
            </a:extLst>
          </p:cNvPr>
          <p:cNvPicPr>
            <a:picLocks noChangeAspect="1"/>
          </p:cNvPicPr>
          <p:nvPr userDrawn="1"/>
        </p:nvPicPr>
        <p:blipFill rotWithShape="1">
          <a:blip r:embed="rId2">
            <a:alphaModFix amt="25000"/>
          </a:blip>
          <a:srcRect b="24133"/>
          <a:stretch/>
        </p:blipFill>
        <p:spPr>
          <a:xfrm>
            <a:off x="3911999" y="3585356"/>
            <a:ext cx="5283200" cy="3276000"/>
          </a:xfrm>
          <a:prstGeom prst="rect">
            <a:avLst/>
          </a:prstGeom>
        </p:spPr>
      </p:pic>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lvl1pPr>
          </a:lstStyle>
          <a:p>
            <a:endParaRPr lang="sv-SE"/>
          </a:p>
        </p:txBody>
      </p:sp>
      <p:sp>
        <p:nvSpPr>
          <p:cNvPr id="3" name="Underrubrik 2">
            <a:extLst>
              <a:ext uri="{FF2B5EF4-FFF2-40B4-BE49-F238E27FC236}">
                <a16:creationId xmlns:a16="http://schemas.microsoft.com/office/drawing/2014/main" id="{0B04F11C-8931-4F2C-862F-B58C9926FB12}"/>
              </a:ext>
            </a:extLst>
          </p:cNvPr>
          <p:cNvSpPr>
            <a:spLocks noGrp="1"/>
          </p:cNvSpPr>
          <p:nvPr>
            <p:ph type="subTitle" idx="1"/>
          </p:nvPr>
        </p:nvSpPr>
        <p:spPr>
          <a:xfrm>
            <a:off x="623887" y="3046394"/>
            <a:ext cx="10944225" cy="804249"/>
          </a:xfrm>
        </p:spPr>
        <p:txBody>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p>
            <a:r>
              <a:rPr lang="sv-SE"/>
              <a:t>PROHI HT2026 · Group 2 · Seminar 28 September 2026</a:t>
            </a:r>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p>
            <a:fld id="{B51074BD-6C45-4FCF-A977-E03D0A6EB9F6}" type="datetime1">
              <a:rPr lang="sv-SE" smtClean="0"/>
              <a:t>2026-09-28</a:t>
            </a:fld>
            <a:endParaRPr lang="sv-SE"/>
          </a:p>
        </p:txBody>
      </p:sp>
      <p:pic>
        <p:nvPicPr>
          <p:cNvPr id="7" name="Bildobjekt 6">
            <a:extLst>
              <a:ext uri="{FF2B5EF4-FFF2-40B4-BE49-F238E27FC236}">
                <a16:creationId xmlns:a16="http://schemas.microsoft.com/office/drawing/2014/main" id="{438D95FB-4B91-FBAA-0146-1B55B51A502B}"/>
              </a:ext>
            </a:extLst>
          </p:cNvPr>
          <p:cNvPicPr>
            <a:picLocks noChangeAspect="1"/>
          </p:cNvPicPr>
          <p:nvPr userDrawn="1"/>
        </p:nvPicPr>
        <p:blipFill>
          <a:blip r:embed="rId3"/>
          <a:stretch>
            <a:fillRect/>
          </a:stretch>
        </p:blipFill>
        <p:spPr bwMode="black">
          <a:xfrm>
            <a:off x="9895256" y="5953507"/>
            <a:ext cx="2296744" cy="864300"/>
          </a:xfrm>
          <a:prstGeom prst="rect">
            <a:avLst/>
          </a:prstGeom>
        </p:spPr>
      </p:pic>
    </p:spTree>
    <p:extLst>
      <p:ext uri="{BB962C8B-B14F-4D97-AF65-F5344CB8AC3E}">
        <p14:creationId xmlns:p14="http://schemas.microsoft.com/office/powerpoint/2010/main" val="3177692620"/>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Rubrikbild - e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lvl1pPr>
          </a:lstStyle>
          <a:p>
            <a:endParaRPr lang="sv-SE"/>
          </a:p>
        </p:txBody>
      </p:sp>
      <p:sp>
        <p:nvSpPr>
          <p:cNvPr id="3" name="Underrubrik 2">
            <a:extLst>
              <a:ext uri="{FF2B5EF4-FFF2-40B4-BE49-F238E27FC236}">
                <a16:creationId xmlns:a16="http://schemas.microsoft.com/office/drawing/2014/main" id="{0B04F11C-8931-4F2C-862F-B58C9926FB12}"/>
              </a:ext>
            </a:extLst>
          </p:cNvPr>
          <p:cNvSpPr>
            <a:spLocks noGrp="1"/>
          </p:cNvSpPr>
          <p:nvPr>
            <p:ph type="subTitle" idx="1"/>
          </p:nvPr>
        </p:nvSpPr>
        <p:spPr>
          <a:xfrm>
            <a:off x="623887" y="3046395"/>
            <a:ext cx="10944225" cy="804249"/>
          </a:xfrm>
        </p:spPr>
        <p:txBody>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p>
            <a:r>
              <a:rPr lang="sv-SE"/>
              <a:t>PROHI HT2026 · Group 2 · Seminar 28 September 2026</a:t>
            </a:r>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p>
            <a:fld id="{0F539853-84F3-4A23-8525-80D1222EF800}" type="datetime1">
              <a:rPr lang="sv-SE" smtClean="0"/>
              <a:t>2026-09-28</a:t>
            </a:fld>
            <a:endParaRPr lang="sv-SE"/>
          </a:p>
        </p:txBody>
      </p:sp>
      <p:pic>
        <p:nvPicPr>
          <p:cNvPr id="9" name="Picture 3">
            <a:extLst>
              <a:ext uri="{FF2B5EF4-FFF2-40B4-BE49-F238E27FC236}">
                <a16:creationId xmlns:a16="http://schemas.microsoft.com/office/drawing/2014/main" id="{6B85FD5A-2661-1A40-3003-ABE0810BD448}"/>
              </a:ext>
            </a:extLst>
          </p:cNvPr>
          <p:cNvPicPr>
            <a:picLocks noChangeAspect="1"/>
          </p:cNvPicPr>
          <p:nvPr userDrawn="1"/>
        </p:nvPicPr>
        <p:blipFill rotWithShape="1">
          <a:blip r:embed="rId2">
            <a:alphaModFix amt="25000"/>
          </a:blip>
          <a:srcRect t="2" b="15583"/>
          <a:stretch/>
        </p:blipFill>
        <p:spPr>
          <a:xfrm>
            <a:off x="3680177" y="3330084"/>
            <a:ext cx="6112080" cy="3528000"/>
          </a:xfrm>
          <a:prstGeom prst="rect">
            <a:avLst/>
          </a:prstGeom>
        </p:spPr>
      </p:pic>
      <p:pic>
        <p:nvPicPr>
          <p:cNvPr id="7" name="Bildobjekt 6">
            <a:extLst>
              <a:ext uri="{FF2B5EF4-FFF2-40B4-BE49-F238E27FC236}">
                <a16:creationId xmlns:a16="http://schemas.microsoft.com/office/drawing/2014/main" id="{2FFC4659-1462-8E24-3EF2-FDDDF134CA0D}"/>
              </a:ext>
            </a:extLst>
          </p:cNvPr>
          <p:cNvPicPr>
            <a:picLocks noChangeAspect="1"/>
          </p:cNvPicPr>
          <p:nvPr userDrawn="1"/>
        </p:nvPicPr>
        <p:blipFill>
          <a:blip r:embed="rId3"/>
          <a:stretch>
            <a:fillRect/>
          </a:stretch>
        </p:blipFill>
        <p:spPr bwMode="black">
          <a:xfrm>
            <a:off x="9895256" y="5953507"/>
            <a:ext cx="2296744" cy="864300"/>
          </a:xfrm>
          <a:prstGeom prst="rect">
            <a:avLst/>
          </a:prstGeom>
        </p:spPr>
      </p:pic>
    </p:spTree>
    <p:extLst>
      <p:ext uri="{BB962C8B-B14F-4D97-AF65-F5344CB8AC3E}">
        <p14:creationId xmlns:p14="http://schemas.microsoft.com/office/powerpoint/2010/main" val="3462314741"/>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Rubrikbild - krono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lvl1pPr>
          </a:lstStyle>
          <a:p>
            <a:endParaRPr lang="sv-SE"/>
          </a:p>
        </p:txBody>
      </p:sp>
      <p:sp>
        <p:nvSpPr>
          <p:cNvPr id="3" name="Underrubrik 2">
            <a:extLst>
              <a:ext uri="{FF2B5EF4-FFF2-40B4-BE49-F238E27FC236}">
                <a16:creationId xmlns:a16="http://schemas.microsoft.com/office/drawing/2014/main" id="{0B04F11C-8931-4F2C-862F-B58C9926FB12}"/>
              </a:ext>
            </a:extLst>
          </p:cNvPr>
          <p:cNvSpPr>
            <a:spLocks noGrp="1"/>
          </p:cNvSpPr>
          <p:nvPr>
            <p:ph type="subTitle" idx="1"/>
          </p:nvPr>
        </p:nvSpPr>
        <p:spPr>
          <a:xfrm>
            <a:off x="623887" y="3046395"/>
            <a:ext cx="10944225" cy="804249"/>
          </a:xfrm>
        </p:spPr>
        <p:txBody>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p>
            <a:r>
              <a:rPr lang="sv-SE"/>
              <a:t>PROHI HT2026 · Group 2 · Seminar 28 September 2026</a:t>
            </a:r>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p>
            <a:fld id="{5C694CBC-9D0A-4C28-8159-8F03D1B934D1}" type="datetime1">
              <a:rPr lang="sv-SE" smtClean="0"/>
              <a:t>2026-09-28</a:t>
            </a:fld>
            <a:endParaRPr lang="sv-SE"/>
          </a:p>
        </p:txBody>
      </p:sp>
      <p:pic>
        <p:nvPicPr>
          <p:cNvPr id="7" name="Picture 1">
            <a:extLst>
              <a:ext uri="{FF2B5EF4-FFF2-40B4-BE49-F238E27FC236}">
                <a16:creationId xmlns:a16="http://schemas.microsoft.com/office/drawing/2014/main" id="{99A88B90-1D13-586E-ADBD-787CC857C4CF}"/>
              </a:ext>
            </a:extLst>
          </p:cNvPr>
          <p:cNvPicPr>
            <a:picLocks noChangeAspect="1"/>
          </p:cNvPicPr>
          <p:nvPr userDrawn="1"/>
        </p:nvPicPr>
        <p:blipFill rotWithShape="1">
          <a:blip r:embed="rId2">
            <a:alphaModFix amt="25000"/>
          </a:blip>
          <a:srcRect b="8849"/>
          <a:stretch/>
        </p:blipFill>
        <p:spPr>
          <a:xfrm>
            <a:off x="3975100" y="3587626"/>
            <a:ext cx="4851400" cy="3276000"/>
          </a:xfrm>
          <a:prstGeom prst="rect">
            <a:avLst/>
          </a:prstGeom>
        </p:spPr>
      </p:pic>
      <p:pic>
        <p:nvPicPr>
          <p:cNvPr id="8" name="Bildobjekt 7">
            <a:extLst>
              <a:ext uri="{FF2B5EF4-FFF2-40B4-BE49-F238E27FC236}">
                <a16:creationId xmlns:a16="http://schemas.microsoft.com/office/drawing/2014/main" id="{563C44F6-67CA-FEF3-F8EC-C9A11F77CAE4}"/>
              </a:ext>
            </a:extLst>
          </p:cNvPr>
          <p:cNvPicPr>
            <a:picLocks noChangeAspect="1"/>
          </p:cNvPicPr>
          <p:nvPr userDrawn="1"/>
        </p:nvPicPr>
        <p:blipFill>
          <a:blip r:embed="rId3"/>
          <a:stretch>
            <a:fillRect/>
          </a:stretch>
        </p:blipFill>
        <p:spPr bwMode="black">
          <a:xfrm>
            <a:off x="9895256" y="5953507"/>
            <a:ext cx="2296744" cy="864300"/>
          </a:xfrm>
          <a:prstGeom prst="rect">
            <a:avLst/>
          </a:prstGeom>
        </p:spPr>
      </p:pic>
    </p:spTree>
    <p:extLst>
      <p:ext uri="{BB962C8B-B14F-4D97-AF65-F5344CB8AC3E}">
        <p14:creationId xmlns:p14="http://schemas.microsoft.com/office/powerpoint/2010/main" val="655969758"/>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Rubrik, text och stor bild">
    <p:spTree>
      <p:nvGrpSpPr>
        <p:cNvPr id="1" name=""/>
        <p:cNvGrpSpPr/>
        <p:nvPr/>
      </p:nvGrpSpPr>
      <p:grpSpPr>
        <a:xfrm>
          <a:off x="0" y="0"/>
          <a:ext cx="0" cy="0"/>
          <a:chOff x="0" y="0"/>
          <a:chExt cx="0" cy="0"/>
        </a:xfrm>
      </p:grpSpPr>
      <p:sp>
        <p:nvSpPr>
          <p:cNvPr id="11" name="Rubrik 10">
            <a:extLst>
              <a:ext uri="{FF2B5EF4-FFF2-40B4-BE49-F238E27FC236}">
                <a16:creationId xmlns:a16="http://schemas.microsoft.com/office/drawing/2014/main" id="{3B78B7EB-C08E-D58F-9919-F81BF636B1DC}"/>
              </a:ext>
            </a:extLst>
          </p:cNvPr>
          <p:cNvSpPr>
            <a:spLocks noGrp="1"/>
          </p:cNvSpPr>
          <p:nvPr>
            <p:ph type="title"/>
          </p:nvPr>
        </p:nvSpPr>
        <p:spPr>
          <a:xfrm>
            <a:off x="623887" y="334645"/>
            <a:ext cx="5148263" cy="692150"/>
          </a:xfrm>
        </p:spPr>
        <p:txBody>
          <a:bodyPr/>
          <a:lstStyle/>
          <a:p>
            <a:r>
              <a:rPr lang="en-US"/>
              <a:t>Click to edit Master title style</a:t>
            </a:r>
            <a:endParaRPr lang="sv-SE"/>
          </a:p>
        </p:txBody>
      </p:sp>
      <p:sp>
        <p:nvSpPr>
          <p:cNvPr id="10" name="Platshållare för text 9">
            <a:extLst>
              <a:ext uri="{FF2B5EF4-FFF2-40B4-BE49-F238E27FC236}">
                <a16:creationId xmlns:a16="http://schemas.microsoft.com/office/drawing/2014/main" id="{8FF0C923-5139-430D-4B76-F572F1B7985E}"/>
              </a:ext>
            </a:extLst>
          </p:cNvPr>
          <p:cNvSpPr>
            <a:spLocks noGrp="1"/>
          </p:cNvSpPr>
          <p:nvPr>
            <p:ph type="body" sz="quarter" idx="13"/>
          </p:nvPr>
        </p:nvSpPr>
        <p:spPr>
          <a:xfrm>
            <a:off x="623888" y="1196975"/>
            <a:ext cx="5148263" cy="478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3" name="Platshållare för bild 2">
            <a:extLst>
              <a:ext uri="{FF2B5EF4-FFF2-40B4-BE49-F238E27FC236}">
                <a16:creationId xmlns:a16="http://schemas.microsoft.com/office/drawing/2014/main" id="{3827E8E1-C8D9-4B0C-9F54-7001360B6DB0}"/>
              </a:ext>
            </a:extLst>
          </p:cNvPr>
          <p:cNvSpPr>
            <a:spLocks noGrp="1"/>
          </p:cNvSpPr>
          <p:nvPr>
            <p:ph type="pic" idx="1" hasCustomPrompt="1"/>
          </p:nvPr>
        </p:nvSpPr>
        <p:spPr>
          <a:xfrm>
            <a:off x="6419850" y="0"/>
            <a:ext cx="5772150" cy="6857999"/>
          </a:xfrm>
        </p:spPr>
        <p:txBody>
          <a:bodyPr lIns="36000" tIns="72000" rIns="0"/>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v-SE"/>
              <a:t> Klicka på ikonen för att lägga till en bild</a:t>
            </a:r>
          </a:p>
        </p:txBody>
      </p:sp>
      <p:sp>
        <p:nvSpPr>
          <p:cNvPr id="7" name="Platshållare för bildnummer 6">
            <a:extLst>
              <a:ext uri="{FF2B5EF4-FFF2-40B4-BE49-F238E27FC236}">
                <a16:creationId xmlns:a16="http://schemas.microsoft.com/office/drawing/2014/main" id="{BC5C5AB0-F210-4270-9F00-E64EE6E2CCD3}"/>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6" name="Platshållare för sidfot 5">
            <a:extLst>
              <a:ext uri="{FF2B5EF4-FFF2-40B4-BE49-F238E27FC236}">
                <a16:creationId xmlns:a16="http://schemas.microsoft.com/office/drawing/2014/main" id="{88BBB9DA-077E-4748-B71A-39B1A6673FED}"/>
              </a:ext>
            </a:extLst>
          </p:cNvPr>
          <p:cNvSpPr>
            <a:spLocks noGrp="1"/>
          </p:cNvSpPr>
          <p:nvPr>
            <p:ph type="ftr" sz="quarter" idx="11"/>
          </p:nvPr>
        </p:nvSpPr>
        <p:spPr/>
        <p:txBody>
          <a:bodyPr/>
          <a:lstStyle/>
          <a:p>
            <a:r>
              <a:rPr lang="sv-SE"/>
              <a:t>PROHI HT2026 · Group 2 · Seminar 28 September 2026</a:t>
            </a:r>
          </a:p>
        </p:txBody>
      </p:sp>
      <p:sp>
        <p:nvSpPr>
          <p:cNvPr id="5" name="Platshållare för datum 4">
            <a:extLst>
              <a:ext uri="{FF2B5EF4-FFF2-40B4-BE49-F238E27FC236}">
                <a16:creationId xmlns:a16="http://schemas.microsoft.com/office/drawing/2014/main" id="{DC5274B3-FC50-4805-83A6-333B89BE4062}"/>
              </a:ext>
            </a:extLst>
          </p:cNvPr>
          <p:cNvSpPr>
            <a:spLocks noGrp="1"/>
          </p:cNvSpPr>
          <p:nvPr>
            <p:ph type="dt" sz="half" idx="10"/>
          </p:nvPr>
        </p:nvSpPr>
        <p:spPr/>
        <p:txBody>
          <a:bodyPr/>
          <a:lstStyle/>
          <a:p>
            <a:fld id="{643E4B1A-67D0-4D16-B5AA-C1FAC55098A4}" type="datetime1">
              <a:rPr lang="sv-SE" smtClean="0"/>
              <a:t>2026-09-28</a:t>
            </a:fld>
            <a:endParaRPr lang="sv-SE"/>
          </a:p>
        </p:txBody>
      </p:sp>
    </p:spTree>
    <p:extLst>
      <p:ext uri="{BB962C8B-B14F-4D97-AF65-F5344CB8AC3E}">
        <p14:creationId xmlns:p14="http://schemas.microsoft.com/office/powerpoint/2010/main" val="3257198014"/>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ubrik, text och liten bild">
    <p:spTree>
      <p:nvGrpSpPr>
        <p:cNvPr id="1" name=""/>
        <p:cNvGrpSpPr/>
        <p:nvPr/>
      </p:nvGrpSpPr>
      <p:grpSpPr>
        <a:xfrm>
          <a:off x="0" y="0"/>
          <a:ext cx="0" cy="0"/>
          <a:chOff x="0" y="0"/>
          <a:chExt cx="0" cy="0"/>
        </a:xfrm>
      </p:grpSpPr>
      <p:sp>
        <p:nvSpPr>
          <p:cNvPr id="11" name="Rubrik 10">
            <a:extLst>
              <a:ext uri="{FF2B5EF4-FFF2-40B4-BE49-F238E27FC236}">
                <a16:creationId xmlns:a16="http://schemas.microsoft.com/office/drawing/2014/main" id="{3B78B7EB-C08E-D58F-9919-F81BF636B1DC}"/>
              </a:ext>
            </a:extLst>
          </p:cNvPr>
          <p:cNvSpPr>
            <a:spLocks noGrp="1"/>
          </p:cNvSpPr>
          <p:nvPr>
            <p:ph type="title"/>
          </p:nvPr>
        </p:nvSpPr>
        <p:spPr>
          <a:xfrm>
            <a:off x="623887" y="334645"/>
            <a:ext cx="5148263" cy="692150"/>
          </a:xfrm>
        </p:spPr>
        <p:txBody>
          <a:bodyPr/>
          <a:lstStyle/>
          <a:p>
            <a:r>
              <a:rPr lang="en-US"/>
              <a:t>Click to edit Master title style</a:t>
            </a:r>
            <a:endParaRPr lang="sv-SE"/>
          </a:p>
        </p:txBody>
      </p:sp>
      <p:sp>
        <p:nvSpPr>
          <p:cNvPr id="10" name="Platshållare för text 9">
            <a:extLst>
              <a:ext uri="{FF2B5EF4-FFF2-40B4-BE49-F238E27FC236}">
                <a16:creationId xmlns:a16="http://schemas.microsoft.com/office/drawing/2014/main" id="{8FF0C923-5139-430D-4B76-F572F1B7985E}"/>
              </a:ext>
            </a:extLst>
          </p:cNvPr>
          <p:cNvSpPr>
            <a:spLocks noGrp="1"/>
          </p:cNvSpPr>
          <p:nvPr>
            <p:ph type="body" sz="quarter" idx="13"/>
          </p:nvPr>
        </p:nvSpPr>
        <p:spPr>
          <a:xfrm>
            <a:off x="623888" y="1196975"/>
            <a:ext cx="5148263" cy="478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3" name="Platshållare för bild 2">
            <a:extLst>
              <a:ext uri="{FF2B5EF4-FFF2-40B4-BE49-F238E27FC236}">
                <a16:creationId xmlns:a16="http://schemas.microsoft.com/office/drawing/2014/main" id="{3827E8E1-C8D9-4B0C-9F54-7001360B6DB0}"/>
              </a:ext>
            </a:extLst>
          </p:cNvPr>
          <p:cNvSpPr>
            <a:spLocks noGrp="1"/>
          </p:cNvSpPr>
          <p:nvPr>
            <p:ph type="pic" idx="1" hasCustomPrompt="1"/>
          </p:nvPr>
        </p:nvSpPr>
        <p:spPr>
          <a:xfrm>
            <a:off x="6419850" y="620713"/>
            <a:ext cx="5148262" cy="5364162"/>
          </a:xfrm>
        </p:spPr>
        <p:txBody>
          <a:bodyPr lIns="36000" tIns="72000" rIns="0"/>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v-SE"/>
              <a:t> Klicka på ikonen för att lägga till en bild</a:t>
            </a:r>
          </a:p>
        </p:txBody>
      </p:sp>
      <p:sp>
        <p:nvSpPr>
          <p:cNvPr id="7" name="Platshållare för bildnummer 6">
            <a:extLst>
              <a:ext uri="{FF2B5EF4-FFF2-40B4-BE49-F238E27FC236}">
                <a16:creationId xmlns:a16="http://schemas.microsoft.com/office/drawing/2014/main" id="{BC5C5AB0-F210-4270-9F00-E64EE6E2CCD3}"/>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6" name="Platshållare för sidfot 5">
            <a:extLst>
              <a:ext uri="{FF2B5EF4-FFF2-40B4-BE49-F238E27FC236}">
                <a16:creationId xmlns:a16="http://schemas.microsoft.com/office/drawing/2014/main" id="{88BBB9DA-077E-4748-B71A-39B1A6673FED}"/>
              </a:ext>
            </a:extLst>
          </p:cNvPr>
          <p:cNvSpPr>
            <a:spLocks noGrp="1"/>
          </p:cNvSpPr>
          <p:nvPr>
            <p:ph type="ftr" sz="quarter" idx="11"/>
          </p:nvPr>
        </p:nvSpPr>
        <p:spPr/>
        <p:txBody>
          <a:bodyPr/>
          <a:lstStyle/>
          <a:p>
            <a:r>
              <a:rPr lang="sv-SE"/>
              <a:t>PROHI HT2026 · Group 2 · Seminar 28 September 2026</a:t>
            </a:r>
          </a:p>
        </p:txBody>
      </p:sp>
      <p:sp>
        <p:nvSpPr>
          <p:cNvPr id="5" name="Platshållare för datum 4">
            <a:extLst>
              <a:ext uri="{FF2B5EF4-FFF2-40B4-BE49-F238E27FC236}">
                <a16:creationId xmlns:a16="http://schemas.microsoft.com/office/drawing/2014/main" id="{DC5274B3-FC50-4805-83A6-333B89BE4062}"/>
              </a:ext>
            </a:extLst>
          </p:cNvPr>
          <p:cNvSpPr>
            <a:spLocks noGrp="1"/>
          </p:cNvSpPr>
          <p:nvPr>
            <p:ph type="dt" sz="half" idx="10"/>
          </p:nvPr>
        </p:nvSpPr>
        <p:spPr/>
        <p:txBody>
          <a:bodyPr/>
          <a:lstStyle/>
          <a:p>
            <a:fld id="{0D4ECCFC-C7F6-4169-9EC3-2ED499031583}" type="datetime1">
              <a:rPr lang="sv-SE" smtClean="0"/>
              <a:t>2026-09-28</a:t>
            </a:fld>
            <a:endParaRPr lang="sv-SE"/>
          </a:p>
        </p:txBody>
      </p:sp>
    </p:spTree>
    <p:extLst>
      <p:ext uri="{BB962C8B-B14F-4D97-AF65-F5344CB8AC3E}">
        <p14:creationId xmlns:p14="http://schemas.microsoft.com/office/powerpoint/2010/main" val="2794813866"/>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vå delar">
    <p:spTree>
      <p:nvGrpSpPr>
        <p:cNvPr id="1" name=""/>
        <p:cNvGrpSpPr/>
        <p:nvPr/>
      </p:nvGrpSpPr>
      <p:grpSpPr>
        <a:xfrm>
          <a:off x="0" y="0"/>
          <a:ext cx="0" cy="0"/>
          <a:chOff x="0" y="0"/>
          <a:chExt cx="0" cy="0"/>
        </a:xfrm>
      </p:grpSpPr>
      <p:sp>
        <p:nvSpPr>
          <p:cNvPr id="11" name="Rubrik 10">
            <a:extLst>
              <a:ext uri="{FF2B5EF4-FFF2-40B4-BE49-F238E27FC236}">
                <a16:creationId xmlns:a16="http://schemas.microsoft.com/office/drawing/2014/main" id="{3B78B7EB-C08E-D58F-9919-F81BF636B1DC}"/>
              </a:ext>
            </a:extLst>
          </p:cNvPr>
          <p:cNvSpPr>
            <a:spLocks noGrp="1"/>
          </p:cNvSpPr>
          <p:nvPr>
            <p:ph type="title"/>
          </p:nvPr>
        </p:nvSpPr>
        <p:spPr>
          <a:xfrm>
            <a:off x="623887" y="334645"/>
            <a:ext cx="5148262" cy="692150"/>
          </a:xfrm>
        </p:spPr>
        <p:txBody>
          <a:bodyPr/>
          <a:lstStyle/>
          <a:p>
            <a:r>
              <a:rPr lang="en-US"/>
              <a:t>Click to edit Master title style</a:t>
            </a:r>
            <a:endParaRPr lang="sv-SE"/>
          </a:p>
        </p:txBody>
      </p:sp>
      <p:sp>
        <p:nvSpPr>
          <p:cNvPr id="10" name="Platshållare för text 9">
            <a:extLst>
              <a:ext uri="{FF2B5EF4-FFF2-40B4-BE49-F238E27FC236}">
                <a16:creationId xmlns:a16="http://schemas.microsoft.com/office/drawing/2014/main" id="{8FF0C923-5139-430D-4B76-F572F1B7985E}"/>
              </a:ext>
            </a:extLst>
          </p:cNvPr>
          <p:cNvSpPr>
            <a:spLocks noGrp="1"/>
          </p:cNvSpPr>
          <p:nvPr>
            <p:ph type="body" sz="quarter" idx="13"/>
          </p:nvPr>
        </p:nvSpPr>
        <p:spPr>
          <a:xfrm>
            <a:off x="623888" y="1196975"/>
            <a:ext cx="5148262" cy="478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text 9">
            <a:extLst>
              <a:ext uri="{FF2B5EF4-FFF2-40B4-BE49-F238E27FC236}">
                <a16:creationId xmlns:a16="http://schemas.microsoft.com/office/drawing/2014/main" id="{98BADF9E-A12F-356B-E3C2-04A1281C3127}"/>
              </a:ext>
            </a:extLst>
          </p:cNvPr>
          <p:cNvSpPr>
            <a:spLocks noGrp="1"/>
          </p:cNvSpPr>
          <p:nvPr>
            <p:ph type="body" sz="quarter" idx="14"/>
          </p:nvPr>
        </p:nvSpPr>
        <p:spPr>
          <a:xfrm>
            <a:off x="6419851" y="1196975"/>
            <a:ext cx="5148262" cy="478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7" name="Platshållare för bildnummer 6">
            <a:extLst>
              <a:ext uri="{FF2B5EF4-FFF2-40B4-BE49-F238E27FC236}">
                <a16:creationId xmlns:a16="http://schemas.microsoft.com/office/drawing/2014/main" id="{BC5C5AB0-F210-4270-9F00-E64EE6E2CCD3}"/>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6" name="Platshållare för sidfot 5">
            <a:extLst>
              <a:ext uri="{FF2B5EF4-FFF2-40B4-BE49-F238E27FC236}">
                <a16:creationId xmlns:a16="http://schemas.microsoft.com/office/drawing/2014/main" id="{88BBB9DA-077E-4748-B71A-39B1A6673FED}"/>
              </a:ext>
            </a:extLst>
          </p:cNvPr>
          <p:cNvSpPr>
            <a:spLocks noGrp="1"/>
          </p:cNvSpPr>
          <p:nvPr>
            <p:ph type="ftr" sz="quarter" idx="11"/>
          </p:nvPr>
        </p:nvSpPr>
        <p:spPr/>
        <p:txBody>
          <a:bodyPr/>
          <a:lstStyle/>
          <a:p>
            <a:r>
              <a:rPr lang="sv-SE"/>
              <a:t>PROHI HT2026 · Group 2 · Seminar 28 September 2026</a:t>
            </a:r>
          </a:p>
        </p:txBody>
      </p:sp>
      <p:sp>
        <p:nvSpPr>
          <p:cNvPr id="5" name="Platshållare för datum 4">
            <a:extLst>
              <a:ext uri="{FF2B5EF4-FFF2-40B4-BE49-F238E27FC236}">
                <a16:creationId xmlns:a16="http://schemas.microsoft.com/office/drawing/2014/main" id="{DC5274B3-FC50-4805-83A6-333B89BE4062}"/>
              </a:ext>
            </a:extLst>
          </p:cNvPr>
          <p:cNvSpPr>
            <a:spLocks noGrp="1"/>
          </p:cNvSpPr>
          <p:nvPr>
            <p:ph type="dt" sz="half" idx="10"/>
          </p:nvPr>
        </p:nvSpPr>
        <p:spPr/>
        <p:txBody>
          <a:bodyPr/>
          <a:lstStyle/>
          <a:p>
            <a:fld id="{AE8B7AEC-EA51-4EC6-AD4F-20307B092D6F}" type="datetime1">
              <a:rPr lang="sv-SE" smtClean="0"/>
              <a:t>2026-09-28</a:t>
            </a:fld>
            <a:endParaRPr lang="sv-SE"/>
          </a:p>
        </p:txBody>
      </p:sp>
    </p:spTree>
    <p:extLst>
      <p:ext uri="{BB962C8B-B14F-4D97-AF65-F5344CB8AC3E}">
        <p14:creationId xmlns:p14="http://schemas.microsoft.com/office/powerpoint/2010/main" val="166115913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6B25631-0701-40C3-A2E5-991715C6245C}"/>
              </a:ext>
            </a:extLst>
          </p:cNvPr>
          <p:cNvSpPr>
            <a:spLocks noGrp="1"/>
          </p:cNvSpPr>
          <p:nvPr>
            <p:ph type="title"/>
          </p:nvPr>
        </p:nvSpPr>
        <p:spPr>
          <a:xfrm>
            <a:off x="623887" y="334645"/>
            <a:ext cx="9000000" cy="692150"/>
          </a:xfrm>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94DD60AF-FC73-41DA-8ECD-F5290F6D92CF}"/>
              </a:ext>
            </a:extLst>
          </p:cNvPr>
          <p:cNvSpPr>
            <a:spLocks noGrp="1"/>
          </p:cNvSpPr>
          <p:nvPr>
            <p:ph idx="1"/>
          </p:nvPr>
        </p:nvSpPr>
        <p:spPr>
          <a:xfrm>
            <a:off x="623887" y="1196975"/>
            <a:ext cx="9000000" cy="478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6" name="Platshållare för bildnummer 5">
            <a:extLst>
              <a:ext uri="{FF2B5EF4-FFF2-40B4-BE49-F238E27FC236}">
                <a16:creationId xmlns:a16="http://schemas.microsoft.com/office/drawing/2014/main" id="{9C085466-4788-495F-AA4A-842866450A58}"/>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5" name="Platshållare för sidfot 4">
            <a:extLst>
              <a:ext uri="{FF2B5EF4-FFF2-40B4-BE49-F238E27FC236}">
                <a16:creationId xmlns:a16="http://schemas.microsoft.com/office/drawing/2014/main" id="{3094C615-7E13-4A8A-90D6-32013DC87285}"/>
              </a:ext>
            </a:extLst>
          </p:cNvPr>
          <p:cNvSpPr>
            <a:spLocks noGrp="1"/>
          </p:cNvSpPr>
          <p:nvPr>
            <p:ph type="ftr" sz="quarter" idx="11"/>
          </p:nvPr>
        </p:nvSpPr>
        <p:spPr/>
        <p:txBody>
          <a:bodyPr/>
          <a:lstStyle/>
          <a:p>
            <a:r>
              <a:rPr lang="sv-SE"/>
              <a:t>PROHI HT2026 · Group 2 · Seminar 28 September 2026</a:t>
            </a:r>
          </a:p>
        </p:txBody>
      </p:sp>
      <p:sp>
        <p:nvSpPr>
          <p:cNvPr id="4" name="Platshållare för datum 3">
            <a:extLst>
              <a:ext uri="{FF2B5EF4-FFF2-40B4-BE49-F238E27FC236}">
                <a16:creationId xmlns:a16="http://schemas.microsoft.com/office/drawing/2014/main" id="{0976B228-402E-404C-A134-9A6A7E7BB343}"/>
              </a:ext>
            </a:extLst>
          </p:cNvPr>
          <p:cNvSpPr>
            <a:spLocks noGrp="1"/>
          </p:cNvSpPr>
          <p:nvPr>
            <p:ph type="dt" sz="half" idx="10"/>
          </p:nvPr>
        </p:nvSpPr>
        <p:spPr/>
        <p:txBody>
          <a:bodyPr/>
          <a:lstStyle/>
          <a:p>
            <a:fld id="{C7D49F37-9EFB-43E9-B1AA-0A134B35AE81}" type="datetime1">
              <a:rPr lang="sv-SE" smtClean="0"/>
              <a:t>2026-09-28</a:t>
            </a:fld>
            <a:endParaRPr lang="sv-SE"/>
          </a:p>
        </p:txBody>
      </p:sp>
    </p:spTree>
    <p:extLst>
      <p:ext uri="{BB962C8B-B14F-4D97-AF65-F5344CB8AC3E}">
        <p14:creationId xmlns:p14="http://schemas.microsoft.com/office/powerpoint/2010/main" val="45005936"/>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Kapitelsida - blå">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AE086683-F536-42AB-ABBC-F4803DFE8DBC}" type="slidenum">
              <a:rPr lang="sv-SE" smtClean="0"/>
              <a:pPr/>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lvl1pPr>
              <a:defRPr>
                <a:solidFill>
                  <a:schemeClr val="tx1"/>
                </a:solidFill>
              </a:defRPr>
            </a:lvl1pPr>
          </a:lstStyle>
          <a:p>
            <a:r>
              <a:rPr lang="sv-SE"/>
              <a:t>PROHI HT2026 · Group 2 · Seminar 28 September 2026</a:t>
            </a:r>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lvl1pPr>
              <a:defRPr>
                <a:solidFill>
                  <a:schemeClr val="tx1"/>
                </a:solidFill>
              </a:defRPr>
            </a:lvl1pPr>
          </a:lstStyle>
          <a:p>
            <a:fld id="{CB88BD0F-71AF-4521-AD7F-1C42293E1D37}" type="datetime1">
              <a:rPr lang="sv-SE" smtClean="0"/>
              <a:t>2026-09-28</a:t>
            </a:fld>
            <a:endParaRPr lang="sv-SE"/>
          </a:p>
        </p:txBody>
      </p:sp>
      <p:pic>
        <p:nvPicPr>
          <p:cNvPr id="10" name="Bildobjekt 8">
            <a:extLst>
              <a:ext uri="{FF2B5EF4-FFF2-40B4-BE49-F238E27FC236}">
                <a16:creationId xmlns:a16="http://schemas.microsoft.com/office/drawing/2014/main" id="{48F77B2E-B0DC-1BF3-E255-96650F6DBEC7}"/>
              </a:ext>
            </a:extLst>
          </p:cNvPr>
          <p:cNvPicPr>
            <a:picLocks noChangeAspect="1"/>
          </p:cNvPicPr>
          <p:nvPr userDrawn="1"/>
        </p:nvPicPr>
        <p:blipFill>
          <a:blip r:embed="rId3"/>
          <a:stretch>
            <a:fillRect/>
          </a:stretch>
        </p:blipFill>
        <p:spPr bwMode="black">
          <a:xfrm>
            <a:off x="10486800" y="6123601"/>
            <a:ext cx="1663200" cy="625889"/>
          </a:xfrm>
          <a:prstGeom prst="rect">
            <a:avLst/>
          </a:prstGeom>
        </p:spPr>
      </p:pic>
    </p:spTree>
    <p:extLst>
      <p:ext uri="{BB962C8B-B14F-4D97-AF65-F5344CB8AC3E}">
        <p14:creationId xmlns:p14="http://schemas.microsoft.com/office/powerpoint/2010/main" val="3065171935"/>
      </p:ext>
    </p:extLst>
  </p:cSld>
  <p:clrMapOvr>
    <a:masterClrMapping/>
  </p:clrMapOvr>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Kapitelsida - 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AE086683-F536-42AB-ABBC-F4803DFE8DBC}" type="slidenum">
              <a:rPr lang="sv-SE" smtClean="0"/>
              <a:pPr/>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lvl1pPr>
              <a:defRPr>
                <a:solidFill>
                  <a:schemeClr val="tx1"/>
                </a:solidFill>
              </a:defRPr>
            </a:lvl1pPr>
          </a:lstStyle>
          <a:p>
            <a:r>
              <a:rPr lang="sv-SE"/>
              <a:t>PROHI HT2026 · Group 2 · Seminar 28 September 2026</a:t>
            </a:r>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lvl1pPr>
              <a:defRPr>
                <a:solidFill>
                  <a:schemeClr val="tx1"/>
                </a:solidFill>
              </a:defRPr>
            </a:lvl1pPr>
          </a:lstStyle>
          <a:p>
            <a:fld id="{718D8713-1142-4327-A0B3-14822AE2BECC}" type="datetime1">
              <a:rPr lang="sv-SE" smtClean="0"/>
              <a:t>2026-09-28</a:t>
            </a:fld>
            <a:endParaRPr lang="sv-SE"/>
          </a:p>
        </p:txBody>
      </p:sp>
      <p:pic>
        <p:nvPicPr>
          <p:cNvPr id="10" name="Bildobjekt 8">
            <a:extLst>
              <a:ext uri="{FF2B5EF4-FFF2-40B4-BE49-F238E27FC236}">
                <a16:creationId xmlns:a16="http://schemas.microsoft.com/office/drawing/2014/main" id="{48F77B2E-B0DC-1BF3-E255-96650F6DBEC7}"/>
              </a:ext>
            </a:extLst>
          </p:cNvPr>
          <p:cNvPicPr>
            <a:picLocks noChangeAspect="1"/>
          </p:cNvPicPr>
          <p:nvPr userDrawn="1"/>
        </p:nvPicPr>
        <p:blipFill>
          <a:blip r:embed="rId3"/>
          <a:stretch>
            <a:fillRect/>
          </a:stretch>
        </p:blipFill>
        <p:spPr bwMode="black">
          <a:xfrm>
            <a:off x="10486800" y="6123601"/>
            <a:ext cx="1663200" cy="625889"/>
          </a:xfrm>
          <a:prstGeom prst="rect">
            <a:avLst/>
          </a:prstGeom>
        </p:spPr>
      </p:pic>
    </p:spTree>
    <p:extLst>
      <p:ext uri="{BB962C8B-B14F-4D97-AF65-F5344CB8AC3E}">
        <p14:creationId xmlns:p14="http://schemas.microsoft.com/office/powerpoint/2010/main" val="3888632417"/>
      </p:ext>
    </p:extLst>
  </p:cSld>
  <p:clrMapOvr>
    <a:masterClrMapping/>
  </p:clrMapOvr>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sida - grö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solidFill>
                  <a:schemeClr val="tx1"/>
                </a:solidFill>
              </a:defRPr>
            </a:lvl1pPr>
          </a:lstStyle>
          <a:p>
            <a:endParaRPr lang="sv-SE"/>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AE086683-F536-42AB-ABBC-F4803DFE8DBC}" type="slidenum">
              <a:rPr lang="sv-SE" smtClean="0"/>
              <a:pPr/>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lvl1pPr>
              <a:defRPr>
                <a:solidFill>
                  <a:schemeClr val="tx1"/>
                </a:solidFill>
              </a:defRPr>
            </a:lvl1pPr>
          </a:lstStyle>
          <a:p>
            <a:r>
              <a:rPr lang="sv-SE"/>
              <a:t>PROHI HT2026 · Group 2 · Seminar 28 September 2026</a:t>
            </a:r>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lvl1pPr>
              <a:defRPr>
                <a:solidFill>
                  <a:schemeClr val="tx1"/>
                </a:solidFill>
              </a:defRPr>
            </a:lvl1pPr>
          </a:lstStyle>
          <a:p>
            <a:fld id="{C2F632AA-0142-45B7-8E85-FD026349257C}" type="datetime1">
              <a:rPr lang="sv-SE" smtClean="0"/>
              <a:t>2026-09-28</a:t>
            </a:fld>
            <a:endParaRPr lang="sv-SE"/>
          </a:p>
        </p:txBody>
      </p:sp>
      <p:pic>
        <p:nvPicPr>
          <p:cNvPr id="10" name="Bildobjekt 8">
            <a:extLst>
              <a:ext uri="{FF2B5EF4-FFF2-40B4-BE49-F238E27FC236}">
                <a16:creationId xmlns:a16="http://schemas.microsoft.com/office/drawing/2014/main" id="{48F77B2E-B0DC-1BF3-E255-96650F6DBEC7}"/>
              </a:ext>
            </a:extLst>
          </p:cNvPr>
          <p:cNvPicPr>
            <a:picLocks noChangeAspect="1"/>
          </p:cNvPicPr>
          <p:nvPr userDrawn="1"/>
        </p:nvPicPr>
        <p:blipFill>
          <a:blip r:embed="rId3"/>
          <a:stretch>
            <a:fillRect/>
          </a:stretch>
        </p:blipFill>
        <p:spPr bwMode="black">
          <a:xfrm>
            <a:off x="10486800" y="6123601"/>
            <a:ext cx="1663200" cy="625889"/>
          </a:xfrm>
          <a:prstGeom prst="rect">
            <a:avLst/>
          </a:prstGeom>
        </p:spPr>
      </p:pic>
    </p:spTree>
    <p:extLst>
      <p:ext uri="{BB962C8B-B14F-4D97-AF65-F5344CB8AC3E}">
        <p14:creationId xmlns:p14="http://schemas.microsoft.com/office/powerpoint/2010/main" val="3703906895"/>
      </p:ext>
    </p:extLst>
  </p:cSld>
  <p:clrMapOvr>
    <a:masterClrMapping/>
  </p:clrMapOvr>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sida - ljusblå">
    <p:bg>
      <p:bgPr>
        <a:solidFill>
          <a:schemeClr val="accent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1714682"/>
            <a:ext cx="10944225" cy="1244420"/>
          </a:xfrm>
        </p:spPr>
        <p:txBody>
          <a:bodyPr anchor="b"/>
          <a:lstStyle>
            <a:lvl1pPr algn="l">
              <a:defRPr sz="5400">
                <a:solidFill>
                  <a:schemeClr val="bg2"/>
                </a:solidFill>
              </a:defRPr>
            </a:lvl1pPr>
          </a:lstStyle>
          <a:p>
            <a:endParaRPr lang="sv-SE"/>
          </a:p>
        </p:txBody>
      </p:sp>
      <p:sp>
        <p:nvSpPr>
          <p:cNvPr id="8" name="Platshållare för bildnummer 7">
            <a:extLst>
              <a:ext uri="{FF2B5EF4-FFF2-40B4-BE49-F238E27FC236}">
                <a16:creationId xmlns:a16="http://schemas.microsoft.com/office/drawing/2014/main" id="{3016E4C3-9E99-B729-232E-84386F1824D9}"/>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AE086683-F536-42AB-ABBC-F4803DFE8DBC}" type="slidenum">
              <a:rPr lang="sv-SE" smtClean="0"/>
              <a:pPr/>
              <a:t>‹#›</a:t>
            </a:fld>
            <a:endParaRPr lang="sv-SE"/>
          </a:p>
        </p:txBody>
      </p:sp>
      <p:sp>
        <p:nvSpPr>
          <p:cNvPr id="7" name="Platshållare för sidfot 6">
            <a:extLst>
              <a:ext uri="{FF2B5EF4-FFF2-40B4-BE49-F238E27FC236}">
                <a16:creationId xmlns:a16="http://schemas.microsoft.com/office/drawing/2014/main" id="{A82196CD-BF64-C9E2-75F5-8DBF87F86D05}"/>
              </a:ext>
            </a:extLst>
          </p:cNvPr>
          <p:cNvSpPr>
            <a:spLocks noGrp="1"/>
          </p:cNvSpPr>
          <p:nvPr>
            <p:ph type="ftr" sz="quarter" idx="11"/>
          </p:nvPr>
        </p:nvSpPr>
        <p:spPr/>
        <p:txBody>
          <a:bodyPr/>
          <a:lstStyle>
            <a:lvl1pPr>
              <a:defRPr>
                <a:solidFill>
                  <a:schemeClr val="bg2"/>
                </a:solidFill>
              </a:defRPr>
            </a:lvl1pPr>
          </a:lstStyle>
          <a:p>
            <a:r>
              <a:rPr lang="sv-SE"/>
              <a:t>PROHI HT2026 · Group 2 · Seminar 28 September 2026</a:t>
            </a:r>
          </a:p>
        </p:txBody>
      </p:sp>
      <p:sp>
        <p:nvSpPr>
          <p:cNvPr id="3" name="Platshållare för datum 2">
            <a:extLst>
              <a:ext uri="{FF2B5EF4-FFF2-40B4-BE49-F238E27FC236}">
                <a16:creationId xmlns:a16="http://schemas.microsoft.com/office/drawing/2014/main" id="{D3805F1E-D8C8-C0B1-FB03-ECFB5F053C0C}"/>
              </a:ext>
            </a:extLst>
          </p:cNvPr>
          <p:cNvSpPr>
            <a:spLocks noGrp="1"/>
          </p:cNvSpPr>
          <p:nvPr>
            <p:ph type="dt" sz="half" idx="10"/>
          </p:nvPr>
        </p:nvSpPr>
        <p:spPr/>
        <p:txBody>
          <a:bodyPr/>
          <a:lstStyle>
            <a:lvl1pPr>
              <a:defRPr>
                <a:solidFill>
                  <a:schemeClr val="bg2"/>
                </a:solidFill>
              </a:defRPr>
            </a:lvl1pPr>
          </a:lstStyle>
          <a:p>
            <a:fld id="{7B49FC9D-7C32-4E59-A2B3-79162D05DC75}" type="datetime1">
              <a:rPr lang="sv-SE" smtClean="0"/>
              <a:t>2026-09-28</a:t>
            </a:fld>
            <a:endParaRPr lang="sv-SE"/>
          </a:p>
        </p:txBody>
      </p:sp>
      <p:pic>
        <p:nvPicPr>
          <p:cNvPr id="5" name="Bildobjekt 8">
            <a:extLst>
              <a:ext uri="{FF2B5EF4-FFF2-40B4-BE49-F238E27FC236}">
                <a16:creationId xmlns:a16="http://schemas.microsoft.com/office/drawing/2014/main" id="{599D70C6-0B5F-C067-19B6-6A05F81816D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486800" y="6123601"/>
            <a:ext cx="1663200" cy="625888"/>
          </a:xfrm>
          <a:prstGeom prst="rect">
            <a:avLst/>
          </a:prstGeom>
        </p:spPr>
      </p:pic>
    </p:spTree>
    <p:extLst>
      <p:ext uri="{BB962C8B-B14F-4D97-AF65-F5344CB8AC3E}">
        <p14:creationId xmlns:p14="http://schemas.microsoft.com/office/powerpoint/2010/main" val="1273707013"/>
      </p:ext>
    </p:extLst>
  </p:cSld>
  <p:clrMapOvr>
    <a:masterClrMapping/>
  </p:clrMapOvr>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ita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hasCustomPrompt="1"/>
          </p:nvPr>
        </p:nvSpPr>
        <p:spPr>
          <a:xfrm>
            <a:off x="635461" y="1757443"/>
            <a:ext cx="9209093" cy="1768511"/>
          </a:xfrm>
        </p:spPr>
        <p:txBody>
          <a:bodyPr anchor="b"/>
          <a:lstStyle>
            <a:lvl1pPr algn="l">
              <a:defRPr sz="5400"/>
            </a:lvl1pPr>
          </a:lstStyle>
          <a:p>
            <a:r>
              <a:rPr lang="sv-SE"/>
              <a:t>”Citat”</a:t>
            </a:r>
          </a:p>
        </p:txBody>
      </p:sp>
      <p:sp>
        <p:nvSpPr>
          <p:cNvPr id="3" name="Underrubrik 2">
            <a:extLst>
              <a:ext uri="{FF2B5EF4-FFF2-40B4-BE49-F238E27FC236}">
                <a16:creationId xmlns:a16="http://schemas.microsoft.com/office/drawing/2014/main" id="{0B04F11C-8931-4F2C-862F-B58C9926FB12}"/>
              </a:ext>
            </a:extLst>
          </p:cNvPr>
          <p:cNvSpPr>
            <a:spLocks noGrp="1"/>
          </p:cNvSpPr>
          <p:nvPr>
            <p:ph type="subTitle" idx="1" hasCustomPrompt="1"/>
          </p:nvPr>
        </p:nvSpPr>
        <p:spPr>
          <a:xfrm>
            <a:off x="635461" y="3607060"/>
            <a:ext cx="9209093" cy="373822"/>
          </a:xfrm>
        </p:spPr>
        <p:txBody>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Förnamn Efternamn, titel</a:t>
            </a:r>
          </a:p>
        </p:txBody>
      </p:sp>
      <p:sp>
        <p:nvSpPr>
          <p:cNvPr id="6" name="Platshållare för bildnummer 5">
            <a:extLst>
              <a:ext uri="{FF2B5EF4-FFF2-40B4-BE49-F238E27FC236}">
                <a16:creationId xmlns:a16="http://schemas.microsoft.com/office/drawing/2014/main" id="{81FD2A41-9C0C-486B-814D-D78D722ED64C}"/>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5" name="Platshållare för sidfot 4">
            <a:extLst>
              <a:ext uri="{FF2B5EF4-FFF2-40B4-BE49-F238E27FC236}">
                <a16:creationId xmlns:a16="http://schemas.microsoft.com/office/drawing/2014/main" id="{637ACD31-1B3B-4C51-AAAF-B74C576BADD5}"/>
              </a:ext>
            </a:extLst>
          </p:cNvPr>
          <p:cNvSpPr>
            <a:spLocks noGrp="1"/>
          </p:cNvSpPr>
          <p:nvPr>
            <p:ph type="ftr" sz="quarter" idx="11"/>
          </p:nvPr>
        </p:nvSpPr>
        <p:spPr/>
        <p:txBody>
          <a:bodyPr/>
          <a:lstStyle/>
          <a:p>
            <a:r>
              <a:rPr lang="sv-SE"/>
              <a:t>PROHI HT2026 · Group 2 · Seminar 28 September 2026</a:t>
            </a:r>
          </a:p>
        </p:txBody>
      </p:sp>
      <p:sp>
        <p:nvSpPr>
          <p:cNvPr id="4" name="Platshållare för datum 3">
            <a:extLst>
              <a:ext uri="{FF2B5EF4-FFF2-40B4-BE49-F238E27FC236}">
                <a16:creationId xmlns:a16="http://schemas.microsoft.com/office/drawing/2014/main" id="{9964F6B1-10EC-43D7-8A6F-B43A304B5901}"/>
              </a:ext>
            </a:extLst>
          </p:cNvPr>
          <p:cNvSpPr>
            <a:spLocks noGrp="1"/>
          </p:cNvSpPr>
          <p:nvPr>
            <p:ph type="dt" sz="half" idx="10"/>
          </p:nvPr>
        </p:nvSpPr>
        <p:spPr/>
        <p:txBody>
          <a:bodyPr/>
          <a:lstStyle/>
          <a:p>
            <a:fld id="{68C3B88B-7199-46E8-B955-CD043252A387}" type="datetime1">
              <a:rPr lang="sv-SE" smtClean="0"/>
              <a:t>2026-09-28</a:t>
            </a:fld>
            <a:endParaRPr lang="sv-SE"/>
          </a:p>
        </p:txBody>
      </p:sp>
    </p:spTree>
    <p:extLst>
      <p:ext uri="{BB962C8B-B14F-4D97-AF65-F5344CB8AC3E}">
        <p14:creationId xmlns:p14="http://schemas.microsoft.com/office/powerpoint/2010/main" val="2102116897"/>
      </p:ext>
    </p:extLst>
  </p:cSld>
  <p:clrMapOvr>
    <a:masterClrMapping/>
  </p:clrMapOvr>
  <p:hf hdr="0" dt="0"/>
  <p:extLst>
    <p:ext uri="{DCECCB84-F9BA-43D5-87BE-67443E8EF086}">
      <p15:sldGuideLst xmlns:p15="http://schemas.microsoft.com/office/powerpoint/2012/main">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Endast rubrik - mör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5571902-9019-4326-9DA4-70B9743B49ED}"/>
              </a:ext>
            </a:extLst>
          </p:cNvPr>
          <p:cNvSpPr>
            <a:spLocks noGrp="1"/>
          </p:cNvSpPr>
          <p:nvPr>
            <p:ph type="title"/>
          </p:nvPr>
        </p:nvSpPr>
        <p:spPr/>
        <p:txBody>
          <a:bodyPr/>
          <a:lstStyle/>
          <a:p>
            <a:r>
              <a:rPr lang="en-US"/>
              <a:t>Click to edit Master title style</a:t>
            </a:r>
            <a:endParaRPr lang="sv-SE"/>
          </a:p>
        </p:txBody>
      </p:sp>
      <p:sp>
        <p:nvSpPr>
          <p:cNvPr id="5" name="Platshållare för bildnummer 4">
            <a:extLst>
              <a:ext uri="{FF2B5EF4-FFF2-40B4-BE49-F238E27FC236}">
                <a16:creationId xmlns:a16="http://schemas.microsoft.com/office/drawing/2014/main" id="{3F1E028D-3B14-4181-8E8B-87D9D42D9C5D}"/>
              </a:ext>
            </a:extLst>
          </p:cNvPr>
          <p:cNvSpPr>
            <a:spLocks noGrp="1"/>
          </p:cNvSpPr>
          <p:nvPr>
            <p:ph type="sldNum" sz="quarter" idx="12"/>
          </p:nvPr>
        </p:nvSpPr>
        <p:spPr/>
        <p:txBody>
          <a:bodyPr/>
          <a:lstStyle/>
          <a:p>
            <a:fld id="{AE086683-F536-42AB-ABBC-F4803DFE8DBC}" type="slidenum">
              <a:rPr lang="sv-SE" smtClean="0"/>
              <a:t>‹#›</a:t>
            </a:fld>
            <a:endParaRPr lang="sv-SE"/>
          </a:p>
        </p:txBody>
      </p:sp>
      <p:sp>
        <p:nvSpPr>
          <p:cNvPr id="4" name="Platshållare för sidfot 3">
            <a:extLst>
              <a:ext uri="{FF2B5EF4-FFF2-40B4-BE49-F238E27FC236}">
                <a16:creationId xmlns:a16="http://schemas.microsoft.com/office/drawing/2014/main" id="{86059243-015F-4404-ADE1-14E49E0315F6}"/>
              </a:ext>
            </a:extLst>
          </p:cNvPr>
          <p:cNvSpPr>
            <a:spLocks noGrp="1"/>
          </p:cNvSpPr>
          <p:nvPr>
            <p:ph type="ftr" sz="quarter" idx="11"/>
          </p:nvPr>
        </p:nvSpPr>
        <p:spPr/>
        <p:txBody>
          <a:bodyPr/>
          <a:lstStyle/>
          <a:p>
            <a:r>
              <a:rPr lang="sv-SE"/>
              <a:t>PROHI HT2026 · Group 2 · Seminar 28 September 2026</a:t>
            </a:r>
          </a:p>
        </p:txBody>
      </p:sp>
      <p:sp>
        <p:nvSpPr>
          <p:cNvPr id="3" name="Platshållare för datum 2">
            <a:extLst>
              <a:ext uri="{FF2B5EF4-FFF2-40B4-BE49-F238E27FC236}">
                <a16:creationId xmlns:a16="http://schemas.microsoft.com/office/drawing/2014/main" id="{4B906970-3E04-4D0D-B628-981C4A918A6F}"/>
              </a:ext>
            </a:extLst>
          </p:cNvPr>
          <p:cNvSpPr>
            <a:spLocks noGrp="1"/>
          </p:cNvSpPr>
          <p:nvPr>
            <p:ph type="dt" sz="half" idx="10"/>
          </p:nvPr>
        </p:nvSpPr>
        <p:spPr/>
        <p:txBody>
          <a:bodyPr/>
          <a:lstStyle/>
          <a:p>
            <a:fld id="{E0F06B92-0229-4386-931F-2F6B833066AC}" type="datetime1">
              <a:rPr lang="sv-SE" smtClean="0"/>
              <a:t>2026-09-28</a:t>
            </a:fld>
            <a:endParaRPr lang="sv-SE"/>
          </a:p>
        </p:txBody>
      </p:sp>
    </p:spTree>
    <p:extLst>
      <p:ext uri="{BB962C8B-B14F-4D97-AF65-F5344CB8AC3E}">
        <p14:creationId xmlns:p14="http://schemas.microsoft.com/office/powerpoint/2010/main" val="2193212721"/>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Only" preserve="1">
  <p:cSld name="Endast rubrik - ljusblå">
    <p:bg>
      <p:bgPr>
        <a:solidFill>
          <a:schemeClr val="accent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5571902-9019-4326-9DA4-70B9743B49ED}"/>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sv-SE"/>
          </a:p>
        </p:txBody>
      </p:sp>
      <p:sp>
        <p:nvSpPr>
          <p:cNvPr id="5" name="Platshållare för bildnummer 4">
            <a:extLst>
              <a:ext uri="{FF2B5EF4-FFF2-40B4-BE49-F238E27FC236}">
                <a16:creationId xmlns:a16="http://schemas.microsoft.com/office/drawing/2014/main" id="{3F1E028D-3B14-4181-8E8B-87D9D42D9C5D}"/>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AE086683-F536-42AB-ABBC-F4803DFE8DBC}" type="slidenum">
              <a:rPr lang="sv-SE" smtClean="0"/>
              <a:pPr/>
              <a:t>‹#›</a:t>
            </a:fld>
            <a:endParaRPr lang="sv-SE"/>
          </a:p>
        </p:txBody>
      </p:sp>
      <p:sp>
        <p:nvSpPr>
          <p:cNvPr id="4" name="Platshållare för sidfot 3">
            <a:extLst>
              <a:ext uri="{FF2B5EF4-FFF2-40B4-BE49-F238E27FC236}">
                <a16:creationId xmlns:a16="http://schemas.microsoft.com/office/drawing/2014/main" id="{86059243-015F-4404-ADE1-14E49E0315F6}"/>
              </a:ext>
            </a:extLst>
          </p:cNvPr>
          <p:cNvSpPr>
            <a:spLocks noGrp="1"/>
          </p:cNvSpPr>
          <p:nvPr>
            <p:ph type="ftr" sz="quarter" idx="11"/>
          </p:nvPr>
        </p:nvSpPr>
        <p:spPr/>
        <p:txBody>
          <a:bodyPr/>
          <a:lstStyle>
            <a:lvl1pPr>
              <a:defRPr>
                <a:solidFill>
                  <a:schemeClr val="bg2"/>
                </a:solidFill>
              </a:defRPr>
            </a:lvl1pPr>
          </a:lstStyle>
          <a:p>
            <a:r>
              <a:rPr lang="sv-SE"/>
              <a:t>PROHI HT2026 · Group 2 · Seminar 28 September 2026</a:t>
            </a:r>
          </a:p>
        </p:txBody>
      </p:sp>
      <p:sp>
        <p:nvSpPr>
          <p:cNvPr id="3" name="Platshållare för datum 2">
            <a:extLst>
              <a:ext uri="{FF2B5EF4-FFF2-40B4-BE49-F238E27FC236}">
                <a16:creationId xmlns:a16="http://schemas.microsoft.com/office/drawing/2014/main" id="{4B906970-3E04-4D0D-B628-981C4A918A6F}"/>
              </a:ext>
            </a:extLst>
          </p:cNvPr>
          <p:cNvSpPr>
            <a:spLocks noGrp="1"/>
          </p:cNvSpPr>
          <p:nvPr>
            <p:ph type="dt" sz="half" idx="10"/>
          </p:nvPr>
        </p:nvSpPr>
        <p:spPr/>
        <p:txBody>
          <a:bodyPr/>
          <a:lstStyle>
            <a:lvl1pPr>
              <a:defRPr>
                <a:solidFill>
                  <a:schemeClr val="bg2"/>
                </a:solidFill>
              </a:defRPr>
            </a:lvl1pPr>
          </a:lstStyle>
          <a:p>
            <a:fld id="{EE04F787-9230-40DF-B7DB-331DC9727D74}" type="datetime1">
              <a:rPr lang="sv-SE" smtClean="0"/>
              <a:t>2026-09-28</a:t>
            </a:fld>
            <a:endParaRPr lang="sv-SE"/>
          </a:p>
        </p:txBody>
      </p:sp>
      <p:pic>
        <p:nvPicPr>
          <p:cNvPr id="6" name="Bildobjekt 8">
            <a:extLst>
              <a:ext uri="{FF2B5EF4-FFF2-40B4-BE49-F238E27FC236}">
                <a16:creationId xmlns:a16="http://schemas.microsoft.com/office/drawing/2014/main" id="{8918E4C6-E157-5D35-4C91-34D262D1AF8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486800" y="6123601"/>
            <a:ext cx="1663200" cy="625888"/>
          </a:xfrm>
          <a:prstGeom prst="rect">
            <a:avLst/>
          </a:prstGeom>
        </p:spPr>
      </p:pic>
    </p:spTree>
    <p:extLst>
      <p:ext uri="{BB962C8B-B14F-4D97-AF65-F5344CB8AC3E}">
        <p14:creationId xmlns:p14="http://schemas.microsoft.com/office/powerpoint/2010/main" val="1544632508"/>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lutsida">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258EC79-F416-4E3D-A67E-4A13E8004581}"/>
              </a:ext>
            </a:extLst>
          </p:cNvPr>
          <p:cNvSpPr>
            <a:spLocks noGrp="1"/>
          </p:cNvSpPr>
          <p:nvPr>
            <p:ph type="ctrTitle"/>
          </p:nvPr>
        </p:nvSpPr>
        <p:spPr>
          <a:xfrm>
            <a:off x="623887" y="2490823"/>
            <a:ext cx="10944225" cy="931862"/>
          </a:xfrm>
        </p:spPr>
        <p:txBody>
          <a:bodyPr anchor="b"/>
          <a:lstStyle>
            <a:lvl1pPr algn="l">
              <a:defRPr sz="6000">
                <a:solidFill>
                  <a:schemeClr val="tx1"/>
                </a:solidFill>
              </a:defRPr>
            </a:lvl1pPr>
          </a:lstStyle>
          <a:p>
            <a:endParaRPr lang="sv-SE"/>
          </a:p>
        </p:txBody>
      </p:sp>
      <p:sp>
        <p:nvSpPr>
          <p:cNvPr id="8" name="Platshållare för bildnummer 7">
            <a:extLst>
              <a:ext uri="{FF2B5EF4-FFF2-40B4-BE49-F238E27FC236}">
                <a16:creationId xmlns:a16="http://schemas.microsoft.com/office/drawing/2014/main" id="{3016E4C3-9E99-B729-232E-84386F1824D9}"/>
              </a:ext>
            </a:extLst>
          </p:cNvPr>
          <p:cNvSpPr>
            <a:spLocks noGrp="1"/>
          </p:cNvSpPr>
          <p:nvPr>
            <p:ph type="sldNum" sz="quarter" idx="12"/>
          </p:nvPr>
        </p:nvSpPr>
        <p:spPr>
          <a:xfrm>
            <a:off x="538827" y="7142162"/>
            <a:ext cx="331152" cy="152400"/>
          </a:xfrm>
          <a:ln>
            <a:solidFill>
              <a:schemeClr val="tx1"/>
            </a:solidFill>
          </a:ln>
        </p:spPr>
        <p:txBody>
          <a:bodyPr/>
          <a:lstStyle>
            <a:lvl1pPr>
              <a:defRPr>
                <a:solidFill>
                  <a:schemeClr val="tx1"/>
                </a:solidFill>
              </a:defRPr>
            </a:lvl1pPr>
          </a:lstStyle>
          <a:p>
            <a:fld id="{AE086683-F536-42AB-ABBC-F4803DFE8DBC}" type="slidenum">
              <a:rPr lang="sv-SE" smtClean="0"/>
              <a:pPr/>
              <a:t>‹#›</a:t>
            </a:fld>
            <a:endParaRPr lang="sv-SE"/>
          </a:p>
        </p:txBody>
      </p:sp>
      <p:sp>
        <p:nvSpPr>
          <p:cNvPr id="7" name="Platshållare för sidfot 6">
            <a:extLst>
              <a:ext uri="{FF2B5EF4-FFF2-40B4-BE49-F238E27FC236}">
                <a16:creationId xmlns:a16="http://schemas.microsoft.com/office/drawing/2014/main" id="{A82196CD-BF64-C9E2-75F5-8DBF87F86D05}"/>
              </a:ext>
            </a:extLst>
          </p:cNvPr>
          <p:cNvSpPr>
            <a:spLocks noGrp="1"/>
          </p:cNvSpPr>
          <p:nvPr>
            <p:ph type="ftr" sz="quarter" idx="11"/>
          </p:nvPr>
        </p:nvSpPr>
        <p:spPr>
          <a:xfrm>
            <a:off x="989360" y="7142162"/>
            <a:ext cx="4373880" cy="152400"/>
          </a:xfrm>
        </p:spPr>
        <p:txBody>
          <a:bodyPr/>
          <a:lstStyle>
            <a:lvl1pPr>
              <a:defRPr>
                <a:solidFill>
                  <a:schemeClr val="tx1"/>
                </a:solidFill>
              </a:defRPr>
            </a:lvl1pPr>
          </a:lstStyle>
          <a:p>
            <a:r>
              <a:rPr lang="sv-SE"/>
              <a:t>PROHI HT2026 · Group 2 · Seminar 28 September 2026</a:t>
            </a:r>
          </a:p>
        </p:txBody>
      </p:sp>
      <p:sp>
        <p:nvSpPr>
          <p:cNvPr id="3" name="Platshållare för datum 2">
            <a:extLst>
              <a:ext uri="{FF2B5EF4-FFF2-40B4-BE49-F238E27FC236}">
                <a16:creationId xmlns:a16="http://schemas.microsoft.com/office/drawing/2014/main" id="{D3805F1E-D8C8-C0B1-FB03-ECFB5F053C0C}"/>
              </a:ext>
            </a:extLst>
          </p:cNvPr>
          <p:cNvSpPr>
            <a:spLocks noGrp="1"/>
          </p:cNvSpPr>
          <p:nvPr>
            <p:ph type="dt" sz="half" idx="10"/>
          </p:nvPr>
        </p:nvSpPr>
        <p:spPr/>
        <p:txBody>
          <a:bodyPr/>
          <a:lstStyle>
            <a:lvl1pPr>
              <a:defRPr>
                <a:solidFill>
                  <a:schemeClr val="tx1"/>
                </a:solidFill>
              </a:defRPr>
            </a:lvl1pPr>
          </a:lstStyle>
          <a:p>
            <a:fld id="{90A0E724-71C1-44B9-95EE-3658AF63CBF6}" type="datetime1">
              <a:rPr lang="sv-SE" smtClean="0"/>
              <a:t>2026-09-28</a:t>
            </a:fld>
            <a:endParaRPr lang="sv-SE"/>
          </a:p>
        </p:txBody>
      </p:sp>
      <p:pic>
        <p:nvPicPr>
          <p:cNvPr id="9" name="Bildobjekt 8">
            <a:extLst>
              <a:ext uri="{FF2B5EF4-FFF2-40B4-BE49-F238E27FC236}">
                <a16:creationId xmlns:a16="http://schemas.microsoft.com/office/drawing/2014/main" id="{BBC40F68-E7A9-CD97-53A1-9709F93CD7CC}"/>
              </a:ext>
            </a:extLst>
          </p:cNvPr>
          <p:cNvPicPr>
            <a:picLocks noChangeAspect="1"/>
          </p:cNvPicPr>
          <p:nvPr userDrawn="1"/>
        </p:nvPicPr>
        <p:blipFill>
          <a:blip r:embed="rId2"/>
          <a:stretch>
            <a:fillRect/>
          </a:stretch>
        </p:blipFill>
        <p:spPr bwMode="black">
          <a:xfrm>
            <a:off x="4948029" y="5494138"/>
            <a:ext cx="2295942" cy="864000"/>
          </a:xfrm>
          <a:prstGeom prst="rect">
            <a:avLst/>
          </a:prstGeom>
        </p:spPr>
      </p:pic>
      <p:sp>
        <p:nvSpPr>
          <p:cNvPr id="10" name="Underrubrik 2">
            <a:extLst>
              <a:ext uri="{FF2B5EF4-FFF2-40B4-BE49-F238E27FC236}">
                <a16:creationId xmlns:a16="http://schemas.microsoft.com/office/drawing/2014/main" id="{8BC4C205-42FA-7026-F121-AC3A6105F7C7}"/>
              </a:ext>
            </a:extLst>
          </p:cNvPr>
          <p:cNvSpPr>
            <a:spLocks noGrp="1"/>
          </p:cNvSpPr>
          <p:nvPr>
            <p:ph type="subTitle" idx="1" hasCustomPrompt="1"/>
          </p:nvPr>
        </p:nvSpPr>
        <p:spPr>
          <a:xfrm>
            <a:off x="623887" y="3600645"/>
            <a:ext cx="9289609" cy="373822"/>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Namn</a:t>
            </a:r>
          </a:p>
        </p:txBody>
      </p:sp>
      <p:cxnSp>
        <p:nvCxnSpPr>
          <p:cNvPr id="12" name="Rak koppling 11">
            <a:extLst>
              <a:ext uri="{FF2B5EF4-FFF2-40B4-BE49-F238E27FC236}">
                <a16:creationId xmlns:a16="http://schemas.microsoft.com/office/drawing/2014/main" id="{989C65A2-616E-A6CC-2CBB-A2682885539C}"/>
              </a:ext>
            </a:extLst>
          </p:cNvPr>
          <p:cNvCxnSpPr/>
          <p:nvPr userDrawn="1"/>
        </p:nvCxnSpPr>
        <p:spPr>
          <a:xfrm>
            <a:off x="623887" y="5232400"/>
            <a:ext cx="10944225" cy="0"/>
          </a:xfrm>
          <a:prstGeom prst="line">
            <a:avLst/>
          </a:prstGeom>
          <a:ln w="12700">
            <a:solidFill>
              <a:schemeClr val="accent2"/>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93641337"/>
      </p:ext>
    </p:extLst>
  </p:cSld>
  <p:clrMapOvr>
    <a:masterClrMapping/>
  </p:clrMapOvr>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om">
    <p:spTree>
      <p:nvGrpSpPr>
        <p:cNvPr id="1" name=""/>
        <p:cNvGrpSpPr/>
        <p:nvPr/>
      </p:nvGrpSpPr>
      <p:grpSpPr>
        <a:xfrm>
          <a:off x="0" y="0"/>
          <a:ext cx="0" cy="0"/>
          <a:chOff x="0" y="0"/>
          <a:chExt cx="0" cy="0"/>
        </a:xfrm>
      </p:grpSpPr>
      <p:sp>
        <p:nvSpPr>
          <p:cNvPr id="6" name="Rubrik 5">
            <a:extLst>
              <a:ext uri="{FF2B5EF4-FFF2-40B4-BE49-F238E27FC236}">
                <a16:creationId xmlns:a16="http://schemas.microsoft.com/office/drawing/2014/main" id="{329F01DE-5487-1725-1C60-6BD0909EA1B4}"/>
              </a:ext>
            </a:extLst>
          </p:cNvPr>
          <p:cNvSpPr>
            <a:spLocks noGrp="1"/>
          </p:cNvSpPr>
          <p:nvPr>
            <p:ph type="title" hasCustomPrompt="1"/>
          </p:nvPr>
        </p:nvSpPr>
        <p:spPr>
          <a:xfrm>
            <a:off x="623886" y="-834231"/>
            <a:ext cx="10944225" cy="692150"/>
          </a:xfrm>
        </p:spPr>
        <p:txBody>
          <a:bodyPr/>
          <a:lstStyle>
            <a:lvl1pPr>
              <a:defRPr sz="2400">
                <a:solidFill>
                  <a:schemeClr val="bg2"/>
                </a:solidFill>
              </a:defRPr>
            </a:lvl1pPr>
          </a:lstStyle>
          <a:p>
            <a:r>
              <a:rPr lang="sv-SE"/>
              <a:t>Lägg till en rubrik här för tillgänglighetsanpassning</a:t>
            </a:r>
          </a:p>
        </p:txBody>
      </p:sp>
    </p:spTree>
    <p:extLst>
      <p:ext uri="{BB962C8B-B14F-4D97-AF65-F5344CB8AC3E}">
        <p14:creationId xmlns:p14="http://schemas.microsoft.com/office/powerpoint/2010/main" val="1800422057"/>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8737487"/>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152683E2-9A31-4B47-ACFE-390B6E0AF714}"/>
              </a:ext>
            </a:extLst>
          </p:cNvPr>
          <p:cNvSpPr>
            <a:spLocks noGrp="1"/>
          </p:cNvSpPr>
          <p:nvPr>
            <p:ph type="title"/>
          </p:nvPr>
        </p:nvSpPr>
        <p:spPr>
          <a:xfrm>
            <a:off x="623887" y="334645"/>
            <a:ext cx="10944225" cy="692150"/>
          </a:xfrm>
          <a:prstGeom prst="rect">
            <a:avLst/>
          </a:prstGeom>
        </p:spPr>
        <p:txBody>
          <a:bodyPr vert="horz" lIns="0" tIns="0" rIns="0" bIns="0" rtlCol="0" anchor="b">
            <a:no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81C0710F-3CB3-4F01-9977-A1A69928F1E2}"/>
              </a:ext>
            </a:extLst>
          </p:cNvPr>
          <p:cNvSpPr>
            <a:spLocks noGrp="1"/>
          </p:cNvSpPr>
          <p:nvPr>
            <p:ph type="body" idx="1"/>
          </p:nvPr>
        </p:nvSpPr>
        <p:spPr>
          <a:xfrm>
            <a:off x="623887" y="1196975"/>
            <a:ext cx="10944225" cy="4787900"/>
          </a:xfrm>
          <a:prstGeom prst="rect">
            <a:avLst/>
          </a:prstGeom>
        </p:spPr>
        <p:txBody>
          <a:bodyPr vert="horz" lIns="0" tIns="0" rIns="0" bIns="0" rtlCol="0">
            <a:no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a:p>
            <a:pPr lvl="5"/>
            <a:r>
              <a:rPr lang="sv-SE"/>
              <a:t>Nivå 6</a:t>
            </a:r>
          </a:p>
          <a:p>
            <a:pPr lvl="6"/>
            <a:r>
              <a:rPr lang="sv-SE"/>
              <a:t>Nivå 7</a:t>
            </a:r>
          </a:p>
          <a:p>
            <a:pPr lvl="7"/>
            <a:r>
              <a:rPr lang="sv-SE"/>
              <a:t>Nivå 8</a:t>
            </a:r>
          </a:p>
          <a:p>
            <a:pPr lvl="8"/>
            <a:r>
              <a:rPr lang="sv-SE"/>
              <a:t>Nivå 9</a:t>
            </a:r>
          </a:p>
        </p:txBody>
      </p:sp>
      <p:sp>
        <p:nvSpPr>
          <p:cNvPr id="6" name="Platshållare för bildnummer 5">
            <a:extLst>
              <a:ext uri="{FF2B5EF4-FFF2-40B4-BE49-F238E27FC236}">
                <a16:creationId xmlns:a16="http://schemas.microsoft.com/office/drawing/2014/main" id="{37249AA9-CC7D-40E0-9894-3652F2EE8CF5}"/>
              </a:ext>
            </a:extLst>
          </p:cNvPr>
          <p:cNvSpPr>
            <a:spLocks noGrp="1"/>
          </p:cNvSpPr>
          <p:nvPr>
            <p:ph type="sldNum" sz="quarter" idx="4"/>
          </p:nvPr>
        </p:nvSpPr>
        <p:spPr>
          <a:xfrm>
            <a:off x="181518" y="6337300"/>
            <a:ext cx="331152" cy="152400"/>
          </a:xfrm>
          <a:custGeom>
            <a:avLst/>
            <a:gdLst>
              <a:gd name="connsiteX0" fmla="*/ 0 w 331152"/>
              <a:gd name="connsiteY0" fmla="*/ 0 h 152400"/>
              <a:gd name="connsiteX1" fmla="*/ 331152 w 331152"/>
              <a:gd name="connsiteY1" fmla="*/ 0 h 152400"/>
              <a:gd name="connsiteX2" fmla="*/ 331152 w 331152"/>
              <a:gd name="connsiteY2" fmla="*/ 152400 h 152400"/>
              <a:gd name="connsiteX3" fmla="*/ 0 w 331152"/>
              <a:gd name="connsiteY3" fmla="*/ 152400 h 152400"/>
              <a:gd name="connsiteX4" fmla="*/ 0 w 331152"/>
              <a:gd name="connsiteY4" fmla="*/ 0 h 152400"/>
              <a:gd name="connsiteX0" fmla="*/ 328006 w 331152"/>
              <a:gd name="connsiteY0" fmla="*/ 0 h 152400"/>
              <a:gd name="connsiteX1" fmla="*/ 328006 w 331152"/>
              <a:gd name="connsiteY1" fmla="*/ 152400 h 152400"/>
              <a:gd name="connsiteX2" fmla="*/ 328006 w 331152"/>
              <a:gd name="connsiteY2" fmla="*/ 0 h 152400"/>
              <a:gd name="connsiteX0" fmla="*/ 328006 w 331152"/>
              <a:gd name="connsiteY0" fmla="*/ 147954 h 152400"/>
              <a:gd name="connsiteX1" fmla="*/ -55193 w 331152"/>
              <a:gd name="connsiteY1" fmla="*/ 28575 h 152400"/>
              <a:gd name="connsiteX2" fmla="*/ -154539 w 331152"/>
              <a:gd name="connsiteY2" fmla="*/ 171450 h 152400"/>
              <a:gd name="connsiteX0" fmla="*/ 154539 w 485691"/>
              <a:gd name="connsiteY0" fmla="*/ 0 h 171450"/>
              <a:gd name="connsiteX1" fmla="*/ 485691 w 485691"/>
              <a:gd name="connsiteY1" fmla="*/ 0 h 171450"/>
              <a:gd name="connsiteX2" fmla="*/ 485691 w 485691"/>
              <a:gd name="connsiteY2" fmla="*/ 152400 h 171450"/>
              <a:gd name="connsiteX3" fmla="*/ 154539 w 485691"/>
              <a:gd name="connsiteY3" fmla="*/ 152400 h 171450"/>
              <a:gd name="connsiteX4" fmla="*/ 154539 w 485691"/>
              <a:gd name="connsiteY4" fmla="*/ 0 h 171450"/>
              <a:gd name="connsiteX0" fmla="*/ 482545 w 485691"/>
              <a:gd name="connsiteY0" fmla="*/ 0 h 171450"/>
              <a:gd name="connsiteX1" fmla="*/ 482545 w 485691"/>
              <a:gd name="connsiteY1" fmla="*/ 152400 h 171450"/>
              <a:gd name="connsiteX2" fmla="*/ 482545 w 485691"/>
              <a:gd name="connsiteY2" fmla="*/ 0 h 171450"/>
              <a:gd name="connsiteX0" fmla="*/ 482545 w 485691"/>
              <a:gd name="connsiteY0" fmla="*/ 147954 h 171450"/>
              <a:gd name="connsiteX1" fmla="*/ 0 w 485691"/>
              <a:gd name="connsiteY1" fmla="*/ 171450 h 171450"/>
              <a:gd name="connsiteX0" fmla="*/ 0 w 331152"/>
              <a:gd name="connsiteY0" fmla="*/ 0 h 156210"/>
              <a:gd name="connsiteX1" fmla="*/ 331152 w 331152"/>
              <a:gd name="connsiteY1" fmla="*/ 0 h 156210"/>
              <a:gd name="connsiteX2" fmla="*/ 331152 w 331152"/>
              <a:gd name="connsiteY2" fmla="*/ 152400 h 156210"/>
              <a:gd name="connsiteX3" fmla="*/ 0 w 331152"/>
              <a:gd name="connsiteY3" fmla="*/ 152400 h 156210"/>
              <a:gd name="connsiteX4" fmla="*/ 0 w 331152"/>
              <a:gd name="connsiteY4" fmla="*/ 0 h 156210"/>
              <a:gd name="connsiteX0" fmla="*/ 328006 w 331152"/>
              <a:gd name="connsiteY0" fmla="*/ 0 h 156210"/>
              <a:gd name="connsiteX1" fmla="*/ 328006 w 331152"/>
              <a:gd name="connsiteY1" fmla="*/ 152400 h 156210"/>
              <a:gd name="connsiteX2" fmla="*/ 328006 w 331152"/>
              <a:gd name="connsiteY2" fmla="*/ 0 h 156210"/>
              <a:gd name="connsiteX0" fmla="*/ 328006 w 331152"/>
              <a:gd name="connsiteY0" fmla="*/ 147954 h 156210"/>
              <a:gd name="connsiteX1" fmla="*/ 401 w 331152"/>
              <a:gd name="connsiteY1" fmla="*/ 156210 h 156210"/>
              <a:gd name="connsiteX0" fmla="*/ 0 w 331152"/>
              <a:gd name="connsiteY0" fmla="*/ 0 h 152400"/>
              <a:gd name="connsiteX1" fmla="*/ 331152 w 331152"/>
              <a:gd name="connsiteY1" fmla="*/ 0 h 152400"/>
              <a:gd name="connsiteX2" fmla="*/ 331152 w 331152"/>
              <a:gd name="connsiteY2" fmla="*/ 152400 h 152400"/>
              <a:gd name="connsiteX3" fmla="*/ 0 w 331152"/>
              <a:gd name="connsiteY3" fmla="*/ 152400 h 152400"/>
              <a:gd name="connsiteX4" fmla="*/ 0 w 331152"/>
              <a:gd name="connsiteY4" fmla="*/ 0 h 152400"/>
              <a:gd name="connsiteX0" fmla="*/ 328006 w 331152"/>
              <a:gd name="connsiteY0" fmla="*/ 0 h 152400"/>
              <a:gd name="connsiteX1" fmla="*/ 328006 w 331152"/>
              <a:gd name="connsiteY1" fmla="*/ 152400 h 152400"/>
              <a:gd name="connsiteX2" fmla="*/ 328006 w 331152"/>
              <a:gd name="connsiteY2" fmla="*/ 0 h 152400"/>
              <a:gd name="connsiteX0" fmla="*/ 328006 w 331152"/>
              <a:gd name="connsiteY0" fmla="*/ 147954 h 152400"/>
              <a:gd name="connsiteX1" fmla="*/ 329966 w 331152"/>
              <a:gd name="connsiteY1" fmla="*/ 0 h 152400"/>
              <a:gd name="connsiteX0" fmla="*/ 0 w 331152"/>
              <a:gd name="connsiteY0" fmla="*/ 0 h 152400"/>
              <a:gd name="connsiteX1" fmla="*/ 331152 w 331152"/>
              <a:gd name="connsiteY1" fmla="*/ 0 h 152400"/>
              <a:gd name="connsiteX2" fmla="*/ 331152 w 331152"/>
              <a:gd name="connsiteY2" fmla="*/ 152400 h 152400"/>
              <a:gd name="connsiteX3" fmla="*/ 0 w 331152"/>
              <a:gd name="connsiteY3" fmla="*/ 152400 h 152400"/>
              <a:gd name="connsiteX4" fmla="*/ 0 w 331152"/>
              <a:gd name="connsiteY4" fmla="*/ 0 h 152400"/>
              <a:gd name="connsiteX0" fmla="*/ 328006 w 331152"/>
              <a:gd name="connsiteY0" fmla="*/ 0 h 152400"/>
              <a:gd name="connsiteX1" fmla="*/ 328006 w 331152"/>
              <a:gd name="connsiteY1" fmla="*/ 152400 h 152400"/>
              <a:gd name="connsiteX2" fmla="*/ 328006 w 331152"/>
              <a:gd name="connsiteY2" fmla="*/ 0 h 152400"/>
              <a:gd name="connsiteX0" fmla="*/ 328006 w 331152"/>
              <a:gd name="connsiteY0" fmla="*/ 147954 h 152400"/>
              <a:gd name="connsiteX1" fmla="*/ 329966 w 331152"/>
              <a:gd name="connsiteY1" fmla="*/ 0 h 152400"/>
              <a:gd name="connsiteX0" fmla="*/ 0 w 331152"/>
              <a:gd name="connsiteY0" fmla="*/ 0 h 152400"/>
              <a:gd name="connsiteX1" fmla="*/ 331152 w 331152"/>
              <a:gd name="connsiteY1" fmla="*/ 0 h 152400"/>
              <a:gd name="connsiteX2" fmla="*/ 331152 w 331152"/>
              <a:gd name="connsiteY2" fmla="*/ 152400 h 152400"/>
              <a:gd name="connsiteX3" fmla="*/ 0 w 331152"/>
              <a:gd name="connsiteY3" fmla="*/ 152400 h 152400"/>
              <a:gd name="connsiteX4" fmla="*/ 0 w 331152"/>
              <a:gd name="connsiteY4" fmla="*/ 0 h 152400"/>
              <a:gd name="connsiteX0" fmla="*/ 328006 w 331152"/>
              <a:gd name="connsiteY0" fmla="*/ 0 h 152400"/>
              <a:gd name="connsiteX1" fmla="*/ 328006 w 331152"/>
              <a:gd name="connsiteY1" fmla="*/ 152400 h 152400"/>
              <a:gd name="connsiteX2" fmla="*/ 328006 w 331152"/>
              <a:gd name="connsiteY2" fmla="*/ 0 h 152400"/>
              <a:gd name="connsiteX0" fmla="*/ 328006 w 331152"/>
              <a:gd name="connsiteY0" fmla="*/ 147954 h 152400"/>
              <a:gd name="connsiteX1" fmla="*/ 329966 w 331152"/>
              <a:gd name="connsiteY1" fmla="*/ 0 h 152400"/>
              <a:gd name="connsiteX2" fmla="*/ 328006 w 331152"/>
              <a:gd name="connsiteY2" fmla="*/ 147954 h 152400"/>
            </a:gdLst>
            <a:ahLst/>
            <a:cxnLst>
              <a:cxn ang="0">
                <a:pos x="connsiteX0" y="connsiteY0"/>
              </a:cxn>
              <a:cxn ang="0">
                <a:pos x="connsiteX1" y="connsiteY1"/>
              </a:cxn>
              <a:cxn ang="0">
                <a:pos x="connsiteX2" y="connsiteY2"/>
              </a:cxn>
            </a:cxnLst>
            <a:rect l="l" t="t" r="r" b="b"/>
            <a:pathLst>
              <a:path w="331152" h="152400" stroke="0" extrusionOk="0">
                <a:moveTo>
                  <a:pt x="0" y="0"/>
                </a:moveTo>
                <a:lnTo>
                  <a:pt x="331152" y="0"/>
                </a:lnTo>
                <a:lnTo>
                  <a:pt x="331152" y="152400"/>
                </a:lnTo>
                <a:lnTo>
                  <a:pt x="0" y="152400"/>
                </a:lnTo>
                <a:lnTo>
                  <a:pt x="0" y="0"/>
                </a:lnTo>
                <a:close/>
              </a:path>
              <a:path w="331152" h="152400" fill="none" extrusionOk="0">
                <a:moveTo>
                  <a:pt x="328006" y="0"/>
                </a:moveTo>
                <a:lnTo>
                  <a:pt x="328006" y="152400"/>
                </a:lnTo>
                <a:lnTo>
                  <a:pt x="328006" y="0"/>
                </a:lnTo>
                <a:close/>
              </a:path>
              <a:path w="331152" h="152400" fill="none" extrusionOk="0">
                <a:moveTo>
                  <a:pt x="328006" y="147954"/>
                </a:moveTo>
                <a:cubicBezTo>
                  <a:pt x="328659" y="98636"/>
                  <a:pt x="327408" y="154093"/>
                  <a:pt x="329966" y="0"/>
                </a:cubicBezTo>
                <a:lnTo>
                  <a:pt x="328006" y="147954"/>
                </a:lnTo>
                <a:close/>
              </a:path>
            </a:pathLst>
          </a:custGeom>
          <a:ln>
            <a:solidFill>
              <a:schemeClr val="tx1"/>
            </a:solidFill>
          </a:ln>
        </p:spPr>
        <p:txBody>
          <a:bodyPr vert="horz" lIns="0" tIns="0" rIns="108000" bIns="0" rtlCol="0" anchor="b">
            <a:noAutofit/>
          </a:bodyPr>
          <a:lstStyle>
            <a:lvl1pPr algn="r">
              <a:defRPr sz="1000">
                <a:solidFill>
                  <a:schemeClr val="tx2"/>
                </a:solidFill>
              </a:defRPr>
            </a:lvl1pPr>
          </a:lstStyle>
          <a:p>
            <a:fld id="{AE086683-F536-42AB-ABBC-F4803DFE8DBC}" type="slidenum">
              <a:rPr lang="sv-SE" smtClean="0"/>
              <a:pPr/>
              <a:t>‹#›</a:t>
            </a:fld>
            <a:endParaRPr lang="sv-SE"/>
          </a:p>
        </p:txBody>
      </p:sp>
      <p:sp>
        <p:nvSpPr>
          <p:cNvPr id="5" name="Platshållare för sidfot 4">
            <a:extLst>
              <a:ext uri="{FF2B5EF4-FFF2-40B4-BE49-F238E27FC236}">
                <a16:creationId xmlns:a16="http://schemas.microsoft.com/office/drawing/2014/main" id="{5C0A3ABB-C906-40E9-AF35-0DB0B3403226}"/>
              </a:ext>
            </a:extLst>
          </p:cNvPr>
          <p:cNvSpPr>
            <a:spLocks noGrp="1"/>
          </p:cNvSpPr>
          <p:nvPr>
            <p:ph type="ftr" sz="quarter" idx="3"/>
          </p:nvPr>
        </p:nvSpPr>
        <p:spPr>
          <a:xfrm>
            <a:off x="632051" y="6337300"/>
            <a:ext cx="4373880" cy="152400"/>
          </a:xfrm>
          <a:prstGeom prst="rect">
            <a:avLst/>
          </a:prstGeom>
        </p:spPr>
        <p:txBody>
          <a:bodyPr vert="horz" lIns="0" tIns="0" rIns="0" bIns="0" rtlCol="0" anchor="b">
            <a:noAutofit/>
          </a:bodyPr>
          <a:lstStyle>
            <a:lvl1pPr algn="l">
              <a:defRPr sz="1000">
                <a:solidFill>
                  <a:schemeClr val="tx2"/>
                </a:solidFill>
              </a:defRPr>
            </a:lvl1pPr>
          </a:lstStyle>
          <a:p>
            <a:r>
              <a:rPr lang="sv-SE"/>
              <a:t>PROHI HT2026 · Group 2 · Seminar 28 September 2026</a:t>
            </a:r>
          </a:p>
        </p:txBody>
      </p:sp>
      <p:sp>
        <p:nvSpPr>
          <p:cNvPr id="4" name="Platshållare för datum 3">
            <a:extLst>
              <a:ext uri="{FF2B5EF4-FFF2-40B4-BE49-F238E27FC236}">
                <a16:creationId xmlns:a16="http://schemas.microsoft.com/office/drawing/2014/main" id="{907D54BB-8EC7-458A-A082-8AF4306364DF}"/>
              </a:ext>
            </a:extLst>
          </p:cNvPr>
          <p:cNvSpPr>
            <a:spLocks noGrp="1"/>
          </p:cNvSpPr>
          <p:nvPr>
            <p:ph type="dt" sz="half" idx="2"/>
          </p:nvPr>
        </p:nvSpPr>
        <p:spPr>
          <a:xfrm>
            <a:off x="6419850" y="7142162"/>
            <a:ext cx="2743200" cy="152400"/>
          </a:xfrm>
          <a:prstGeom prst="rect">
            <a:avLst/>
          </a:prstGeom>
        </p:spPr>
        <p:txBody>
          <a:bodyPr vert="horz" lIns="0" tIns="0" rIns="0" bIns="0" rtlCol="0" anchor="b">
            <a:noAutofit/>
          </a:bodyPr>
          <a:lstStyle>
            <a:lvl1pPr algn="l">
              <a:defRPr sz="1000">
                <a:solidFill>
                  <a:schemeClr val="tx2"/>
                </a:solidFill>
              </a:defRPr>
            </a:lvl1pPr>
          </a:lstStyle>
          <a:p>
            <a:fld id="{BE43B3F0-85C7-47F2-9BF1-EA94F77CC38B}" type="datetime1">
              <a:rPr lang="sv-SE" smtClean="0"/>
              <a:t>2026-09-28</a:t>
            </a:fld>
            <a:endParaRPr lang="sv-SE"/>
          </a:p>
        </p:txBody>
      </p:sp>
      <p:pic>
        <p:nvPicPr>
          <p:cNvPr id="8" name="Bildobjekt 9">
            <a:extLst>
              <a:ext uri="{FF2B5EF4-FFF2-40B4-BE49-F238E27FC236}">
                <a16:creationId xmlns:a16="http://schemas.microsoft.com/office/drawing/2014/main" id="{1CB4BF39-B1F0-1E00-9B91-C6364253C2F2}"/>
              </a:ext>
            </a:extLst>
          </p:cNvPr>
          <p:cNvPicPr>
            <a:picLocks noChangeAspect="1"/>
          </p:cNvPicPr>
          <p:nvPr userDrawn="1"/>
        </p:nvPicPr>
        <p:blipFill>
          <a:blip r:embed="rId19"/>
          <a:stretch>
            <a:fillRect/>
          </a:stretch>
        </p:blipFill>
        <p:spPr bwMode="black">
          <a:xfrm>
            <a:off x="10487635" y="6124575"/>
            <a:ext cx="1659913" cy="624651"/>
          </a:xfrm>
          <a:prstGeom prst="rect">
            <a:avLst/>
          </a:prstGeom>
        </p:spPr>
      </p:pic>
    </p:spTree>
    <p:extLst>
      <p:ext uri="{BB962C8B-B14F-4D97-AF65-F5344CB8AC3E}">
        <p14:creationId xmlns:p14="http://schemas.microsoft.com/office/powerpoint/2010/main" val="149138282"/>
      </p:ext>
    </p:extLst>
  </p:cSld>
  <p:clrMap bg1="dk1" tx1="lt1" bg2="dk2" tx2="lt2" accent1="accent1" accent2="accent2" accent3="accent3" accent4="accent4" accent5="accent5" accent6="accent6" hlink="hlink" folHlink="folHlink"/>
  <p:sldLayoutIdLst>
    <p:sldLayoutId id="2147483649" r:id="rId1"/>
    <p:sldLayoutId id="2147483659" r:id="rId2"/>
    <p:sldLayoutId id="2147483660" r:id="rId3"/>
    <p:sldLayoutId id="2147483662" r:id="rId4"/>
    <p:sldLayoutId id="2147483663" r:id="rId5"/>
    <p:sldLayoutId id="2147483664" r:id="rId6"/>
    <p:sldLayoutId id="2147483672" r:id="rId7"/>
    <p:sldLayoutId id="2147483666" r:id="rId8"/>
    <p:sldLayoutId id="2147483667" r:id="rId9"/>
    <p:sldLayoutId id="2147483668" r:id="rId10"/>
    <p:sldLayoutId id="2147483669" r:id="rId11"/>
    <p:sldLayoutId id="2147483670" r:id="rId12"/>
    <p:sldLayoutId id="2147483654" r:id="rId13"/>
    <p:sldLayoutId id="2147483671" r:id="rId14"/>
    <p:sldLayoutId id="2147483673" r:id="rId15"/>
    <p:sldLayoutId id="2147483655" r:id="rId16"/>
    <p:sldLayoutId id="2147483674" r:id="rId17"/>
  </p:sldLayoutIdLst>
  <p:hf hdr="0" dt="0"/>
  <p:txStyles>
    <p:titleStyle>
      <a:lvl1pPr algn="l" defTabSz="914400" rtl="0" eaLnBrk="1" latinLnBrk="0" hangingPunct="1">
        <a:lnSpc>
          <a:spcPct val="90000"/>
        </a:lnSpc>
        <a:spcBef>
          <a:spcPct val="0"/>
        </a:spcBef>
        <a:buNone/>
        <a:defRPr sz="35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2"/>
          </a:solidFill>
          <a:latin typeface="+mn-lt"/>
          <a:ea typeface="+mn-ea"/>
          <a:cs typeface="+mn-cs"/>
        </a:defRPr>
      </a:lvl1pPr>
      <a:lvl2pPr marL="4608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2pPr>
      <a:lvl3pPr marL="691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mn-cs"/>
        </a:defRPr>
      </a:lvl3pPr>
      <a:lvl4pPr marL="921600" indent="-228600" algn="l" defTabSz="914400" rtl="0" eaLnBrk="1" latinLnBrk="0" hangingPunct="1">
        <a:lnSpc>
          <a:spcPct val="90000"/>
        </a:lnSpc>
        <a:spcBef>
          <a:spcPts val="500"/>
        </a:spcBef>
        <a:buFont typeface="Arial" panose="020B0604020202020204" pitchFamily="34" charset="0"/>
        <a:buChar char="•"/>
        <a:defRPr sz="1200" kern="1200">
          <a:solidFill>
            <a:schemeClr val="tx2"/>
          </a:solidFill>
          <a:latin typeface="+mn-lt"/>
          <a:ea typeface="+mn-ea"/>
          <a:cs typeface="+mn-cs"/>
        </a:defRPr>
      </a:lvl4pPr>
      <a:lvl5pPr marL="1152000" indent="-228600" algn="l" defTabSz="914400" rtl="0" eaLnBrk="1" latinLnBrk="0" hangingPunct="1">
        <a:lnSpc>
          <a:spcPct val="90000"/>
        </a:lnSpc>
        <a:spcBef>
          <a:spcPts val="500"/>
        </a:spcBef>
        <a:buFont typeface="Arial" panose="020B0604020202020204" pitchFamily="34" charset="0"/>
        <a:buChar char="•"/>
        <a:defRPr sz="1200" kern="1200">
          <a:solidFill>
            <a:schemeClr val="tx2"/>
          </a:solidFill>
          <a:latin typeface="+mn-lt"/>
          <a:ea typeface="+mn-ea"/>
          <a:cs typeface="+mn-cs"/>
        </a:defRPr>
      </a:lvl5pPr>
      <a:lvl6pPr marL="1382400" indent="-228600" algn="l" defTabSz="914400" rtl="0" eaLnBrk="1" latinLnBrk="0" hangingPunct="1">
        <a:lnSpc>
          <a:spcPct val="90000"/>
        </a:lnSpc>
        <a:spcBef>
          <a:spcPts val="500"/>
        </a:spcBef>
        <a:buFont typeface="Arial" panose="020B0604020202020204" pitchFamily="34" charset="0"/>
        <a:buChar char="•"/>
        <a:defRPr sz="1100" kern="1200">
          <a:solidFill>
            <a:schemeClr val="tx2"/>
          </a:solidFill>
          <a:latin typeface="+mn-lt"/>
          <a:ea typeface="+mn-ea"/>
          <a:cs typeface="+mn-cs"/>
        </a:defRPr>
      </a:lvl6pPr>
      <a:lvl7pPr marL="1612800" indent="-228600" algn="l" defTabSz="914400" rtl="0" eaLnBrk="1" latinLnBrk="0" hangingPunct="1">
        <a:lnSpc>
          <a:spcPct val="90000"/>
        </a:lnSpc>
        <a:spcBef>
          <a:spcPts val="500"/>
        </a:spcBef>
        <a:buFont typeface="Arial" panose="020B0604020202020204" pitchFamily="34" charset="0"/>
        <a:buChar char="•"/>
        <a:defRPr sz="1100" kern="1200">
          <a:solidFill>
            <a:schemeClr val="tx2"/>
          </a:solidFill>
          <a:latin typeface="+mn-lt"/>
          <a:ea typeface="+mn-ea"/>
          <a:cs typeface="+mn-cs"/>
        </a:defRPr>
      </a:lvl7pPr>
      <a:lvl8pPr marL="1843200" indent="-228600" algn="l" defTabSz="914400" rtl="0" eaLnBrk="1" latinLnBrk="0" hangingPunct="1">
        <a:lnSpc>
          <a:spcPct val="90000"/>
        </a:lnSpc>
        <a:spcBef>
          <a:spcPts val="500"/>
        </a:spcBef>
        <a:buFont typeface="Arial" panose="020B0604020202020204" pitchFamily="34" charset="0"/>
        <a:buChar char="•"/>
        <a:defRPr sz="1100" kern="1200">
          <a:solidFill>
            <a:schemeClr val="tx2"/>
          </a:solidFill>
          <a:latin typeface="+mn-lt"/>
          <a:ea typeface="+mn-ea"/>
          <a:cs typeface="+mn-cs"/>
        </a:defRPr>
      </a:lvl8pPr>
      <a:lvl9pPr marL="2073600" indent="-228600" algn="l" defTabSz="914400" rtl="0" eaLnBrk="1" latinLnBrk="0" hangingPunct="1">
        <a:lnSpc>
          <a:spcPct val="90000"/>
        </a:lnSpc>
        <a:spcBef>
          <a:spcPts val="500"/>
        </a:spcBef>
        <a:buFont typeface="Arial" panose="020B0604020202020204" pitchFamily="34" charset="0"/>
        <a:buChar char="•"/>
        <a:defRPr sz="1100" kern="1200">
          <a:solidFill>
            <a:schemeClr val="tx2"/>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1" userDrawn="1">
          <p15:clr>
            <a:srgbClr val="F26B43"/>
          </p15:clr>
        </p15:guide>
        <p15:guide id="2" pos="393" userDrawn="1">
          <p15:clr>
            <a:srgbClr val="F26B43"/>
          </p15:clr>
        </p15:guide>
        <p15:guide id="3" pos="7287" userDrawn="1">
          <p15:clr>
            <a:srgbClr val="F26B43"/>
          </p15:clr>
        </p15:guide>
        <p15:guide id="4" orient="horz" pos="572" userDrawn="1">
          <p15:clr>
            <a:srgbClr val="F26B43"/>
          </p15:clr>
        </p15:guide>
        <p15:guide id="5" orient="horz" pos="754" userDrawn="1">
          <p15:clr>
            <a:srgbClr val="F26B43"/>
          </p15:clr>
        </p15:guide>
        <p15:guide id="6" pos="3840" userDrawn="1">
          <p15:clr>
            <a:srgbClr val="F26B43"/>
          </p15:clr>
        </p15:guide>
        <p15:guide id="7" pos="3636" userDrawn="1">
          <p15:clr>
            <a:srgbClr val="F26B43"/>
          </p15:clr>
        </p15:guide>
        <p15:guide id="8" pos="4044" userDrawn="1">
          <p15:clr>
            <a:srgbClr val="F26B43"/>
          </p15:clr>
        </p15:guide>
        <p15:guide id="9" pos="3432" userDrawn="1">
          <p15:clr>
            <a:srgbClr val="F26B43"/>
          </p15:clr>
        </p15:guide>
        <p15:guide id="10" orient="horz" pos="3770" userDrawn="1">
          <p15:clr>
            <a:srgbClr val="F26B43"/>
          </p15:clr>
        </p15:guide>
        <p15:guide id="11"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hyperlink" Target="https://www.thelancet.com/journals/langlo/article/PIIS2214-109X(25)00356-0/fulltext" TargetMode="External"/><Relationship Id="rId2" Type="http://schemas.openxmlformats.org/officeDocument/2006/relationships/hyperlink" Target="https://my.clevelandclinic.org/health/diseases/12361-sepsis" TargetMode="External"/><Relationship Id="rId1" Type="http://schemas.openxmlformats.org/officeDocument/2006/relationships/slideLayout" Target="../slideLayouts/slideLayout7.xml"/><Relationship Id="rId6" Type="http://schemas.openxmlformats.org/officeDocument/2006/relationships/hyperlink" Target="https://archive.ics.uci.edu/" TargetMode="External"/><Relationship Id="rId5" Type="http://schemas.openxmlformats.org/officeDocument/2006/relationships/hyperlink" Target="https://archive.ics.uci.edu/dataset/827/sepsis+survival+minimal+clinical+records" TargetMode="External"/><Relationship Id="rId4" Type="http://schemas.openxmlformats.org/officeDocument/2006/relationships/hyperlink" Target="https://www.cdc.gov/sepsis/about/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ubrik 4">
            <a:extLst>
              <a:ext uri="{FF2B5EF4-FFF2-40B4-BE49-F238E27FC236}">
                <a16:creationId xmlns:a16="http://schemas.microsoft.com/office/drawing/2014/main" id="{3DB4383A-EF4D-3E59-03ED-B6FB59F70D1F}"/>
              </a:ext>
            </a:extLst>
          </p:cNvPr>
          <p:cNvSpPr>
            <a:spLocks noGrp="1"/>
          </p:cNvSpPr>
          <p:nvPr>
            <p:ph type="ctrTitle"/>
          </p:nvPr>
        </p:nvSpPr>
        <p:spPr/>
        <p:txBody>
          <a:bodyPr/>
          <a:lstStyle/>
          <a:p>
            <a:r>
              <a:rPr lang="en-US" noProof="0"/>
              <a:t>Sepsis survival prediction</a:t>
            </a:r>
          </a:p>
        </p:txBody>
      </p:sp>
      <p:sp>
        <p:nvSpPr>
          <p:cNvPr id="6" name="Underrubrik 5">
            <a:extLst>
              <a:ext uri="{FF2B5EF4-FFF2-40B4-BE49-F238E27FC236}">
                <a16:creationId xmlns:a16="http://schemas.microsoft.com/office/drawing/2014/main" id="{9AF223CE-94DD-7626-0F39-20EB2FBE185F}"/>
              </a:ext>
            </a:extLst>
          </p:cNvPr>
          <p:cNvSpPr>
            <a:spLocks noGrp="1"/>
          </p:cNvSpPr>
          <p:nvPr>
            <p:ph type="subTitle" idx="1"/>
          </p:nvPr>
        </p:nvSpPr>
        <p:spPr/>
        <p:txBody>
          <a:bodyPr vert="horz" lIns="0" tIns="0" rIns="0" bIns="0" rtlCol="0" anchor="t">
            <a:noAutofit/>
          </a:bodyPr>
          <a:lstStyle/>
          <a:p>
            <a:r>
              <a:rPr lang="en-US" noProof="0">
                <a:solidFill>
                  <a:schemeClr val="tx1"/>
                </a:solidFill>
              </a:rPr>
              <a:t>A health use </a:t>
            </a:r>
            <a:r>
              <a:rPr lang="en-US">
                <a:solidFill>
                  <a:schemeClr val="tx1"/>
                </a:solidFill>
              </a:rPr>
              <a:t>case </a:t>
            </a:r>
            <a:r>
              <a:rPr lang="en-US" noProof="0">
                <a:solidFill>
                  <a:schemeClr val="tx1"/>
                </a:solidFill>
              </a:rPr>
              <a:t>across four </a:t>
            </a:r>
            <a:r>
              <a:rPr lang="en-US">
                <a:solidFill>
                  <a:schemeClr val="tx1"/>
                </a:solidFill>
              </a:rPr>
              <a:t>decision-making </a:t>
            </a:r>
            <a:r>
              <a:rPr lang="en-US" noProof="0">
                <a:solidFill>
                  <a:schemeClr val="tx1"/>
                </a:solidFill>
              </a:rPr>
              <a:t>families</a:t>
            </a:r>
            <a:endParaRPr lang="zh-CN" altLang="en-US">
              <a:solidFill>
                <a:schemeClr val="tx1"/>
              </a:solidFill>
              <a:cs typeface="Calibri"/>
            </a:endParaRPr>
          </a:p>
          <a:p>
            <a:endParaRPr lang="en-US" noProof="0">
              <a:ea typeface="Calibri"/>
              <a:cs typeface="Calibri"/>
            </a:endParaRPr>
          </a:p>
        </p:txBody>
      </p:sp>
      <p:sp>
        <p:nvSpPr>
          <p:cNvPr id="4" name="Platshållare för sidfot 3">
            <a:extLst>
              <a:ext uri="{FF2B5EF4-FFF2-40B4-BE49-F238E27FC236}">
                <a16:creationId xmlns:a16="http://schemas.microsoft.com/office/drawing/2014/main" id="{466BE1BD-B3BE-6989-DB0F-DA6A6DE2CD93}"/>
              </a:ext>
            </a:extLst>
          </p:cNvPr>
          <p:cNvSpPr>
            <a:spLocks noGrp="1"/>
          </p:cNvSpPr>
          <p:nvPr>
            <p:ph type="ftr" sz="quarter" idx="11"/>
          </p:nvPr>
        </p:nvSpPr>
        <p:spPr/>
        <p:txBody>
          <a:bodyPr/>
          <a:lstStyle/>
          <a:p>
            <a:r>
              <a:rPr lang="en-US" noProof="0"/>
              <a:t>PROHI HT2026 · Group 2 · Seminar 28 September 2026</a:t>
            </a:r>
          </a:p>
        </p:txBody>
      </p:sp>
      <p:sp>
        <p:nvSpPr>
          <p:cNvPr id="2" name="文本框 1">
            <a:extLst>
              <a:ext uri="{FF2B5EF4-FFF2-40B4-BE49-F238E27FC236}">
                <a16:creationId xmlns:a16="http://schemas.microsoft.com/office/drawing/2014/main" id="{FD427D56-9E7D-47C2-BC9A-2A463EEE2E64}"/>
              </a:ext>
            </a:extLst>
          </p:cNvPr>
          <p:cNvSpPr txBox="1"/>
          <p:nvPr/>
        </p:nvSpPr>
        <p:spPr>
          <a:xfrm>
            <a:off x="625416" y="3443377"/>
            <a:ext cx="8518584" cy="89255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b="0" i="0" u="none" strike="noStrike" baseline="0">
                <a:solidFill>
                  <a:srgbClr val="FFFFFF"/>
                </a:solidFill>
                <a:latin typeface="Calibri"/>
                <a:ea typeface="Segoe UI"/>
                <a:cs typeface="Segoe UI"/>
              </a:rPr>
              <a:t>Yuanrui Zou, Evangelos Balanikas, Qizheng Zhao, Zoltan Kurhejja, Xuehai Wang, Anupom Das, Christian Schinkel, Kaiwen Huang</a:t>
            </a:r>
            <a:r>
              <a:rPr sz="2000" b="0" i="0">
                <a:solidFill>
                  <a:srgbClr val="000000"/>
                </a:solidFill>
                <a:latin typeface="Calibri"/>
                <a:ea typeface="Calibri"/>
                <a:cs typeface="Calibri"/>
              </a:rPr>
              <a:t>​</a:t>
            </a:r>
            <a:endParaRPr lang="zh-CN" altLang="en-US"/>
          </a:p>
          <a:p>
            <a:pPr algn="l"/>
            <a:endParaRPr lang="zh-CN" altLang="en-US"/>
          </a:p>
        </p:txBody>
      </p:sp>
      <p:sp>
        <p:nvSpPr>
          <p:cNvPr id="3" name="灯片编号占位符 2">
            <a:extLst>
              <a:ext uri="{FF2B5EF4-FFF2-40B4-BE49-F238E27FC236}">
                <a16:creationId xmlns:a16="http://schemas.microsoft.com/office/drawing/2014/main" id="{CCE85EBE-5AFA-F642-B31E-9F9EF078E5BD}"/>
              </a:ext>
            </a:extLst>
          </p:cNvPr>
          <p:cNvSpPr>
            <a:spLocks noGrp="1"/>
          </p:cNvSpPr>
          <p:nvPr>
            <p:ph type="sldNum" sz="quarter" idx="12"/>
          </p:nvPr>
        </p:nvSpPr>
        <p:spPr/>
        <p:txBody>
          <a:bodyPr/>
          <a:lstStyle/>
          <a:p>
            <a:fld id="{AE086683-F536-42AB-ABBC-F4803DFE8DBC}" type="slidenum">
              <a:rPr lang="sv-SE" smtClean="0"/>
              <a:t>1</a:t>
            </a:fld>
            <a:endParaRPr lang="zh-CN" altLang="en-US"/>
          </a:p>
        </p:txBody>
      </p:sp>
    </p:spTree>
    <p:extLst>
      <p:ext uri="{BB962C8B-B14F-4D97-AF65-F5344CB8AC3E}">
        <p14:creationId xmlns:p14="http://schemas.microsoft.com/office/powerpoint/2010/main" val="1668090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2CF50AC-9062-A7BA-906A-3898FD77B61F}"/>
              </a:ext>
            </a:extLst>
          </p:cNvPr>
          <p:cNvSpPr>
            <a:spLocks noGrp="1"/>
          </p:cNvSpPr>
          <p:nvPr>
            <p:ph type="title"/>
          </p:nvPr>
        </p:nvSpPr>
        <p:spPr/>
        <p:txBody>
          <a:bodyPr/>
          <a:lstStyle/>
          <a:p>
            <a:r>
              <a:rPr lang="en-US" noProof="0"/>
              <a:t>Sepsis survival</a:t>
            </a:r>
          </a:p>
        </p:txBody>
      </p:sp>
      <p:sp>
        <p:nvSpPr>
          <p:cNvPr id="3" name="Platshållare för innehåll 2">
            <a:extLst>
              <a:ext uri="{FF2B5EF4-FFF2-40B4-BE49-F238E27FC236}">
                <a16:creationId xmlns:a16="http://schemas.microsoft.com/office/drawing/2014/main" id="{F97F047F-E204-30AF-F814-40C9C2E735CA}"/>
              </a:ext>
            </a:extLst>
          </p:cNvPr>
          <p:cNvSpPr>
            <a:spLocks noGrp="1"/>
          </p:cNvSpPr>
          <p:nvPr>
            <p:ph idx="1"/>
          </p:nvPr>
        </p:nvSpPr>
        <p:spPr/>
        <p:txBody>
          <a:bodyPr vert="horz" lIns="0" tIns="0" rIns="0" bIns="0" rtlCol="0" anchor="t">
            <a:noAutofit/>
          </a:bodyPr>
          <a:lstStyle/>
          <a:p>
            <a:r>
              <a:rPr lang="en-US" noProof="0"/>
              <a:t>Literature</a:t>
            </a:r>
          </a:p>
          <a:p>
            <a:r>
              <a:rPr lang="en-US" noProof="0"/>
              <a:t>Why it matters (importance)</a:t>
            </a:r>
            <a:endParaRPr lang="en-US" noProof="0">
              <a:ea typeface="Calibri"/>
              <a:cs typeface="Calibri"/>
            </a:endParaRPr>
          </a:p>
          <a:p>
            <a:r>
              <a:rPr lang="en-US" noProof="0">
                <a:solidFill>
                  <a:schemeClr val="tx1"/>
                </a:solidFill>
              </a:rPr>
              <a:t>Dataset, source and data access</a:t>
            </a:r>
            <a:endParaRPr lang="en-US" noProof="0">
              <a:solidFill>
                <a:schemeClr val="tx1"/>
              </a:solidFill>
              <a:ea typeface="Calibri"/>
              <a:cs typeface="Calibri"/>
            </a:endParaRPr>
          </a:p>
          <a:p>
            <a:r>
              <a:rPr lang="en-US" noProof="0">
                <a:solidFill>
                  <a:schemeClr val="tx1"/>
                </a:solidFill>
              </a:rPr>
              <a:t>What to investigate or findings to expect</a:t>
            </a:r>
            <a:endParaRPr lang="en-US" noProof="0">
              <a:solidFill>
                <a:schemeClr val="tx1"/>
              </a:solidFill>
              <a:ea typeface="Calibri"/>
              <a:cs typeface="Calibri"/>
            </a:endParaRPr>
          </a:p>
          <a:p>
            <a:pPr marL="460375" lvl="1"/>
            <a:r>
              <a:rPr lang="en-US" noProof="0">
                <a:solidFill>
                  <a:schemeClr val="tx1"/>
                </a:solidFill>
              </a:rPr>
              <a:t>Descriptive</a:t>
            </a:r>
            <a:endParaRPr lang="en-US" noProof="0">
              <a:solidFill>
                <a:schemeClr val="tx1"/>
              </a:solidFill>
              <a:ea typeface="Calibri"/>
              <a:cs typeface="Calibri"/>
            </a:endParaRPr>
          </a:p>
          <a:p>
            <a:pPr marL="460375" lvl="1"/>
            <a:r>
              <a:rPr lang="en-US" noProof="0">
                <a:solidFill>
                  <a:schemeClr val="tx1"/>
                </a:solidFill>
              </a:rPr>
              <a:t>Diagnostic</a:t>
            </a:r>
            <a:endParaRPr lang="en-US" noProof="0">
              <a:solidFill>
                <a:schemeClr val="tx1"/>
              </a:solidFill>
              <a:ea typeface="Calibri"/>
              <a:cs typeface="Calibri"/>
            </a:endParaRPr>
          </a:p>
          <a:p>
            <a:pPr marL="460375" lvl="1"/>
            <a:r>
              <a:rPr lang="en-US" noProof="0">
                <a:solidFill>
                  <a:schemeClr val="tx1"/>
                </a:solidFill>
              </a:rPr>
              <a:t>Predictive</a:t>
            </a:r>
            <a:endParaRPr lang="en-US" noProof="0">
              <a:solidFill>
                <a:schemeClr val="tx1"/>
              </a:solidFill>
              <a:ea typeface="Calibri"/>
              <a:cs typeface="Calibri"/>
            </a:endParaRPr>
          </a:p>
          <a:p>
            <a:pPr marL="460375" lvl="1"/>
            <a:r>
              <a:rPr lang="en-US" noProof="0">
                <a:solidFill>
                  <a:schemeClr val="tx1"/>
                </a:solidFill>
              </a:rPr>
              <a:t>Prescriptive</a:t>
            </a:r>
            <a:endParaRPr lang="en-US" noProof="0">
              <a:solidFill>
                <a:schemeClr val="tx1"/>
              </a:solidFill>
              <a:ea typeface="Calibri"/>
              <a:cs typeface="Calibri"/>
            </a:endParaRPr>
          </a:p>
          <a:p>
            <a:r>
              <a:rPr lang="en-US" noProof="0">
                <a:solidFill>
                  <a:schemeClr val="tx1"/>
                </a:solidFill>
              </a:rPr>
              <a:t>Why these methods fit </a:t>
            </a:r>
            <a:r>
              <a:rPr lang="en-US">
                <a:solidFill>
                  <a:schemeClr val="tx1"/>
                </a:solidFill>
              </a:rPr>
              <a:t>and </a:t>
            </a:r>
            <a:r>
              <a:rPr lang="en-US" noProof="0">
                <a:solidFill>
                  <a:schemeClr val="tx1"/>
                </a:solidFill>
              </a:rPr>
              <a:t>limitations</a:t>
            </a:r>
            <a:endParaRPr lang="en-US" noProof="0">
              <a:solidFill>
                <a:schemeClr val="tx1"/>
              </a:solidFill>
              <a:ea typeface="Calibri"/>
              <a:cs typeface="Calibri"/>
            </a:endParaRPr>
          </a:p>
        </p:txBody>
      </p:sp>
      <p:sp>
        <p:nvSpPr>
          <p:cNvPr id="5" name="Platshållare för sidfot 4">
            <a:extLst>
              <a:ext uri="{FF2B5EF4-FFF2-40B4-BE49-F238E27FC236}">
                <a16:creationId xmlns:a16="http://schemas.microsoft.com/office/drawing/2014/main" id="{172BB727-1624-321F-AEB2-8A4B2F2FE75B}"/>
              </a:ext>
            </a:extLst>
          </p:cNvPr>
          <p:cNvSpPr>
            <a:spLocks noGrp="1"/>
          </p:cNvSpPr>
          <p:nvPr>
            <p:ph type="ftr" sz="quarter" idx="11"/>
          </p:nvPr>
        </p:nvSpPr>
        <p:spPr/>
        <p:txBody>
          <a:bodyPr/>
          <a:lstStyle/>
          <a:p>
            <a:r>
              <a:rPr lang="en-US"/>
              <a:t>PROHI HT2026 · Group 2 · Seminar 28 September 2026</a:t>
            </a:r>
          </a:p>
        </p:txBody>
      </p:sp>
      <p:sp>
        <p:nvSpPr>
          <p:cNvPr id="4" name="灯片编号占位符 3">
            <a:extLst>
              <a:ext uri="{FF2B5EF4-FFF2-40B4-BE49-F238E27FC236}">
                <a16:creationId xmlns:a16="http://schemas.microsoft.com/office/drawing/2014/main" id="{4B28C1C8-473A-211F-E809-312B4906CAC3}"/>
              </a:ext>
            </a:extLst>
          </p:cNvPr>
          <p:cNvSpPr>
            <a:spLocks noGrp="1"/>
          </p:cNvSpPr>
          <p:nvPr>
            <p:ph type="sldNum" sz="quarter" idx="12"/>
          </p:nvPr>
        </p:nvSpPr>
        <p:spPr/>
        <p:txBody>
          <a:bodyPr/>
          <a:lstStyle/>
          <a:p>
            <a:fld id="{AE086683-F536-42AB-ABBC-F4803DFE8DBC}" type="slidenum">
              <a:rPr lang="sv-SE" smtClean="0"/>
              <a:t>2</a:t>
            </a:fld>
            <a:endParaRPr lang="zh-CN" altLang="en-US"/>
          </a:p>
        </p:txBody>
      </p:sp>
    </p:spTree>
    <p:extLst>
      <p:ext uri="{BB962C8B-B14F-4D97-AF65-F5344CB8AC3E}">
        <p14:creationId xmlns:p14="http://schemas.microsoft.com/office/powerpoint/2010/main" val="2472410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19959-98AE-4ED9-CB7D-ECC55515700C}"/>
              </a:ext>
            </a:extLst>
          </p:cNvPr>
          <p:cNvSpPr>
            <a:spLocks noGrp="1"/>
          </p:cNvSpPr>
          <p:nvPr>
            <p:ph type="title"/>
          </p:nvPr>
        </p:nvSpPr>
        <p:spPr/>
        <p:txBody>
          <a:bodyPr/>
          <a:lstStyle/>
          <a:p>
            <a:r>
              <a:rPr lang="en-US"/>
              <a:t>Definition</a:t>
            </a:r>
          </a:p>
        </p:txBody>
      </p:sp>
      <p:sp>
        <p:nvSpPr>
          <p:cNvPr id="3" name="Content Placeholder 2">
            <a:extLst>
              <a:ext uri="{FF2B5EF4-FFF2-40B4-BE49-F238E27FC236}">
                <a16:creationId xmlns:a16="http://schemas.microsoft.com/office/drawing/2014/main" id="{38AB31D2-71EB-D99E-8488-0431DB0579CA}"/>
              </a:ext>
            </a:extLst>
          </p:cNvPr>
          <p:cNvSpPr>
            <a:spLocks noGrp="1"/>
          </p:cNvSpPr>
          <p:nvPr>
            <p:ph idx="1"/>
          </p:nvPr>
        </p:nvSpPr>
        <p:spPr/>
        <p:txBody>
          <a:bodyPr vert="horz" lIns="0" tIns="0" rIns="0" bIns="0" rtlCol="0" anchor="t">
            <a:noAutofit/>
          </a:bodyPr>
          <a:lstStyle/>
          <a:p>
            <a:r>
              <a:rPr lang="en-US"/>
              <a:t>Sepsis is a life-threatening reaction to an infection that causes the immune system to harm healthy tissues and organs.[1]</a:t>
            </a:r>
          </a:p>
        </p:txBody>
      </p:sp>
      <p:sp>
        <p:nvSpPr>
          <p:cNvPr id="4" name="Footer Placeholder 3">
            <a:extLst>
              <a:ext uri="{FF2B5EF4-FFF2-40B4-BE49-F238E27FC236}">
                <a16:creationId xmlns:a16="http://schemas.microsoft.com/office/drawing/2014/main" id="{3C66DECD-F9F9-B315-4F36-92197B328C9C}"/>
              </a:ext>
            </a:extLst>
          </p:cNvPr>
          <p:cNvSpPr>
            <a:spLocks noGrp="1"/>
          </p:cNvSpPr>
          <p:nvPr>
            <p:ph type="ftr" sz="quarter" idx="11"/>
          </p:nvPr>
        </p:nvSpPr>
        <p:spPr/>
        <p:txBody>
          <a:bodyPr/>
          <a:lstStyle/>
          <a:p>
            <a:r>
              <a:rPr lang="en-US"/>
              <a:t>PROHI HT2026 · Group 2 · Seminar 28 September 2026</a:t>
            </a:r>
          </a:p>
        </p:txBody>
      </p:sp>
      <p:sp>
        <p:nvSpPr>
          <p:cNvPr id="5" name="灯片编号占位符 4">
            <a:extLst>
              <a:ext uri="{FF2B5EF4-FFF2-40B4-BE49-F238E27FC236}">
                <a16:creationId xmlns:a16="http://schemas.microsoft.com/office/drawing/2014/main" id="{1B5792F9-8FB5-764E-7459-A1E0D3D02029}"/>
              </a:ext>
            </a:extLst>
          </p:cNvPr>
          <p:cNvSpPr>
            <a:spLocks noGrp="1"/>
          </p:cNvSpPr>
          <p:nvPr>
            <p:ph type="sldNum" sz="quarter" idx="12"/>
          </p:nvPr>
        </p:nvSpPr>
        <p:spPr/>
        <p:txBody>
          <a:bodyPr/>
          <a:lstStyle/>
          <a:p>
            <a:fld id="{AE086683-F536-42AB-ABBC-F4803DFE8DBC}" type="slidenum">
              <a:rPr lang="sv-SE" smtClean="0"/>
              <a:t>3</a:t>
            </a:fld>
            <a:endParaRPr lang="zh-CN" altLang="en-US"/>
          </a:p>
        </p:txBody>
      </p:sp>
    </p:spTree>
    <p:extLst>
      <p:ext uri="{BB962C8B-B14F-4D97-AF65-F5344CB8AC3E}">
        <p14:creationId xmlns:p14="http://schemas.microsoft.com/office/powerpoint/2010/main" val="2837697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89A64-7672-D317-6520-0A301426C47C}"/>
              </a:ext>
            </a:extLst>
          </p:cNvPr>
          <p:cNvSpPr>
            <a:spLocks noGrp="1"/>
          </p:cNvSpPr>
          <p:nvPr>
            <p:ph type="title"/>
          </p:nvPr>
        </p:nvSpPr>
        <p:spPr/>
        <p:txBody>
          <a:bodyPr/>
          <a:lstStyle/>
          <a:p>
            <a:r>
              <a:rPr lang="en-US"/>
              <a:t>Epidemiology</a:t>
            </a:r>
          </a:p>
        </p:txBody>
      </p:sp>
      <p:sp>
        <p:nvSpPr>
          <p:cNvPr id="3" name="Content Placeholder 2">
            <a:extLst>
              <a:ext uri="{FF2B5EF4-FFF2-40B4-BE49-F238E27FC236}">
                <a16:creationId xmlns:a16="http://schemas.microsoft.com/office/drawing/2014/main" id="{ECFE30EB-3BA5-4C9C-56F7-2139DEC2E7F2}"/>
              </a:ext>
            </a:extLst>
          </p:cNvPr>
          <p:cNvSpPr>
            <a:spLocks noGrp="1"/>
          </p:cNvSpPr>
          <p:nvPr>
            <p:ph idx="1"/>
          </p:nvPr>
        </p:nvSpPr>
        <p:spPr/>
        <p:txBody>
          <a:bodyPr vert="horz" lIns="0" tIns="0" rIns="0" bIns="0" rtlCol="0" anchor="t">
            <a:noAutofit/>
          </a:bodyPr>
          <a:lstStyle/>
          <a:p>
            <a:r>
              <a:rPr lang="en-US">
                <a:ea typeface="Calibri"/>
                <a:cs typeface="Calibri"/>
              </a:rPr>
              <a:t>Global Burd</a:t>
            </a:r>
            <a:r>
              <a:rPr lang="en-US"/>
              <a:t>en: In 2021, estimated  sepsis cases: 166 million (95% uncertainty interval 135–201), and deaths 21.4 million (20.3–22.5) globally, representing 31.5% of total global deaths [2].</a:t>
            </a:r>
          </a:p>
          <a:p>
            <a:r>
              <a:rPr lang="en-US">
                <a:solidFill>
                  <a:srgbClr val="F8F8F8"/>
                </a:solidFill>
                <a:ea typeface="Calibri"/>
                <a:cs typeface="Calibri"/>
              </a:rPr>
              <a:t>U</a:t>
            </a:r>
            <a:r>
              <a:rPr lang="en-US"/>
              <a:t>S CDC estimates, 1 in 5 adults and 1 in 10 children who develop sepsis die during hospitalization or are discharged to hospice. </a:t>
            </a:r>
            <a:endParaRPr lang="en-US">
              <a:cs typeface="Calibri"/>
            </a:endParaRPr>
          </a:p>
          <a:p>
            <a:r>
              <a:rPr lang="en-US"/>
              <a:t>At least 350,000 adults and more than 1,800 children who develop sepsis die during their hospitalization or are discharged to hospice.</a:t>
            </a:r>
            <a:br>
              <a:rPr lang="en-US"/>
            </a:br>
            <a:r>
              <a:rPr lang="en-US"/>
              <a:t>Most cases of sepsis start before a patient goes to the hospital.</a:t>
            </a:r>
            <a:endParaRPr lang="en-US">
              <a:cs typeface="Calibri"/>
            </a:endParaRPr>
          </a:p>
          <a:p>
            <a:r>
              <a:rPr lang="en-US"/>
              <a:t>Most people who develop sepsis have at least one existing medical condition like chronic lung disease or a weakened immune system.</a:t>
            </a:r>
            <a:endParaRPr lang="en-US">
              <a:cs typeface="Calibri"/>
            </a:endParaRPr>
          </a:p>
          <a:p>
            <a:r>
              <a:rPr lang="en-US"/>
              <a:t>Nearly a quarter to a third of people with sepsis had a healthcare visit in the week before they were hospitalized [3].</a:t>
            </a:r>
          </a:p>
        </p:txBody>
      </p:sp>
      <p:sp>
        <p:nvSpPr>
          <p:cNvPr id="4" name="Footer Placeholder 3">
            <a:extLst>
              <a:ext uri="{FF2B5EF4-FFF2-40B4-BE49-F238E27FC236}">
                <a16:creationId xmlns:a16="http://schemas.microsoft.com/office/drawing/2014/main" id="{35A39EEE-54C1-2A0A-9550-4CA0AFE8EF1E}"/>
              </a:ext>
            </a:extLst>
          </p:cNvPr>
          <p:cNvSpPr>
            <a:spLocks noGrp="1"/>
          </p:cNvSpPr>
          <p:nvPr>
            <p:ph type="ftr" sz="quarter" idx="11"/>
          </p:nvPr>
        </p:nvSpPr>
        <p:spPr/>
        <p:txBody>
          <a:bodyPr/>
          <a:lstStyle/>
          <a:p>
            <a:r>
              <a:rPr lang="en-US"/>
              <a:t>PROHI HT2026 · Group 2 · Seminar 28 September 2026</a:t>
            </a:r>
          </a:p>
        </p:txBody>
      </p:sp>
      <p:sp>
        <p:nvSpPr>
          <p:cNvPr id="5" name="灯片编号占位符 4">
            <a:extLst>
              <a:ext uri="{FF2B5EF4-FFF2-40B4-BE49-F238E27FC236}">
                <a16:creationId xmlns:a16="http://schemas.microsoft.com/office/drawing/2014/main" id="{DED1CA21-D1E0-8ED3-04B2-89A7C3D26A15}"/>
              </a:ext>
            </a:extLst>
          </p:cNvPr>
          <p:cNvSpPr>
            <a:spLocks noGrp="1"/>
          </p:cNvSpPr>
          <p:nvPr>
            <p:ph type="sldNum" sz="quarter" idx="12"/>
          </p:nvPr>
        </p:nvSpPr>
        <p:spPr/>
        <p:txBody>
          <a:bodyPr/>
          <a:lstStyle/>
          <a:p>
            <a:fld id="{AE086683-F536-42AB-ABBC-F4803DFE8DBC}" type="slidenum">
              <a:rPr lang="sv-SE" smtClean="0"/>
              <a:t>4</a:t>
            </a:fld>
            <a:endParaRPr lang="zh-CN" altLang="en-US"/>
          </a:p>
        </p:txBody>
      </p:sp>
    </p:spTree>
    <p:extLst>
      <p:ext uri="{BB962C8B-B14F-4D97-AF65-F5344CB8AC3E}">
        <p14:creationId xmlns:p14="http://schemas.microsoft.com/office/powerpoint/2010/main" val="2812231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C502A-9C62-1EF8-E09D-ABF197EFFC91}"/>
              </a:ext>
            </a:extLst>
          </p:cNvPr>
          <p:cNvSpPr>
            <a:spLocks noGrp="1"/>
          </p:cNvSpPr>
          <p:nvPr>
            <p:ph type="title"/>
          </p:nvPr>
        </p:nvSpPr>
        <p:spPr/>
        <p:txBody>
          <a:bodyPr/>
          <a:lstStyle/>
          <a:p>
            <a:r>
              <a:rPr lang="en-US"/>
              <a:t>Clinical Significance</a:t>
            </a:r>
          </a:p>
        </p:txBody>
      </p:sp>
      <p:sp>
        <p:nvSpPr>
          <p:cNvPr id="3" name="Content Placeholder 2">
            <a:extLst>
              <a:ext uri="{FF2B5EF4-FFF2-40B4-BE49-F238E27FC236}">
                <a16:creationId xmlns:a16="http://schemas.microsoft.com/office/drawing/2014/main" id="{D7EEBB22-B069-F1CC-3BF5-E3D243237551}"/>
              </a:ext>
            </a:extLst>
          </p:cNvPr>
          <p:cNvSpPr>
            <a:spLocks noGrp="1"/>
          </p:cNvSpPr>
          <p:nvPr>
            <p:ph idx="1"/>
          </p:nvPr>
        </p:nvSpPr>
        <p:spPr/>
        <p:txBody>
          <a:bodyPr vert="horz" lIns="0" tIns="0" rIns="0" bIns="0" rtlCol="0" anchor="t">
            <a:noAutofit/>
          </a:bodyPr>
          <a:lstStyle/>
          <a:p>
            <a:pPr marL="690880" lvl="2"/>
            <a:r>
              <a:rPr lang="en-US" sz="1600">
                <a:solidFill>
                  <a:schemeClr val="tx1"/>
                </a:solidFill>
              </a:rPr>
              <a:t>Develops very quickly and can lead to organ failure or death without urgent care.</a:t>
            </a:r>
            <a:endParaRPr lang="en-US" sz="1600">
              <a:solidFill>
                <a:schemeClr val="tx1"/>
              </a:solidFill>
              <a:ea typeface="Calibri"/>
              <a:cs typeface="Calibri"/>
            </a:endParaRPr>
          </a:p>
          <a:p>
            <a:pPr marL="690880" lvl="2"/>
            <a:r>
              <a:rPr lang="en-US" sz="1600">
                <a:solidFill>
                  <a:schemeClr val="tx1"/>
                </a:solidFill>
              </a:rPr>
              <a:t>Recognizing the cases and getting medical help quickly can save life. </a:t>
            </a:r>
            <a:endParaRPr lang="en-US" sz="1600">
              <a:solidFill>
                <a:schemeClr val="tx1"/>
              </a:solidFill>
              <a:ea typeface="Calibri"/>
              <a:cs typeface="Calibri"/>
            </a:endParaRPr>
          </a:p>
          <a:p>
            <a:pPr marL="690880" lvl="2"/>
            <a:r>
              <a:rPr lang="en-US" sz="1600">
                <a:solidFill>
                  <a:schemeClr val="tx1"/>
                </a:solidFill>
                <a:ea typeface="Calibri"/>
                <a:cs typeface="Calibri"/>
              </a:rPr>
              <a:t>Early detection, signaling and prediction help clinicians act right away.</a:t>
            </a:r>
          </a:p>
        </p:txBody>
      </p:sp>
      <p:sp>
        <p:nvSpPr>
          <p:cNvPr id="4" name="Footer Placeholder 3">
            <a:extLst>
              <a:ext uri="{FF2B5EF4-FFF2-40B4-BE49-F238E27FC236}">
                <a16:creationId xmlns:a16="http://schemas.microsoft.com/office/drawing/2014/main" id="{D412AD33-0EFC-7700-A06A-7D193F82CCF6}"/>
              </a:ext>
            </a:extLst>
          </p:cNvPr>
          <p:cNvSpPr>
            <a:spLocks noGrp="1"/>
          </p:cNvSpPr>
          <p:nvPr>
            <p:ph type="ftr" sz="quarter" idx="11"/>
          </p:nvPr>
        </p:nvSpPr>
        <p:spPr/>
        <p:txBody>
          <a:bodyPr/>
          <a:lstStyle/>
          <a:p>
            <a:r>
              <a:rPr lang="en-US"/>
              <a:t>PROHI HT2026 · Group 2 · Seminar 28 September 2026</a:t>
            </a:r>
          </a:p>
        </p:txBody>
      </p:sp>
      <p:sp>
        <p:nvSpPr>
          <p:cNvPr id="5" name="灯片编号占位符 4">
            <a:extLst>
              <a:ext uri="{FF2B5EF4-FFF2-40B4-BE49-F238E27FC236}">
                <a16:creationId xmlns:a16="http://schemas.microsoft.com/office/drawing/2014/main" id="{70B25DF3-9861-0DEF-038C-4F4BFF327E51}"/>
              </a:ext>
            </a:extLst>
          </p:cNvPr>
          <p:cNvSpPr>
            <a:spLocks noGrp="1"/>
          </p:cNvSpPr>
          <p:nvPr>
            <p:ph type="sldNum" sz="quarter" idx="12"/>
          </p:nvPr>
        </p:nvSpPr>
        <p:spPr/>
        <p:txBody>
          <a:bodyPr/>
          <a:lstStyle/>
          <a:p>
            <a:fld id="{AE086683-F536-42AB-ABBC-F4803DFE8DBC}" type="slidenum">
              <a:rPr lang="sv-SE" smtClean="0"/>
              <a:t>5</a:t>
            </a:fld>
            <a:endParaRPr lang="zh-CN" altLang="en-US"/>
          </a:p>
        </p:txBody>
      </p:sp>
    </p:spTree>
    <p:extLst>
      <p:ext uri="{BB962C8B-B14F-4D97-AF65-F5344CB8AC3E}">
        <p14:creationId xmlns:p14="http://schemas.microsoft.com/office/powerpoint/2010/main" val="4006627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A4005-F061-159F-40FF-62660438B6B5}"/>
              </a:ext>
            </a:extLst>
          </p:cNvPr>
          <p:cNvSpPr>
            <a:spLocks noGrp="1"/>
          </p:cNvSpPr>
          <p:nvPr>
            <p:ph type="ctrTitle"/>
          </p:nvPr>
        </p:nvSpPr>
        <p:spPr/>
        <p:txBody>
          <a:bodyPr/>
          <a:lstStyle/>
          <a:p>
            <a:r>
              <a:rPr lang="en-US"/>
              <a:t>Dataset</a:t>
            </a:r>
          </a:p>
        </p:txBody>
      </p:sp>
      <p:sp>
        <p:nvSpPr>
          <p:cNvPr id="3" name="Subtitle 2">
            <a:extLst>
              <a:ext uri="{FF2B5EF4-FFF2-40B4-BE49-F238E27FC236}">
                <a16:creationId xmlns:a16="http://schemas.microsoft.com/office/drawing/2014/main" id="{60CB5BF9-FDB2-30C7-DF05-A7C2A1CBB29A}"/>
              </a:ext>
            </a:extLst>
          </p:cNvPr>
          <p:cNvSpPr>
            <a:spLocks noGrp="1"/>
          </p:cNvSpPr>
          <p:nvPr>
            <p:ph type="subTitle" idx="1"/>
          </p:nvPr>
        </p:nvSpPr>
        <p:spPr/>
        <p:txBody>
          <a:bodyPr/>
          <a:lstStyle/>
          <a:p>
            <a:r>
              <a:rPr lang="en-SE"/>
              <a:t>Sepsis Survival Minimal Clinical Records</a:t>
            </a:r>
            <a:endParaRPr lang="en-US"/>
          </a:p>
        </p:txBody>
      </p:sp>
      <p:sp>
        <p:nvSpPr>
          <p:cNvPr id="5" name="灯片编号占位符 4">
            <a:extLst>
              <a:ext uri="{FF2B5EF4-FFF2-40B4-BE49-F238E27FC236}">
                <a16:creationId xmlns:a16="http://schemas.microsoft.com/office/drawing/2014/main" id="{DF046DC5-189C-0855-0066-5EE816D3BC6A}"/>
              </a:ext>
            </a:extLst>
          </p:cNvPr>
          <p:cNvSpPr>
            <a:spLocks noGrp="1"/>
          </p:cNvSpPr>
          <p:nvPr>
            <p:ph type="sldNum" sz="quarter" idx="12"/>
          </p:nvPr>
        </p:nvSpPr>
        <p:spPr/>
        <p:txBody>
          <a:bodyPr/>
          <a:lstStyle/>
          <a:p>
            <a:fld id="{AE086683-F536-42AB-ABBC-F4803DFE8DBC}" type="slidenum">
              <a:rPr lang="sv-SE" smtClean="0"/>
              <a:t>6</a:t>
            </a:fld>
            <a:endParaRPr lang="zh-CN" altLang="en-US"/>
          </a:p>
        </p:txBody>
      </p:sp>
      <p:sp>
        <p:nvSpPr>
          <p:cNvPr id="4" name="页脚占位符 3">
            <a:extLst>
              <a:ext uri="{FF2B5EF4-FFF2-40B4-BE49-F238E27FC236}">
                <a16:creationId xmlns:a16="http://schemas.microsoft.com/office/drawing/2014/main" id="{215D6D72-84D2-F328-3C5E-1B36602DDF2D}"/>
              </a:ext>
            </a:extLst>
          </p:cNvPr>
          <p:cNvSpPr>
            <a:spLocks noGrp="1"/>
          </p:cNvSpPr>
          <p:nvPr>
            <p:ph type="ftr" sz="quarter" idx="11"/>
          </p:nvPr>
        </p:nvSpPr>
        <p:spPr/>
        <p:txBody>
          <a:bodyPr/>
          <a:lstStyle/>
          <a:p>
            <a:r>
              <a:rPr lang="af-ZA" altLang="zh-CN"/>
              <a:t>PROHI HT2026 · Group 2 · Seminar 28 September 2026</a:t>
            </a:r>
            <a:endParaRPr lang="zh-CN" altLang="en-US"/>
          </a:p>
        </p:txBody>
      </p:sp>
    </p:spTree>
    <p:extLst>
      <p:ext uri="{BB962C8B-B14F-4D97-AF65-F5344CB8AC3E}">
        <p14:creationId xmlns:p14="http://schemas.microsoft.com/office/powerpoint/2010/main" val="2281321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4A678E1-9038-8B34-8F4A-3C736537B0E0}"/>
              </a:ext>
            </a:extLst>
          </p:cNvPr>
          <p:cNvSpPr>
            <a:spLocks noGrp="1"/>
          </p:cNvSpPr>
          <p:nvPr>
            <p:ph type="title"/>
          </p:nvPr>
        </p:nvSpPr>
        <p:spPr>
          <a:xfrm>
            <a:off x="623887" y="334645"/>
            <a:ext cx="10884828" cy="692150"/>
          </a:xfrm>
        </p:spPr>
        <p:txBody>
          <a:bodyPr/>
          <a:lstStyle/>
          <a:p>
            <a:r>
              <a:rPr lang="en-SE" b="1"/>
              <a:t>Sepsis Survival Minimal Clinical Records</a:t>
            </a:r>
          </a:p>
        </p:txBody>
      </p:sp>
      <p:sp>
        <p:nvSpPr>
          <p:cNvPr id="6" name="Content Placeholder 5">
            <a:extLst>
              <a:ext uri="{FF2B5EF4-FFF2-40B4-BE49-F238E27FC236}">
                <a16:creationId xmlns:a16="http://schemas.microsoft.com/office/drawing/2014/main" id="{9897D83A-1B24-A56D-6B59-8E802DFC7E16}"/>
              </a:ext>
            </a:extLst>
          </p:cNvPr>
          <p:cNvSpPr>
            <a:spLocks noGrp="1"/>
          </p:cNvSpPr>
          <p:nvPr>
            <p:ph type="body" sz="quarter" idx="13"/>
          </p:nvPr>
        </p:nvSpPr>
        <p:spPr/>
        <p:txBody>
          <a:bodyPr/>
          <a:lstStyle/>
          <a:p>
            <a:pPr marL="0" indent="0">
              <a:buNone/>
            </a:pPr>
            <a:r>
              <a:rPr lang="en-SE" i="1"/>
              <a:t>Donated on 7/9/2023 [4, 5]</a:t>
            </a:r>
          </a:p>
          <a:p>
            <a:r>
              <a:rPr lang="en-SE" sz="4000" b="1"/>
              <a:t>Dataset Characteristics</a:t>
            </a:r>
          </a:p>
          <a:p>
            <a:pPr lvl="1"/>
            <a:r>
              <a:rPr lang="en-SE" sz="3600"/>
              <a:t>Multivariate</a:t>
            </a:r>
          </a:p>
          <a:p>
            <a:r>
              <a:rPr lang="en-SE" sz="4000" b="1"/>
              <a:t>Feature Type</a:t>
            </a:r>
          </a:p>
          <a:p>
            <a:pPr lvl="1"/>
            <a:r>
              <a:rPr lang="en-SE" sz="3600"/>
              <a:t>Integer</a:t>
            </a:r>
          </a:p>
          <a:p>
            <a:r>
              <a:rPr lang="en-SE" sz="4000" b="1"/>
              <a:t>Subject Area</a:t>
            </a:r>
          </a:p>
          <a:p>
            <a:pPr lvl="1"/>
            <a:r>
              <a:rPr lang="en-SE" sz="3600"/>
              <a:t>Health and Medicine</a:t>
            </a:r>
          </a:p>
        </p:txBody>
      </p:sp>
      <p:sp>
        <p:nvSpPr>
          <p:cNvPr id="7" name="Text Placeholder 6">
            <a:extLst>
              <a:ext uri="{FF2B5EF4-FFF2-40B4-BE49-F238E27FC236}">
                <a16:creationId xmlns:a16="http://schemas.microsoft.com/office/drawing/2014/main" id="{F91B9CE6-6D0D-F96C-E34E-2DBB582ABD2C}"/>
              </a:ext>
            </a:extLst>
          </p:cNvPr>
          <p:cNvSpPr>
            <a:spLocks noGrp="1"/>
          </p:cNvSpPr>
          <p:nvPr>
            <p:ph type="body" sz="quarter" idx="14"/>
          </p:nvPr>
        </p:nvSpPr>
        <p:spPr/>
        <p:txBody>
          <a:bodyPr/>
          <a:lstStyle/>
          <a:p>
            <a:pPr marL="0" indent="0">
              <a:buNone/>
            </a:pPr>
            <a:endParaRPr lang="en-SE" b="1"/>
          </a:p>
          <a:p>
            <a:r>
              <a:rPr lang="en-SE" sz="4000" b="1"/>
              <a:t># Instances</a:t>
            </a:r>
          </a:p>
          <a:p>
            <a:pPr lvl="1"/>
            <a:r>
              <a:rPr lang="en-SE" sz="3600"/>
              <a:t>110,341</a:t>
            </a:r>
          </a:p>
          <a:p>
            <a:r>
              <a:rPr lang="en-SE" sz="4000" b="1"/>
              <a:t>Associated Tasks</a:t>
            </a:r>
          </a:p>
          <a:p>
            <a:pPr lvl="1"/>
            <a:r>
              <a:rPr lang="en-SE" sz="3600"/>
              <a:t>Classification</a:t>
            </a:r>
          </a:p>
          <a:p>
            <a:r>
              <a:rPr lang="en-SE" sz="4000" b="1"/>
              <a:t># Features</a:t>
            </a:r>
          </a:p>
          <a:p>
            <a:pPr lvl="1"/>
            <a:r>
              <a:rPr lang="en-SE" sz="3600"/>
              <a:t>3</a:t>
            </a:r>
          </a:p>
        </p:txBody>
      </p:sp>
      <p:sp>
        <p:nvSpPr>
          <p:cNvPr id="4" name="Footer Placeholder 3">
            <a:extLst>
              <a:ext uri="{FF2B5EF4-FFF2-40B4-BE49-F238E27FC236}">
                <a16:creationId xmlns:a16="http://schemas.microsoft.com/office/drawing/2014/main" id="{B5C4DD2B-F9C0-53B2-7185-0D9931E62E2B}"/>
              </a:ext>
            </a:extLst>
          </p:cNvPr>
          <p:cNvSpPr>
            <a:spLocks noGrp="1"/>
          </p:cNvSpPr>
          <p:nvPr>
            <p:ph type="ftr" sz="quarter" idx="11"/>
          </p:nvPr>
        </p:nvSpPr>
        <p:spPr/>
        <p:txBody>
          <a:bodyPr/>
          <a:lstStyle/>
          <a:p>
            <a:r>
              <a:rPr lang="sv-SE"/>
              <a:t>PROHI HT2026 · Group 2 · Seminar 28 September 2026</a:t>
            </a:r>
          </a:p>
        </p:txBody>
      </p:sp>
      <p:sp>
        <p:nvSpPr>
          <p:cNvPr id="2" name="灯片编号占位符 1">
            <a:extLst>
              <a:ext uri="{FF2B5EF4-FFF2-40B4-BE49-F238E27FC236}">
                <a16:creationId xmlns:a16="http://schemas.microsoft.com/office/drawing/2014/main" id="{200A8D65-5220-F9EF-007C-A9012A63406B}"/>
              </a:ext>
            </a:extLst>
          </p:cNvPr>
          <p:cNvSpPr>
            <a:spLocks noGrp="1"/>
          </p:cNvSpPr>
          <p:nvPr>
            <p:ph type="sldNum" sz="quarter" idx="12"/>
          </p:nvPr>
        </p:nvSpPr>
        <p:spPr/>
        <p:txBody>
          <a:bodyPr/>
          <a:lstStyle/>
          <a:p>
            <a:fld id="{AE086683-F536-42AB-ABBC-F4803DFE8DBC}" type="slidenum">
              <a:rPr lang="sv-SE" smtClean="0"/>
              <a:t>7</a:t>
            </a:fld>
            <a:endParaRPr lang="zh-CN" altLang="en-US"/>
          </a:p>
        </p:txBody>
      </p:sp>
    </p:spTree>
    <p:extLst>
      <p:ext uri="{BB962C8B-B14F-4D97-AF65-F5344CB8AC3E}">
        <p14:creationId xmlns:p14="http://schemas.microsoft.com/office/powerpoint/2010/main" val="3394335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86CE7-8972-3DCD-5C07-EA7D96993E87}"/>
              </a:ext>
            </a:extLst>
          </p:cNvPr>
          <p:cNvSpPr>
            <a:spLocks noGrp="1"/>
          </p:cNvSpPr>
          <p:nvPr>
            <p:ph type="title"/>
          </p:nvPr>
        </p:nvSpPr>
        <p:spPr/>
        <p:txBody>
          <a:bodyPr/>
          <a:lstStyle/>
          <a:p>
            <a:r>
              <a:rPr lang="en-US"/>
              <a:t>Setting</a:t>
            </a:r>
          </a:p>
        </p:txBody>
      </p:sp>
      <p:sp>
        <p:nvSpPr>
          <p:cNvPr id="3" name="Content Placeholder 2">
            <a:extLst>
              <a:ext uri="{FF2B5EF4-FFF2-40B4-BE49-F238E27FC236}">
                <a16:creationId xmlns:a16="http://schemas.microsoft.com/office/drawing/2014/main" id="{34187E94-E3F0-9082-918A-790732FE7C64}"/>
              </a:ext>
            </a:extLst>
          </p:cNvPr>
          <p:cNvSpPr>
            <a:spLocks noGrp="1"/>
          </p:cNvSpPr>
          <p:nvPr>
            <p:ph idx="1"/>
          </p:nvPr>
        </p:nvSpPr>
        <p:spPr/>
        <p:txBody>
          <a:bodyPr vert="horz" lIns="0" tIns="0" rIns="0" bIns="0" rtlCol="0" anchor="t">
            <a:noAutofit/>
          </a:bodyPr>
          <a:lstStyle/>
          <a:p>
            <a:pPr marL="231775" lvl="1" indent="0">
              <a:buNone/>
            </a:pPr>
            <a:r>
              <a:rPr lang="en-US" sz="2200">
                <a:latin typeface="Arial"/>
                <a:cs typeface="Arial"/>
              </a:rPr>
              <a:t>•</a:t>
            </a:r>
            <a:r>
              <a:rPr lang="en-US" sz="2200">
                <a:solidFill>
                  <a:schemeClr val="tx1"/>
                </a:solidFill>
              </a:rPr>
              <a:t>Primary cohort: 110,204 admissions of 84,811 patients, Norway, 2011–2012 (Norwegian Patient Registry) [6]</a:t>
            </a:r>
            <a:endParaRPr lang="en-US" sz="1800">
              <a:solidFill>
                <a:schemeClr val="tx1"/>
              </a:solidFill>
              <a:ea typeface="Calibri"/>
              <a:cs typeface="Calibri"/>
            </a:endParaRPr>
          </a:p>
          <a:p>
            <a:pPr marL="231775" lvl="1" indent="0">
              <a:buNone/>
            </a:pPr>
            <a:r>
              <a:rPr lang="en-US" sz="2200">
                <a:solidFill>
                  <a:schemeClr val="tx1"/>
                </a:solidFill>
                <a:latin typeface="Arial"/>
                <a:cs typeface="Arial"/>
              </a:rPr>
              <a:t>•</a:t>
            </a:r>
            <a:r>
              <a:rPr lang="en-US" sz="2200">
                <a:solidFill>
                  <a:schemeClr val="tx1"/>
                </a:solidFill>
              </a:rPr>
              <a:t>Study cohort: 19,051 admissions, the subset of the primary cohort meeting the Sepsis-3 definition</a:t>
            </a:r>
            <a:endParaRPr lang="en-US">
              <a:solidFill>
                <a:schemeClr val="tx1"/>
              </a:solidFill>
              <a:ea typeface="Calibri"/>
              <a:cs typeface="Calibri"/>
            </a:endParaRPr>
          </a:p>
          <a:p>
            <a:pPr marL="231775" lvl="1" indent="0">
              <a:buNone/>
            </a:pPr>
            <a:r>
              <a:rPr lang="en-US" sz="2200">
                <a:solidFill>
                  <a:schemeClr val="tx1"/>
                </a:solidFill>
                <a:latin typeface="Arial"/>
                <a:cs typeface="Arial"/>
              </a:rPr>
              <a:t>•</a:t>
            </a:r>
            <a:r>
              <a:rPr lang="en-US" sz="2200">
                <a:solidFill>
                  <a:schemeClr val="tx1"/>
                </a:solidFill>
              </a:rPr>
              <a:t>Validation cohort: 137 patients, South Korea, used for external validation</a:t>
            </a:r>
            <a:endParaRPr lang="en-US">
              <a:solidFill>
                <a:schemeClr val="tx1"/>
              </a:solidFill>
              <a:ea typeface="Calibri"/>
              <a:cs typeface="Calibri"/>
            </a:endParaRPr>
          </a:p>
          <a:p>
            <a:pPr marL="231775" lvl="1" indent="0">
              <a:buNone/>
            </a:pPr>
            <a:r>
              <a:rPr lang="en-US" sz="2200">
                <a:solidFill>
                  <a:schemeClr val="tx1"/>
                </a:solidFill>
                <a:latin typeface="Arial"/>
                <a:cs typeface="Arial"/>
              </a:rPr>
              <a:t>•</a:t>
            </a:r>
            <a:r>
              <a:rPr lang="en-US" sz="2200">
                <a:solidFill>
                  <a:schemeClr val="tx1"/>
                </a:solidFill>
              </a:rPr>
              <a:t>UCI total of 110,341 instances = 110,204 (primary) + 137 (validation); the study cohort is already inside the primary cohort</a:t>
            </a:r>
            <a:endParaRPr lang="en-US">
              <a:solidFill>
                <a:schemeClr val="tx1"/>
              </a:solidFill>
              <a:ea typeface="Calibri"/>
              <a:cs typeface="Calibri"/>
            </a:endParaRPr>
          </a:p>
          <a:p>
            <a:pPr marL="460375" lvl="1"/>
            <a:endParaRPr lang="en-US" sz="1800">
              <a:ea typeface="Calibri"/>
              <a:cs typeface="Calibri"/>
            </a:endParaRPr>
          </a:p>
        </p:txBody>
      </p:sp>
      <p:sp>
        <p:nvSpPr>
          <p:cNvPr id="4" name="Footer Placeholder 3">
            <a:extLst>
              <a:ext uri="{FF2B5EF4-FFF2-40B4-BE49-F238E27FC236}">
                <a16:creationId xmlns:a16="http://schemas.microsoft.com/office/drawing/2014/main" id="{7814A043-4913-7C9E-3814-6A17E438D293}"/>
              </a:ext>
            </a:extLst>
          </p:cNvPr>
          <p:cNvSpPr>
            <a:spLocks noGrp="1"/>
          </p:cNvSpPr>
          <p:nvPr>
            <p:ph type="ftr" sz="quarter" idx="11"/>
          </p:nvPr>
        </p:nvSpPr>
        <p:spPr/>
        <p:txBody>
          <a:bodyPr/>
          <a:lstStyle/>
          <a:p>
            <a:r>
              <a:rPr lang="en-US"/>
              <a:t>PROHI HT2026 · Group 2 · Seminar 28 September 2026</a:t>
            </a:r>
          </a:p>
        </p:txBody>
      </p:sp>
      <p:sp>
        <p:nvSpPr>
          <p:cNvPr id="5" name="灯片编号占位符 4">
            <a:extLst>
              <a:ext uri="{FF2B5EF4-FFF2-40B4-BE49-F238E27FC236}">
                <a16:creationId xmlns:a16="http://schemas.microsoft.com/office/drawing/2014/main" id="{1AF2E669-837A-D08A-82D0-B5198B751748}"/>
              </a:ext>
            </a:extLst>
          </p:cNvPr>
          <p:cNvSpPr>
            <a:spLocks noGrp="1"/>
          </p:cNvSpPr>
          <p:nvPr>
            <p:ph type="sldNum" sz="quarter" idx="12"/>
          </p:nvPr>
        </p:nvSpPr>
        <p:spPr/>
        <p:txBody>
          <a:bodyPr/>
          <a:lstStyle/>
          <a:p>
            <a:fld id="{AE086683-F536-42AB-ABBC-F4803DFE8DBC}" type="slidenum">
              <a:rPr lang="sv-SE" smtClean="0"/>
              <a:t>8</a:t>
            </a:fld>
            <a:endParaRPr lang="zh-CN" altLang="en-US"/>
          </a:p>
        </p:txBody>
      </p:sp>
    </p:spTree>
    <p:extLst>
      <p:ext uri="{BB962C8B-B14F-4D97-AF65-F5344CB8AC3E}">
        <p14:creationId xmlns:p14="http://schemas.microsoft.com/office/powerpoint/2010/main" val="1808547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CB1F-201B-1C26-BDC6-2254E182E420}"/>
              </a:ext>
            </a:extLst>
          </p:cNvPr>
          <p:cNvSpPr>
            <a:spLocks noGrp="1"/>
          </p:cNvSpPr>
          <p:nvPr>
            <p:ph type="title"/>
          </p:nvPr>
        </p:nvSpPr>
        <p:spPr/>
        <p:txBody>
          <a:bodyPr/>
          <a:lstStyle/>
          <a:p>
            <a:r>
              <a:rPr lang="en-US"/>
              <a:t>Condition</a:t>
            </a:r>
          </a:p>
        </p:txBody>
      </p:sp>
      <p:sp>
        <p:nvSpPr>
          <p:cNvPr id="3" name="Content Placeholder 2">
            <a:extLst>
              <a:ext uri="{FF2B5EF4-FFF2-40B4-BE49-F238E27FC236}">
                <a16:creationId xmlns:a16="http://schemas.microsoft.com/office/drawing/2014/main" id="{BA1AD0A4-5B46-5946-5006-856A49BD7A56}"/>
              </a:ext>
            </a:extLst>
          </p:cNvPr>
          <p:cNvSpPr>
            <a:spLocks noGrp="1"/>
          </p:cNvSpPr>
          <p:nvPr>
            <p:ph idx="1"/>
          </p:nvPr>
        </p:nvSpPr>
        <p:spPr/>
        <p:txBody>
          <a:bodyPr/>
          <a:lstStyle/>
          <a:p>
            <a:r>
              <a:rPr lang="en-US" sz="3600"/>
              <a:t>Diagnosed with:</a:t>
            </a:r>
          </a:p>
          <a:p>
            <a:pPr lvl="1"/>
            <a:r>
              <a:rPr lang="en-US" sz="3200"/>
              <a:t>infections,</a:t>
            </a:r>
          </a:p>
          <a:p>
            <a:pPr lvl="1"/>
            <a:r>
              <a:rPr lang="en-US" sz="3200"/>
              <a:t>systemic inflammatory response syndrome, </a:t>
            </a:r>
          </a:p>
          <a:p>
            <a:pPr lvl="1"/>
            <a:r>
              <a:rPr lang="en-US" sz="3200"/>
              <a:t>sepsis by causative microbes, or </a:t>
            </a:r>
          </a:p>
          <a:p>
            <a:pPr lvl="1"/>
            <a:r>
              <a:rPr lang="en-US" sz="3200"/>
              <a:t>septic shock</a:t>
            </a:r>
          </a:p>
          <a:p>
            <a:pPr marL="0" indent="0">
              <a:buNone/>
            </a:pPr>
            <a:endParaRPr lang="en-US"/>
          </a:p>
        </p:txBody>
      </p:sp>
      <p:sp>
        <p:nvSpPr>
          <p:cNvPr id="4" name="Footer Placeholder 3">
            <a:extLst>
              <a:ext uri="{FF2B5EF4-FFF2-40B4-BE49-F238E27FC236}">
                <a16:creationId xmlns:a16="http://schemas.microsoft.com/office/drawing/2014/main" id="{36D3F20A-E7BB-0C9C-4D5E-1AEF0712E09B}"/>
              </a:ext>
            </a:extLst>
          </p:cNvPr>
          <p:cNvSpPr>
            <a:spLocks noGrp="1"/>
          </p:cNvSpPr>
          <p:nvPr>
            <p:ph type="ftr" sz="quarter" idx="11"/>
          </p:nvPr>
        </p:nvSpPr>
        <p:spPr/>
        <p:txBody>
          <a:bodyPr/>
          <a:lstStyle/>
          <a:p>
            <a:r>
              <a:rPr lang="en-US"/>
              <a:t>PROHI HT2026 · Group 2 · Seminar 28 September 2026</a:t>
            </a:r>
          </a:p>
        </p:txBody>
      </p:sp>
      <p:sp>
        <p:nvSpPr>
          <p:cNvPr id="5" name="灯片编号占位符 4">
            <a:extLst>
              <a:ext uri="{FF2B5EF4-FFF2-40B4-BE49-F238E27FC236}">
                <a16:creationId xmlns:a16="http://schemas.microsoft.com/office/drawing/2014/main" id="{BAE5884A-7320-2EDD-9646-C0BBF7BFBA16}"/>
              </a:ext>
            </a:extLst>
          </p:cNvPr>
          <p:cNvSpPr>
            <a:spLocks noGrp="1"/>
          </p:cNvSpPr>
          <p:nvPr>
            <p:ph type="sldNum" sz="quarter" idx="12"/>
          </p:nvPr>
        </p:nvSpPr>
        <p:spPr/>
        <p:txBody>
          <a:bodyPr/>
          <a:lstStyle/>
          <a:p>
            <a:fld id="{AE086683-F536-42AB-ABBC-F4803DFE8DBC}" type="slidenum">
              <a:rPr lang="sv-SE" smtClean="0"/>
              <a:t>9</a:t>
            </a:fld>
            <a:endParaRPr lang="zh-CN" altLang="en-US"/>
          </a:p>
        </p:txBody>
      </p:sp>
    </p:spTree>
    <p:extLst>
      <p:ext uri="{BB962C8B-B14F-4D97-AF65-F5344CB8AC3E}">
        <p14:creationId xmlns:p14="http://schemas.microsoft.com/office/powerpoint/2010/main" val="3212605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0C4CA73-B7A5-3957-24ED-403941585E91}"/>
              </a:ext>
            </a:extLst>
          </p:cNvPr>
          <p:cNvSpPr>
            <a:spLocks noGrp="1"/>
          </p:cNvSpPr>
          <p:nvPr>
            <p:ph type="title"/>
          </p:nvPr>
        </p:nvSpPr>
        <p:spPr/>
        <p:txBody>
          <a:bodyPr/>
          <a:lstStyle/>
          <a:p>
            <a:r>
              <a:rPr lang="en-US"/>
              <a:t>License</a:t>
            </a:r>
          </a:p>
        </p:txBody>
      </p:sp>
      <p:sp>
        <p:nvSpPr>
          <p:cNvPr id="11" name="Content Placeholder 10">
            <a:extLst>
              <a:ext uri="{FF2B5EF4-FFF2-40B4-BE49-F238E27FC236}">
                <a16:creationId xmlns:a16="http://schemas.microsoft.com/office/drawing/2014/main" id="{5C71C2E7-0303-77B2-2B5C-A569EA9EBF09}"/>
              </a:ext>
            </a:extLst>
          </p:cNvPr>
          <p:cNvSpPr>
            <a:spLocks noGrp="1"/>
          </p:cNvSpPr>
          <p:nvPr>
            <p:ph idx="1"/>
          </p:nvPr>
        </p:nvSpPr>
        <p:spPr/>
        <p:txBody>
          <a:bodyPr/>
          <a:lstStyle/>
          <a:p>
            <a:r>
              <a:rPr lang="en-US" sz="2800"/>
              <a:t>This dataset is licensed under a Creative Commons Attribution 4.0 International (CC BY 4.0) license.</a:t>
            </a:r>
          </a:p>
          <a:p>
            <a:endParaRPr lang="en-US" sz="2800"/>
          </a:p>
          <a:p>
            <a:r>
              <a:rPr lang="en-US" sz="2800"/>
              <a:t>This allows for the sharing and adaptation of the datasets for any purpose, provided that the appropriate credit is given.</a:t>
            </a:r>
          </a:p>
        </p:txBody>
      </p:sp>
      <p:sp>
        <p:nvSpPr>
          <p:cNvPr id="5" name="Footer Placeholder 4">
            <a:extLst>
              <a:ext uri="{FF2B5EF4-FFF2-40B4-BE49-F238E27FC236}">
                <a16:creationId xmlns:a16="http://schemas.microsoft.com/office/drawing/2014/main" id="{E7663E0E-F26A-4DAB-2F5A-ECC5EA0CE18F}"/>
              </a:ext>
            </a:extLst>
          </p:cNvPr>
          <p:cNvSpPr>
            <a:spLocks noGrp="1"/>
          </p:cNvSpPr>
          <p:nvPr>
            <p:ph type="ftr" sz="quarter" idx="11"/>
          </p:nvPr>
        </p:nvSpPr>
        <p:spPr/>
        <p:txBody>
          <a:bodyPr/>
          <a:lstStyle/>
          <a:p>
            <a:r>
              <a:rPr lang="en-US"/>
              <a:t>PROHI HT2026 · Group 2 · Seminar 28 September 2026</a:t>
            </a:r>
          </a:p>
        </p:txBody>
      </p:sp>
      <p:sp>
        <p:nvSpPr>
          <p:cNvPr id="2" name="灯片编号占位符 1">
            <a:extLst>
              <a:ext uri="{FF2B5EF4-FFF2-40B4-BE49-F238E27FC236}">
                <a16:creationId xmlns:a16="http://schemas.microsoft.com/office/drawing/2014/main" id="{3760A572-F303-0CC6-9ABC-2AA514749544}"/>
              </a:ext>
            </a:extLst>
          </p:cNvPr>
          <p:cNvSpPr>
            <a:spLocks noGrp="1"/>
          </p:cNvSpPr>
          <p:nvPr>
            <p:ph type="sldNum" sz="quarter" idx="12"/>
          </p:nvPr>
        </p:nvSpPr>
        <p:spPr/>
        <p:txBody>
          <a:bodyPr/>
          <a:lstStyle/>
          <a:p>
            <a:fld id="{AE086683-F536-42AB-ABBC-F4803DFE8DBC}" type="slidenum">
              <a:rPr lang="sv-SE" smtClean="0"/>
              <a:t>10</a:t>
            </a:fld>
            <a:endParaRPr lang="zh-CN" altLang="en-US"/>
          </a:p>
        </p:txBody>
      </p:sp>
    </p:spTree>
    <p:extLst>
      <p:ext uri="{BB962C8B-B14F-4D97-AF65-F5344CB8AC3E}">
        <p14:creationId xmlns:p14="http://schemas.microsoft.com/office/powerpoint/2010/main" val="3127610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0C4CA73-B7A5-3957-24ED-403941585E91}"/>
              </a:ext>
            </a:extLst>
          </p:cNvPr>
          <p:cNvSpPr>
            <a:spLocks noGrp="1"/>
          </p:cNvSpPr>
          <p:nvPr>
            <p:ph type="title"/>
          </p:nvPr>
        </p:nvSpPr>
        <p:spPr/>
        <p:txBody>
          <a:bodyPr/>
          <a:lstStyle/>
          <a:p>
            <a:r>
              <a:rPr lang="en-US">
                <a:solidFill>
                  <a:schemeClr val="tx1"/>
                </a:solidFill>
              </a:rPr>
              <a:t>Data access</a:t>
            </a:r>
            <a:endParaRPr lang="en-US">
              <a:solidFill>
                <a:schemeClr val="tx1"/>
              </a:solidFill>
              <a:ea typeface="Calibri"/>
              <a:cs typeface="Calibri"/>
            </a:endParaRPr>
          </a:p>
        </p:txBody>
      </p:sp>
      <p:sp>
        <p:nvSpPr>
          <p:cNvPr id="11" name="Content Placeholder 10">
            <a:extLst>
              <a:ext uri="{FF2B5EF4-FFF2-40B4-BE49-F238E27FC236}">
                <a16:creationId xmlns:a16="http://schemas.microsoft.com/office/drawing/2014/main" id="{5C71C2E7-0303-77B2-2B5C-A569EA9EBF09}"/>
              </a:ext>
            </a:extLst>
          </p:cNvPr>
          <p:cNvSpPr>
            <a:spLocks noGrp="1"/>
          </p:cNvSpPr>
          <p:nvPr>
            <p:ph idx="1"/>
          </p:nvPr>
        </p:nvSpPr>
        <p:spPr/>
        <p:txBody>
          <a:bodyPr vert="horz" lIns="0" tIns="0" rIns="0" bIns="0" rtlCol="0">
            <a:noAutofit/>
          </a:bodyPr>
          <a:lstStyle/>
          <a:p>
            <a:r>
              <a:rPr lang="en-US" sz="2400">
                <a:solidFill>
                  <a:schemeClr val="tx1"/>
                </a:solidFill>
              </a:rPr>
              <a:t>Open access via the UCI Machine Learning Repository, dataset ID 827 [4, 5]</a:t>
            </a:r>
            <a:endParaRPr lang="en-US" sz="2400">
              <a:solidFill>
                <a:schemeClr val="tx1"/>
              </a:solidFill>
              <a:ea typeface="Calibri"/>
              <a:cs typeface="Calibri"/>
            </a:endParaRPr>
          </a:p>
          <a:p>
            <a:pPr marL="460375" lvl="1"/>
            <a:r>
              <a:rPr lang="en-US" sz="2000">
                <a:solidFill>
                  <a:schemeClr val="tx1"/>
                </a:solidFill>
              </a:rPr>
              <a:t>archive.ics.uci.edu/dataset/827</a:t>
            </a:r>
            <a:endParaRPr lang="en-US" sz="2000">
              <a:solidFill>
                <a:schemeClr val="tx1"/>
              </a:solidFill>
              <a:ea typeface="Calibri"/>
              <a:cs typeface="Calibri"/>
            </a:endParaRPr>
          </a:p>
          <a:p>
            <a:r>
              <a:rPr lang="en-US" sz="2400">
                <a:solidFill>
                  <a:schemeClr val="tx1"/>
                </a:solidFill>
              </a:rPr>
              <a:t>No registration or data-use agreement needed; CC BY 4.0</a:t>
            </a:r>
            <a:endParaRPr lang="en-US" sz="2400">
              <a:solidFill>
                <a:schemeClr val="tx1"/>
              </a:solidFill>
              <a:ea typeface="Calibri"/>
              <a:cs typeface="Calibri"/>
            </a:endParaRPr>
          </a:p>
          <a:p>
            <a:r>
              <a:rPr lang="en-US" sz="2400">
                <a:solidFill>
                  <a:schemeClr val="tx1"/>
                </a:solidFill>
              </a:rPr>
              <a:t>One ZIP file (~220 KB) with three CSV files: primary, study and validation cohort</a:t>
            </a:r>
            <a:endParaRPr lang="en-US" sz="2400">
              <a:solidFill>
                <a:schemeClr val="tx1"/>
              </a:solidFill>
              <a:ea typeface="Calibri"/>
              <a:cs typeface="Calibri"/>
            </a:endParaRPr>
          </a:p>
          <a:p>
            <a:r>
              <a:rPr lang="en-US" sz="2400">
                <a:solidFill>
                  <a:schemeClr val="tx1"/>
                </a:solidFill>
              </a:rPr>
              <a:t>Python: pip install </a:t>
            </a:r>
            <a:r>
              <a:rPr lang="en-US" sz="2400" err="1">
                <a:solidFill>
                  <a:schemeClr val="tx1"/>
                </a:solidFill>
              </a:rPr>
              <a:t>ucimlrepo</a:t>
            </a:r>
            <a:r>
              <a:rPr lang="en-US" sz="2400">
                <a:solidFill>
                  <a:schemeClr val="tx1"/>
                </a:solidFill>
              </a:rPr>
              <a:t>, then </a:t>
            </a:r>
            <a:r>
              <a:rPr lang="en-US" sz="2400" err="1">
                <a:solidFill>
                  <a:schemeClr val="tx1"/>
                </a:solidFill>
              </a:rPr>
              <a:t>fetch_ucirepo</a:t>
            </a:r>
            <a:r>
              <a:rPr lang="en-US" sz="2400">
                <a:solidFill>
                  <a:schemeClr val="tx1"/>
                </a:solidFill>
              </a:rPr>
              <a:t>(id=827)</a:t>
            </a:r>
            <a:endParaRPr lang="en-US" sz="2400">
              <a:solidFill>
                <a:schemeClr val="tx1"/>
              </a:solidFill>
              <a:ea typeface="Calibri"/>
              <a:cs typeface="Calibri"/>
            </a:endParaRPr>
          </a:p>
          <a:p>
            <a:r>
              <a:rPr lang="en-US" sz="2400">
                <a:solidFill>
                  <a:schemeClr val="tx1"/>
                </a:solidFill>
              </a:rPr>
              <a:t>Columns: </a:t>
            </a:r>
            <a:r>
              <a:rPr lang="en-US" sz="2400" err="1">
                <a:solidFill>
                  <a:schemeClr val="tx1"/>
                </a:solidFill>
              </a:rPr>
              <a:t>age_years</a:t>
            </a:r>
            <a:r>
              <a:rPr lang="en-US" sz="2400">
                <a:solidFill>
                  <a:schemeClr val="tx1"/>
                </a:solidFill>
              </a:rPr>
              <a:t> · sex_0male_1female · </a:t>
            </a:r>
            <a:r>
              <a:rPr lang="en-US" sz="2400" err="1">
                <a:solidFill>
                  <a:schemeClr val="tx1"/>
                </a:solidFill>
              </a:rPr>
              <a:t>episode_number</a:t>
            </a:r>
            <a:r>
              <a:rPr lang="en-US" sz="2400">
                <a:solidFill>
                  <a:schemeClr val="tx1"/>
                </a:solidFill>
              </a:rPr>
              <a:t> → hospital_outcome_1alive_0dead</a:t>
            </a:r>
            <a:endParaRPr lang="en-US" sz="2400">
              <a:solidFill>
                <a:schemeClr val="tx1"/>
              </a:solidFill>
              <a:ea typeface="Calibri"/>
              <a:cs typeface="Calibri"/>
            </a:endParaRPr>
          </a:p>
          <a:p>
            <a:r>
              <a:rPr lang="en-US" sz="2400">
                <a:solidFill>
                  <a:schemeClr val="tx1"/>
                </a:solidFill>
              </a:rPr>
              <a:t>Original publication: Chicco &amp; Jurman, Scientific Reports 2020 [6]</a:t>
            </a:r>
            <a:endParaRPr lang="en-US" sz="2400">
              <a:solidFill>
                <a:schemeClr val="tx1"/>
              </a:solidFill>
              <a:ea typeface="Calibri"/>
              <a:cs typeface="Calibri"/>
            </a:endParaRPr>
          </a:p>
        </p:txBody>
      </p:sp>
      <p:sp>
        <p:nvSpPr>
          <p:cNvPr id="5" name="Footer Placeholder 4">
            <a:extLst>
              <a:ext uri="{FF2B5EF4-FFF2-40B4-BE49-F238E27FC236}">
                <a16:creationId xmlns:a16="http://schemas.microsoft.com/office/drawing/2014/main" id="{E7663E0E-F26A-4DAB-2F5A-ECC5EA0CE18F}"/>
              </a:ext>
            </a:extLst>
          </p:cNvPr>
          <p:cNvSpPr>
            <a:spLocks noGrp="1"/>
          </p:cNvSpPr>
          <p:nvPr>
            <p:ph type="ftr" sz="quarter" idx="11"/>
          </p:nvPr>
        </p:nvSpPr>
        <p:spPr/>
        <p:txBody>
          <a:bodyPr/>
          <a:lstStyle/>
          <a:p>
            <a:r>
              <a:rPr lang="en-US"/>
              <a:t>PROHI HT2026 · Group 2 · Seminar 28 September 2026</a:t>
            </a:r>
          </a:p>
        </p:txBody>
      </p:sp>
      <p:sp>
        <p:nvSpPr>
          <p:cNvPr id="2" name="灯片编号占位符 1">
            <a:extLst>
              <a:ext uri="{FF2B5EF4-FFF2-40B4-BE49-F238E27FC236}">
                <a16:creationId xmlns:a16="http://schemas.microsoft.com/office/drawing/2014/main" id="{B262A657-04BD-A7B6-BB6F-BD88836CAAA3}"/>
              </a:ext>
            </a:extLst>
          </p:cNvPr>
          <p:cNvSpPr>
            <a:spLocks noGrp="1"/>
          </p:cNvSpPr>
          <p:nvPr>
            <p:ph type="sldNum" sz="quarter" idx="12"/>
          </p:nvPr>
        </p:nvSpPr>
        <p:spPr/>
        <p:txBody>
          <a:bodyPr/>
          <a:lstStyle/>
          <a:p>
            <a:fld id="{AE086683-F536-42AB-ABBC-F4803DFE8DBC}" type="slidenum">
              <a:rPr lang="sv-SE" smtClean="0"/>
              <a:t>11</a:t>
            </a:fld>
            <a:endParaRPr lang="zh-CN" altLang="en-US"/>
          </a:p>
        </p:txBody>
      </p:sp>
    </p:spTree>
    <p:extLst>
      <p:ext uri="{BB962C8B-B14F-4D97-AF65-F5344CB8AC3E}">
        <p14:creationId xmlns:p14="http://schemas.microsoft.com/office/powerpoint/2010/main" val="3127610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2CF50AC-9062-A7BA-906A-3898FD77B61F}"/>
              </a:ext>
            </a:extLst>
          </p:cNvPr>
          <p:cNvSpPr>
            <a:spLocks noGrp="1"/>
          </p:cNvSpPr>
          <p:nvPr>
            <p:ph type="title"/>
          </p:nvPr>
        </p:nvSpPr>
        <p:spPr/>
        <p:txBody>
          <a:bodyPr/>
          <a:lstStyle/>
          <a:p>
            <a:r>
              <a:rPr lang="en-US"/>
              <a:t>One dataset supports four distinct decision questions</a:t>
            </a:r>
          </a:p>
        </p:txBody>
      </p:sp>
      <p:sp>
        <p:nvSpPr>
          <p:cNvPr id="5" name="Platshållare för sidfot 4">
            <a:extLst>
              <a:ext uri="{FF2B5EF4-FFF2-40B4-BE49-F238E27FC236}">
                <a16:creationId xmlns:a16="http://schemas.microsoft.com/office/drawing/2014/main" id="{172BB727-1624-321F-AEB2-8A4B2F2FE75B}"/>
              </a:ext>
            </a:extLst>
          </p:cNvPr>
          <p:cNvSpPr>
            <a:spLocks noGrp="1"/>
          </p:cNvSpPr>
          <p:nvPr>
            <p:ph type="ftr" sz="quarter" idx="11"/>
          </p:nvPr>
        </p:nvSpPr>
        <p:spPr/>
        <p:txBody>
          <a:bodyPr/>
          <a:lstStyle/>
          <a:p>
            <a:r>
              <a:rPr lang="en-US"/>
              <a:t>PROHI HT2026 · Group 2 · Seminar 28 September 2026</a:t>
            </a:r>
          </a:p>
        </p:txBody>
      </p:sp>
      <p:sp>
        <p:nvSpPr>
          <p:cNvPr id="4" name="Rectangle 3">
            <a:extLst>
              <a:ext uri="{FF2B5EF4-FFF2-40B4-BE49-F238E27FC236}">
                <a16:creationId xmlns:a16="http://schemas.microsoft.com/office/drawing/2014/main" id="{DD088F43-9D91-CB4D-B878-984AAE8A1307}"/>
              </a:ext>
            </a:extLst>
          </p:cNvPr>
          <p:cNvSpPr/>
          <p:nvPr/>
        </p:nvSpPr>
        <p:spPr>
          <a:xfrm>
            <a:off x="635000" y="1447800"/>
            <a:ext cx="533400" cy="533400"/>
          </a:xfrm>
          <a:prstGeom prst="rect">
            <a:avLst/>
          </a:prstGeom>
          <a:solidFill>
            <a:srgbClr val="63B3D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ctr"/>
            <a:r>
              <a:rPr lang="en-US" sz="2000" b="1">
                <a:solidFill>
                  <a:srgbClr val="09263E"/>
                </a:solidFill>
                <a:latin typeface="Arial"/>
                <a:cs typeface="Arial"/>
              </a:rPr>
              <a:t>1</a:t>
            </a:r>
          </a:p>
        </p:txBody>
      </p:sp>
      <p:sp>
        <p:nvSpPr>
          <p:cNvPr id="6" name="TextBox 5">
            <a:extLst>
              <a:ext uri="{FF2B5EF4-FFF2-40B4-BE49-F238E27FC236}">
                <a16:creationId xmlns:a16="http://schemas.microsoft.com/office/drawing/2014/main" id="{3B433488-A828-6640-84EB-E07B2E13593C}"/>
              </a:ext>
            </a:extLst>
          </p:cNvPr>
          <p:cNvSpPr txBox="1"/>
          <p:nvPr/>
        </p:nvSpPr>
        <p:spPr>
          <a:xfrm>
            <a:off x="635000" y="2159000"/>
            <a:ext cx="2413000" cy="304800"/>
          </a:xfrm>
          <a:prstGeom prst="rect">
            <a:avLst/>
          </a:prstGeom>
          <a:noFill/>
        </p:spPr>
        <p:txBody>
          <a:bodyPr vertOverflow="overflow" vert="horz" wrap="square" lIns="0" tIns="0" rIns="0" bIns="0" rtlCol="0" anchor="t" anchorCtr="0">
            <a:spAutoFit/>
          </a:bodyPr>
          <a:lstStyle/>
          <a:p>
            <a:pPr algn="l"/>
            <a:r>
              <a:rPr lang="en-US" sz="1400" b="1">
                <a:solidFill>
                  <a:srgbClr val="63B3D1"/>
                </a:solidFill>
                <a:latin typeface="Arial"/>
                <a:cs typeface="Arial"/>
              </a:rPr>
              <a:t>DESCRIPTIVE</a:t>
            </a:r>
          </a:p>
        </p:txBody>
      </p:sp>
      <p:sp>
        <p:nvSpPr>
          <p:cNvPr id="7" name="TextBox 6">
            <a:extLst>
              <a:ext uri="{FF2B5EF4-FFF2-40B4-BE49-F238E27FC236}">
                <a16:creationId xmlns:a16="http://schemas.microsoft.com/office/drawing/2014/main" id="{F2E0C480-5727-7B42-8D5B-345025A3DFEF}"/>
              </a:ext>
            </a:extLst>
          </p:cNvPr>
          <p:cNvSpPr txBox="1"/>
          <p:nvPr/>
        </p:nvSpPr>
        <p:spPr>
          <a:xfrm>
            <a:off x="635000" y="2590800"/>
            <a:ext cx="2413000" cy="609600"/>
          </a:xfrm>
          <a:prstGeom prst="rect">
            <a:avLst/>
          </a:prstGeom>
          <a:noFill/>
        </p:spPr>
        <p:txBody>
          <a:bodyPr vertOverflow="overflow" vert="horz" wrap="square" lIns="0" tIns="0" rIns="0" bIns="0" rtlCol="0" anchor="t" anchorCtr="0">
            <a:spAutoFit/>
          </a:bodyPr>
          <a:lstStyle/>
          <a:p>
            <a:pPr algn="l"/>
            <a:r>
              <a:rPr lang="en-US" sz="2200" b="1">
                <a:solidFill>
                  <a:srgbClr val="FFFFFF"/>
                </a:solidFill>
                <a:latin typeface="Arial"/>
                <a:cs typeface="Arial"/>
              </a:rPr>
              <a:t>What happened?</a:t>
            </a:r>
          </a:p>
        </p:txBody>
      </p:sp>
      <p:sp>
        <p:nvSpPr>
          <p:cNvPr id="8" name="TextBox 7">
            <a:extLst>
              <a:ext uri="{FF2B5EF4-FFF2-40B4-BE49-F238E27FC236}">
                <a16:creationId xmlns:a16="http://schemas.microsoft.com/office/drawing/2014/main" id="{BB155B68-5DCB-8441-A5E7-B3CFB4A73D02}"/>
              </a:ext>
            </a:extLst>
          </p:cNvPr>
          <p:cNvSpPr txBox="1"/>
          <p:nvPr/>
        </p:nvSpPr>
        <p:spPr>
          <a:xfrm>
            <a:off x="635000" y="3390900"/>
            <a:ext cx="2413000" cy="1143000"/>
          </a:xfrm>
          <a:prstGeom prst="rect">
            <a:avLst/>
          </a:prstGeom>
          <a:noFill/>
        </p:spPr>
        <p:txBody>
          <a:bodyPr vertOverflow="overflow" vert="horz" wrap="square" lIns="0" tIns="0" rIns="0" bIns="0" rtlCol="0" anchor="t" anchorCtr="0">
            <a:spAutoFit/>
          </a:bodyPr>
          <a:lstStyle/>
          <a:p>
            <a:pPr algn="l"/>
            <a:r>
              <a:rPr lang="en-US" sz="1700">
                <a:solidFill>
                  <a:srgbClr val="FFFFFF"/>
                </a:solidFill>
                <a:latin typeface="Arial"/>
                <a:cs typeface="Arial"/>
              </a:rPr>
              <a:t>Profile age, sex, repeated episodes and overall survival.</a:t>
            </a:r>
          </a:p>
        </p:txBody>
      </p:sp>
      <p:sp>
        <p:nvSpPr>
          <p:cNvPr id="10" name="TextBox 9">
            <a:extLst>
              <a:ext uri="{FF2B5EF4-FFF2-40B4-BE49-F238E27FC236}">
                <a16:creationId xmlns:a16="http://schemas.microsoft.com/office/drawing/2014/main" id="{0E6A5255-7E5C-5A4B-9E42-4CD7DF44E188}"/>
              </a:ext>
            </a:extLst>
          </p:cNvPr>
          <p:cNvSpPr txBox="1"/>
          <p:nvPr/>
        </p:nvSpPr>
        <p:spPr>
          <a:xfrm>
            <a:off x="635000" y="4902200"/>
            <a:ext cx="2413000" cy="406400"/>
          </a:xfrm>
          <a:prstGeom prst="rect">
            <a:avLst/>
          </a:prstGeom>
          <a:noFill/>
        </p:spPr>
        <p:txBody>
          <a:bodyPr vertOverflow="overflow" vert="horz" wrap="square" lIns="0" tIns="0" rIns="0" bIns="0" rtlCol="0" anchor="t" anchorCtr="0">
            <a:spAutoFit/>
          </a:bodyPr>
          <a:lstStyle/>
          <a:p>
            <a:pPr algn="l"/>
            <a:r>
              <a:rPr lang="en-US" sz="1400">
                <a:solidFill>
                  <a:srgbClr val="B8D0E0"/>
                </a:solidFill>
                <a:latin typeface="Arial"/>
                <a:cs typeface="Arial"/>
              </a:rPr>
              <a:t>User: epidemiologist</a:t>
            </a:r>
          </a:p>
        </p:txBody>
      </p:sp>
      <p:sp>
        <p:nvSpPr>
          <p:cNvPr id="11" name="Rectangle 10">
            <a:extLst>
              <a:ext uri="{FF2B5EF4-FFF2-40B4-BE49-F238E27FC236}">
                <a16:creationId xmlns:a16="http://schemas.microsoft.com/office/drawing/2014/main" id="{09A5E76E-6003-674E-BB53-03A6F2CFA2C0}"/>
              </a:ext>
            </a:extLst>
          </p:cNvPr>
          <p:cNvSpPr/>
          <p:nvPr/>
        </p:nvSpPr>
        <p:spPr>
          <a:xfrm>
            <a:off x="3429000" y="1447800"/>
            <a:ext cx="533400" cy="533400"/>
          </a:xfrm>
          <a:prstGeom prst="rect">
            <a:avLst/>
          </a:prstGeom>
          <a:solidFill>
            <a:srgbClr val="45B8B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ctr"/>
            <a:r>
              <a:rPr lang="en-US" sz="2000" b="1">
                <a:solidFill>
                  <a:srgbClr val="09263E"/>
                </a:solidFill>
                <a:latin typeface="Arial"/>
                <a:cs typeface="Arial"/>
              </a:rPr>
              <a:t>2</a:t>
            </a:r>
          </a:p>
        </p:txBody>
      </p:sp>
      <p:sp>
        <p:nvSpPr>
          <p:cNvPr id="12" name="TextBox 11">
            <a:extLst>
              <a:ext uri="{FF2B5EF4-FFF2-40B4-BE49-F238E27FC236}">
                <a16:creationId xmlns:a16="http://schemas.microsoft.com/office/drawing/2014/main" id="{54C211F7-E671-3041-B4D0-CACA2E2FDF8D}"/>
              </a:ext>
            </a:extLst>
          </p:cNvPr>
          <p:cNvSpPr txBox="1"/>
          <p:nvPr/>
        </p:nvSpPr>
        <p:spPr>
          <a:xfrm>
            <a:off x="3429000" y="2159000"/>
            <a:ext cx="2413000" cy="304800"/>
          </a:xfrm>
          <a:prstGeom prst="rect">
            <a:avLst/>
          </a:prstGeom>
          <a:noFill/>
        </p:spPr>
        <p:txBody>
          <a:bodyPr vertOverflow="overflow" vert="horz" wrap="square" lIns="0" tIns="0" rIns="0" bIns="0" rtlCol="0" anchor="t" anchorCtr="0">
            <a:spAutoFit/>
          </a:bodyPr>
          <a:lstStyle/>
          <a:p>
            <a:pPr algn="l"/>
            <a:r>
              <a:rPr lang="en-US" sz="1400" b="1">
                <a:solidFill>
                  <a:srgbClr val="45B8B0"/>
                </a:solidFill>
                <a:latin typeface="Arial"/>
                <a:cs typeface="Arial"/>
              </a:rPr>
              <a:t>DIAGNOSTIC</a:t>
            </a:r>
          </a:p>
        </p:txBody>
      </p:sp>
      <p:sp>
        <p:nvSpPr>
          <p:cNvPr id="13" name="TextBox 12">
            <a:extLst>
              <a:ext uri="{FF2B5EF4-FFF2-40B4-BE49-F238E27FC236}">
                <a16:creationId xmlns:a16="http://schemas.microsoft.com/office/drawing/2014/main" id="{9FCEBDB8-0E8B-C944-85E2-2AE1AED81E25}"/>
              </a:ext>
            </a:extLst>
          </p:cNvPr>
          <p:cNvSpPr txBox="1"/>
          <p:nvPr/>
        </p:nvSpPr>
        <p:spPr>
          <a:xfrm>
            <a:off x="3429000" y="2590800"/>
            <a:ext cx="2413000" cy="609600"/>
          </a:xfrm>
          <a:prstGeom prst="rect">
            <a:avLst/>
          </a:prstGeom>
          <a:noFill/>
        </p:spPr>
        <p:txBody>
          <a:bodyPr vertOverflow="overflow" vert="horz" wrap="square" lIns="0" tIns="0" rIns="0" bIns="0" rtlCol="0" anchor="t" anchorCtr="0">
            <a:spAutoFit/>
          </a:bodyPr>
          <a:lstStyle/>
          <a:p>
            <a:pPr algn="l"/>
            <a:r>
              <a:rPr lang="en-US" sz="2200" b="1">
                <a:solidFill>
                  <a:srgbClr val="FFFFFF"/>
                </a:solidFill>
                <a:latin typeface="Arial"/>
                <a:cs typeface="Arial"/>
              </a:rPr>
              <a:t>Why did outcomes differ?</a:t>
            </a:r>
          </a:p>
        </p:txBody>
      </p:sp>
      <p:sp>
        <p:nvSpPr>
          <p:cNvPr id="14" name="TextBox 13">
            <a:extLst>
              <a:ext uri="{FF2B5EF4-FFF2-40B4-BE49-F238E27FC236}">
                <a16:creationId xmlns:a16="http://schemas.microsoft.com/office/drawing/2014/main" id="{21244F8E-4720-9F4C-9396-2153E06026A4}"/>
              </a:ext>
            </a:extLst>
          </p:cNvPr>
          <p:cNvSpPr txBox="1"/>
          <p:nvPr/>
        </p:nvSpPr>
        <p:spPr>
          <a:xfrm>
            <a:off x="3429000" y="3390900"/>
            <a:ext cx="2413000" cy="1143000"/>
          </a:xfrm>
          <a:prstGeom prst="rect">
            <a:avLst/>
          </a:prstGeom>
          <a:noFill/>
        </p:spPr>
        <p:txBody>
          <a:bodyPr vertOverflow="overflow" vert="horz" wrap="square" lIns="0" tIns="0" rIns="0" bIns="0" rtlCol="0" anchor="t" anchorCtr="0">
            <a:spAutoFit/>
          </a:bodyPr>
          <a:lstStyle/>
          <a:p>
            <a:pPr algn="l"/>
            <a:r>
              <a:rPr lang="en-US" sz="1700">
                <a:solidFill>
                  <a:srgbClr val="FFFFFF"/>
                </a:solidFill>
                <a:latin typeface="Arial"/>
                <a:cs typeface="Arial"/>
              </a:rPr>
              <a:t>Test associations between predictors and hospital outcome.</a:t>
            </a:r>
          </a:p>
        </p:txBody>
      </p:sp>
      <p:sp>
        <p:nvSpPr>
          <p:cNvPr id="16" name="TextBox 15">
            <a:extLst>
              <a:ext uri="{FF2B5EF4-FFF2-40B4-BE49-F238E27FC236}">
                <a16:creationId xmlns:a16="http://schemas.microsoft.com/office/drawing/2014/main" id="{AE4FA6A6-1B84-1B48-A55A-5A6FF8DBBDCB}"/>
              </a:ext>
            </a:extLst>
          </p:cNvPr>
          <p:cNvSpPr txBox="1"/>
          <p:nvPr/>
        </p:nvSpPr>
        <p:spPr>
          <a:xfrm>
            <a:off x="3429000" y="4902200"/>
            <a:ext cx="2413000" cy="406400"/>
          </a:xfrm>
          <a:prstGeom prst="rect">
            <a:avLst/>
          </a:prstGeom>
          <a:noFill/>
        </p:spPr>
        <p:txBody>
          <a:bodyPr vertOverflow="overflow" vert="horz" wrap="square" lIns="0" tIns="0" rIns="0" bIns="0" rtlCol="0" anchor="t" anchorCtr="0">
            <a:spAutoFit/>
          </a:bodyPr>
          <a:lstStyle/>
          <a:p>
            <a:pPr algn="l"/>
            <a:r>
              <a:rPr lang="en-US" sz="1400">
                <a:solidFill>
                  <a:srgbClr val="B8D0E0"/>
                </a:solidFill>
                <a:latin typeface="Arial"/>
                <a:cs typeface="Arial"/>
              </a:rPr>
              <a:t>User: clinical analyst</a:t>
            </a:r>
          </a:p>
        </p:txBody>
      </p:sp>
      <p:sp>
        <p:nvSpPr>
          <p:cNvPr id="17" name="Rectangle 16">
            <a:extLst>
              <a:ext uri="{FF2B5EF4-FFF2-40B4-BE49-F238E27FC236}">
                <a16:creationId xmlns:a16="http://schemas.microsoft.com/office/drawing/2014/main" id="{47C54AD3-55B0-524E-AADF-5E10CF28280D}"/>
              </a:ext>
            </a:extLst>
          </p:cNvPr>
          <p:cNvSpPr/>
          <p:nvPr/>
        </p:nvSpPr>
        <p:spPr>
          <a:xfrm>
            <a:off x="6223000" y="1447800"/>
            <a:ext cx="533400" cy="533400"/>
          </a:xfrm>
          <a:prstGeom prst="rect">
            <a:avLst/>
          </a:prstGeom>
          <a:solidFill>
            <a:srgbClr val="F3A6C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ctr"/>
            <a:r>
              <a:rPr lang="en-US" sz="2000" b="1">
                <a:solidFill>
                  <a:srgbClr val="09263E"/>
                </a:solidFill>
                <a:latin typeface="Arial"/>
                <a:cs typeface="Arial"/>
              </a:rPr>
              <a:t>3</a:t>
            </a:r>
          </a:p>
        </p:txBody>
      </p:sp>
      <p:sp>
        <p:nvSpPr>
          <p:cNvPr id="18" name="TextBox 17">
            <a:extLst>
              <a:ext uri="{FF2B5EF4-FFF2-40B4-BE49-F238E27FC236}">
                <a16:creationId xmlns:a16="http://schemas.microsoft.com/office/drawing/2014/main" id="{8FEF2186-E898-7641-BCAD-14A3E0371A3C}"/>
              </a:ext>
            </a:extLst>
          </p:cNvPr>
          <p:cNvSpPr txBox="1"/>
          <p:nvPr/>
        </p:nvSpPr>
        <p:spPr>
          <a:xfrm>
            <a:off x="6223000" y="2159000"/>
            <a:ext cx="2413000" cy="304800"/>
          </a:xfrm>
          <a:prstGeom prst="rect">
            <a:avLst/>
          </a:prstGeom>
          <a:noFill/>
        </p:spPr>
        <p:txBody>
          <a:bodyPr vertOverflow="overflow" vert="horz" wrap="square" lIns="0" tIns="0" rIns="0" bIns="0" rtlCol="0" anchor="t" anchorCtr="0">
            <a:spAutoFit/>
          </a:bodyPr>
          <a:lstStyle/>
          <a:p>
            <a:pPr algn="l"/>
            <a:r>
              <a:rPr lang="en-US" sz="1400" b="1">
                <a:solidFill>
                  <a:srgbClr val="F3A6C8"/>
                </a:solidFill>
                <a:latin typeface="Arial"/>
                <a:cs typeface="Arial"/>
              </a:rPr>
              <a:t>PREDICTIVE</a:t>
            </a:r>
          </a:p>
        </p:txBody>
      </p:sp>
      <p:sp>
        <p:nvSpPr>
          <p:cNvPr id="19" name="TextBox 18">
            <a:extLst>
              <a:ext uri="{FF2B5EF4-FFF2-40B4-BE49-F238E27FC236}">
                <a16:creationId xmlns:a16="http://schemas.microsoft.com/office/drawing/2014/main" id="{4A9860AB-230E-C54C-8928-5C76B3A8EEBD}"/>
              </a:ext>
            </a:extLst>
          </p:cNvPr>
          <p:cNvSpPr txBox="1"/>
          <p:nvPr/>
        </p:nvSpPr>
        <p:spPr>
          <a:xfrm>
            <a:off x="6223000" y="2590800"/>
            <a:ext cx="2413000" cy="609600"/>
          </a:xfrm>
          <a:prstGeom prst="rect">
            <a:avLst/>
          </a:prstGeom>
          <a:noFill/>
        </p:spPr>
        <p:txBody>
          <a:bodyPr vertOverflow="overflow" vert="horz" wrap="square" lIns="0" tIns="0" rIns="0" bIns="0" rtlCol="0" anchor="t" anchorCtr="0">
            <a:spAutoFit/>
          </a:bodyPr>
          <a:lstStyle/>
          <a:p>
            <a:pPr algn="l"/>
            <a:r>
              <a:rPr lang="en-US" sz="2200" b="1">
                <a:solidFill>
                  <a:srgbClr val="FFFFFF"/>
                </a:solidFill>
                <a:latin typeface="Arial"/>
                <a:cs typeface="Arial"/>
              </a:rPr>
              <a:t>What is likely to happen?</a:t>
            </a:r>
          </a:p>
        </p:txBody>
      </p:sp>
      <p:sp>
        <p:nvSpPr>
          <p:cNvPr id="20" name="TextBox 19">
            <a:extLst>
              <a:ext uri="{FF2B5EF4-FFF2-40B4-BE49-F238E27FC236}">
                <a16:creationId xmlns:a16="http://schemas.microsoft.com/office/drawing/2014/main" id="{028C0DDE-647D-B142-BE65-78FEAE9D2DCF}"/>
              </a:ext>
            </a:extLst>
          </p:cNvPr>
          <p:cNvSpPr txBox="1"/>
          <p:nvPr/>
        </p:nvSpPr>
        <p:spPr>
          <a:xfrm>
            <a:off x="6223000" y="3390900"/>
            <a:ext cx="2413000" cy="1143000"/>
          </a:xfrm>
          <a:prstGeom prst="rect">
            <a:avLst/>
          </a:prstGeom>
          <a:noFill/>
        </p:spPr>
        <p:txBody>
          <a:bodyPr vertOverflow="overflow" vert="horz" wrap="square" lIns="0" tIns="0" rIns="0" bIns="0" rtlCol="0" anchor="t" anchorCtr="0">
            <a:spAutoFit/>
          </a:bodyPr>
          <a:lstStyle/>
          <a:p>
            <a:pPr algn="l"/>
            <a:r>
              <a:rPr lang="en-US" sz="1700">
                <a:solidFill>
                  <a:srgbClr val="FFFFFF"/>
                </a:solidFill>
                <a:latin typeface="Arial"/>
                <a:cs typeface="Arial"/>
              </a:rPr>
              <a:t>Estimate probability of death at admission using a baseline model.</a:t>
            </a:r>
          </a:p>
        </p:txBody>
      </p:sp>
      <p:sp>
        <p:nvSpPr>
          <p:cNvPr id="22" name="TextBox 21">
            <a:extLst>
              <a:ext uri="{FF2B5EF4-FFF2-40B4-BE49-F238E27FC236}">
                <a16:creationId xmlns:a16="http://schemas.microsoft.com/office/drawing/2014/main" id="{39460FDA-A0DF-D344-A3AC-0E0530BC0823}"/>
              </a:ext>
            </a:extLst>
          </p:cNvPr>
          <p:cNvSpPr txBox="1"/>
          <p:nvPr/>
        </p:nvSpPr>
        <p:spPr>
          <a:xfrm>
            <a:off x="6223000" y="4902200"/>
            <a:ext cx="2413000" cy="406400"/>
          </a:xfrm>
          <a:prstGeom prst="rect">
            <a:avLst/>
          </a:prstGeom>
          <a:noFill/>
        </p:spPr>
        <p:txBody>
          <a:bodyPr vertOverflow="overflow" vert="horz" wrap="square" lIns="0" tIns="0" rIns="0" bIns="0" rtlCol="0" anchor="t" anchorCtr="0">
            <a:spAutoFit/>
          </a:bodyPr>
          <a:lstStyle/>
          <a:p>
            <a:pPr algn="l"/>
            <a:r>
              <a:rPr lang="en-US" sz="1400">
                <a:solidFill>
                  <a:srgbClr val="B8D0E0"/>
                </a:solidFill>
                <a:latin typeface="Arial"/>
                <a:cs typeface="Arial"/>
              </a:rPr>
              <a:t>User: care team</a:t>
            </a:r>
          </a:p>
        </p:txBody>
      </p:sp>
      <p:sp>
        <p:nvSpPr>
          <p:cNvPr id="23" name="Rectangle 22">
            <a:extLst>
              <a:ext uri="{FF2B5EF4-FFF2-40B4-BE49-F238E27FC236}">
                <a16:creationId xmlns:a16="http://schemas.microsoft.com/office/drawing/2014/main" id="{1C0B9E26-5F61-D541-BE5F-E420B73E3EEA}"/>
              </a:ext>
            </a:extLst>
          </p:cNvPr>
          <p:cNvSpPr/>
          <p:nvPr/>
        </p:nvSpPr>
        <p:spPr>
          <a:xfrm>
            <a:off x="9017000" y="1447800"/>
            <a:ext cx="533400" cy="533400"/>
          </a:xfrm>
          <a:prstGeom prst="rect">
            <a:avLst/>
          </a:prstGeom>
          <a:solidFill>
            <a:srgbClr val="D9EAF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ctr"/>
            <a:r>
              <a:rPr lang="en-US" sz="2000" b="1">
                <a:solidFill>
                  <a:srgbClr val="09263E"/>
                </a:solidFill>
                <a:latin typeface="Arial"/>
                <a:cs typeface="Arial"/>
              </a:rPr>
              <a:t>4</a:t>
            </a:r>
          </a:p>
        </p:txBody>
      </p:sp>
      <p:sp>
        <p:nvSpPr>
          <p:cNvPr id="24" name="TextBox 23">
            <a:extLst>
              <a:ext uri="{FF2B5EF4-FFF2-40B4-BE49-F238E27FC236}">
                <a16:creationId xmlns:a16="http://schemas.microsoft.com/office/drawing/2014/main" id="{CC4077D9-9AC6-014F-8A8F-BAB603DE3237}"/>
              </a:ext>
            </a:extLst>
          </p:cNvPr>
          <p:cNvSpPr txBox="1"/>
          <p:nvPr/>
        </p:nvSpPr>
        <p:spPr>
          <a:xfrm>
            <a:off x="9017000" y="2159000"/>
            <a:ext cx="2413000" cy="304800"/>
          </a:xfrm>
          <a:prstGeom prst="rect">
            <a:avLst/>
          </a:prstGeom>
          <a:noFill/>
        </p:spPr>
        <p:txBody>
          <a:bodyPr vertOverflow="overflow" vert="horz" wrap="square" lIns="0" tIns="0" rIns="0" bIns="0" rtlCol="0" anchor="t" anchorCtr="0">
            <a:spAutoFit/>
          </a:bodyPr>
          <a:lstStyle/>
          <a:p>
            <a:pPr algn="l"/>
            <a:r>
              <a:rPr lang="en-US" sz="1400" b="1">
                <a:solidFill>
                  <a:srgbClr val="D9EAF4"/>
                </a:solidFill>
                <a:latin typeface="Arial"/>
                <a:cs typeface="Arial"/>
              </a:rPr>
              <a:t>PRESCRIPTIVE</a:t>
            </a:r>
          </a:p>
        </p:txBody>
      </p:sp>
      <p:sp>
        <p:nvSpPr>
          <p:cNvPr id="25" name="TextBox 24">
            <a:extLst>
              <a:ext uri="{FF2B5EF4-FFF2-40B4-BE49-F238E27FC236}">
                <a16:creationId xmlns:a16="http://schemas.microsoft.com/office/drawing/2014/main" id="{9007A090-D9D3-0A42-AFB5-E48905FAAC18}"/>
              </a:ext>
            </a:extLst>
          </p:cNvPr>
          <p:cNvSpPr txBox="1"/>
          <p:nvPr/>
        </p:nvSpPr>
        <p:spPr>
          <a:xfrm>
            <a:off x="9017000" y="2590800"/>
            <a:ext cx="2413000" cy="609600"/>
          </a:xfrm>
          <a:prstGeom prst="rect">
            <a:avLst/>
          </a:prstGeom>
          <a:noFill/>
        </p:spPr>
        <p:txBody>
          <a:bodyPr vertOverflow="overflow" vert="horz" wrap="square" lIns="0" tIns="0" rIns="0" bIns="0" rtlCol="0" anchor="t" anchorCtr="0">
            <a:spAutoFit/>
          </a:bodyPr>
          <a:lstStyle/>
          <a:p>
            <a:pPr algn="l"/>
            <a:r>
              <a:rPr lang="en-US" sz="2200" b="1">
                <a:solidFill>
                  <a:srgbClr val="FFFFFF"/>
                </a:solidFill>
                <a:latin typeface="Arial"/>
                <a:cs typeface="Arial"/>
              </a:rPr>
              <a:t>What action should follow?</a:t>
            </a:r>
          </a:p>
        </p:txBody>
      </p:sp>
      <p:sp>
        <p:nvSpPr>
          <p:cNvPr id="26" name="TextBox 25">
            <a:extLst>
              <a:ext uri="{FF2B5EF4-FFF2-40B4-BE49-F238E27FC236}">
                <a16:creationId xmlns:a16="http://schemas.microsoft.com/office/drawing/2014/main" id="{1E8723A3-914B-8247-B57B-5B074FB9A056}"/>
              </a:ext>
            </a:extLst>
          </p:cNvPr>
          <p:cNvSpPr txBox="1"/>
          <p:nvPr/>
        </p:nvSpPr>
        <p:spPr>
          <a:xfrm>
            <a:off x="9017000" y="3390900"/>
            <a:ext cx="2413000" cy="1143000"/>
          </a:xfrm>
          <a:prstGeom prst="rect">
            <a:avLst/>
          </a:prstGeom>
          <a:noFill/>
        </p:spPr>
        <p:txBody>
          <a:bodyPr vertOverflow="overflow" vert="horz" wrap="square" lIns="0" tIns="0" rIns="0" bIns="0" rtlCol="0" anchor="t" anchorCtr="0">
            <a:spAutoFit/>
          </a:bodyPr>
          <a:lstStyle/>
          <a:p>
            <a:pPr algn="l"/>
            <a:r>
              <a:rPr lang="en-US" sz="1700">
                <a:solidFill>
                  <a:srgbClr val="FFFFFF"/>
                </a:solidFill>
                <a:latin typeface="Arial"/>
                <a:cs typeface="Arial"/>
              </a:rPr>
              <a:t>Rank referrals under capacity constraints with explicit safeguards.</a:t>
            </a:r>
          </a:p>
        </p:txBody>
      </p:sp>
      <p:sp>
        <p:nvSpPr>
          <p:cNvPr id="28" name="TextBox 27">
            <a:extLst>
              <a:ext uri="{FF2B5EF4-FFF2-40B4-BE49-F238E27FC236}">
                <a16:creationId xmlns:a16="http://schemas.microsoft.com/office/drawing/2014/main" id="{4B31472D-69E1-0F48-B83A-00A9BE98ECE5}"/>
              </a:ext>
            </a:extLst>
          </p:cNvPr>
          <p:cNvSpPr txBox="1"/>
          <p:nvPr/>
        </p:nvSpPr>
        <p:spPr>
          <a:xfrm>
            <a:off x="9017000" y="4902200"/>
            <a:ext cx="2413000" cy="406400"/>
          </a:xfrm>
          <a:prstGeom prst="rect">
            <a:avLst/>
          </a:prstGeom>
          <a:noFill/>
        </p:spPr>
        <p:txBody>
          <a:bodyPr vertOverflow="overflow" vert="horz" wrap="square" lIns="0" tIns="0" rIns="0" bIns="0" rtlCol="0" anchor="t" anchorCtr="0">
            <a:spAutoFit/>
          </a:bodyPr>
          <a:lstStyle/>
          <a:p>
            <a:pPr algn="l"/>
            <a:r>
              <a:rPr lang="en-US" sz="1400">
                <a:solidFill>
                  <a:srgbClr val="B8D0E0"/>
                </a:solidFill>
                <a:latin typeface="Arial"/>
                <a:cs typeface="Arial"/>
              </a:rPr>
              <a:t>User: bed manager</a:t>
            </a:r>
          </a:p>
        </p:txBody>
      </p:sp>
      <p:sp>
        <p:nvSpPr>
          <p:cNvPr id="29" name="Rectangle 28">
            <a:extLst>
              <a:ext uri="{FF2B5EF4-FFF2-40B4-BE49-F238E27FC236}">
                <a16:creationId xmlns:a16="http://schemas.microsoft.com/office/drawing/2014/main" id="{9A5C34BA-E851-1F45-B18D-AA6DC8E85396}"/>
              </a:ext>
            </a:extLst>
          </p:cNvPr>
          <p:cNvSpPr/>
          <p:nvPr/>
        </p:nvSpPr>
        <p:spPr>
          <a:xfrm>
            <a:off x="635000" y="5664200"/>
            <a:ext cx="10795000" cy="508000"/>
          </a:xfrm>
          <a:prstGeom prst="rect">
            <a:avLst/>
          </a:prstGeom>
          <a:solidFill>
            <a:srgbClr val="09263E"/>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ctr"/>
            <a:r>
              <a:rPr lang="en-US" sz="1600" b="1">
                <a:solidFill>
                  <a:srgbClr val="FFFFFF"/>
                </a:solidFill>
                <a:latin typeface="Arial"/>
                <a:cs typeface="Arial"/>
              </a:rPr>
              <a:t>Same records · different users · different questions · different evidence standards</a:t>
            </a:r>
          </a:p>
        </p:txBody>
      </p:sp>
      <p:sp>
        <p:nvSpPr>
          <p:cNvPr id="3" name="灯片编号占位符 2">
            <a:extLst>
              <a:ext uri="{FF2B5EF4-FFF2-40B4-BE49-F238E27FC236}">
                <a16:creationId xmlns:a16="http://schemas.microsoft.com/office/drawing/2014/main" id="{84CCB345-BAAF-EE6B-5547-28E5777E895A}"/>
              </a:ext>
            </a:extLst>
          </p:cNvPr>
          <p:cNvSpPr>
            <a:spLocks noGrp="1"/>
          </p:cNvSpPr>
          <p:nvPr>
            <p:ph type="sldNum" sz="quarter" idx="12"/>
          </p:nvPr>
        </p:nvSpPr>
        <p:spPr/>
        <p:txBody>
          <a:bodyPr/>
          <a:lstStyle/>
          <a:p>
            <a:fld id="{AE086683-F536-42AB-ABBC-F4803DFE8DBC}" type="slidenum">
              <a:rPr lang="sv-SE" smtClean="0"/>
              <a:t>12</a:t>
            </a:fld>
            <a:endParaRPr lang="zh-CN" altLang="en-US"/>
          </a:p>
        </p:txBody>
      </p:sp>
    </p:spTree>
    <p:extLst>
      <p:ext uri="{BB962C8B-B14F-4D97-AF65-F5344CB8AC3E}">
        <p14:creationId xmlns:p14="http://schemas.microsoft.com/office/powerpoint/2010/main" val="869067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499F5-1D2C-F4D5-9EF9-40C0D32C12EE}"/>
              </a:ext>
            </a:extLst>
          </p:cNvPr>
          <p:cNvSpPr>
            <a:spLocks noGrp="1"/>
          </p:cNvSpPr>
          <p:nvPr>
            <p:ph type="title"/>
          </p:nvPr>
        </p:nvSpPr>
        <p:spPr>
          <a:xfrm>
            <a:off x="634047" y="334645"/>
            <a:ext cx="11316480" cy="692150"/>
          </a:xfrm>
        </p:spPr>
        <p:txBody>
          <a:bodyPr/>
          <a:lstStyle/>
          <a:p>
            <a:r>
              <a:rPr lang="en-US" sz="2400">
                <a:ea typeface="Calibri"/>
                <a:cs typeface="Calibri"/>
              </a:rPr>
              <a:t>Use Case 1: The hospital epidemiologist wants to understand the demographic and admission characteristics of patients with sepsis and describe overall outcomes.</a:t>
            </a:r>
          </a:p>
        </p:txBody>
      </p:sp>
      <p:sp>
        <p:nvSpPr>
          <p:cNvPr id="3" name="Content Placeholder 2">
            <a:extLst>
              <a:ext uri="{FF2B5EF4-FFF2-40B4-BE49-F238E27FC236}">
                <a16:creationId xmlns:a16="http://schemas.microsoft.com/office/drawing/2014/main" id="{CD5C291C-4F76-089F-FAD3-A90D23008B8A}"/>
              </a:ext>
            </a:extLst>
          </p:cNvPr>
          <p:cNvSpPr>
            <a:spLocks noGrp="1"/>
          </p:cNvSpPr>
          <p:nvPr>
            <p:ph idx="1"/>
          </p:nvPr>
        </p:nvSpPr>
        <p:spPr>
          <a:xfrm>
            <a:off x="634047" y="1430655"/>
            <a:ext cx="10188720" cy="4787900"/>
          </a:xfrm>
        </p:spPr>
        <p:txBody>
          <a:bodyPr vert="horz" lIns="0" tIns="0" rIns="0" bIns="0" rtlCol="0" anchor="t">
            <a:noAutofit/>
          </a:bodyPr>
          <a:lstStyle/>
          <a:p>
            <a:pPr>
              <a:buFont typeface="Calibri" panose="020B0604020202020204" pitchFamily="34" charset="0"/>
              <a:buChar char="-"/>
            </a:pPr>
            <a:r>
              <a:rPr lang="en-US" sz="2000">
                <a:ea typeface="+mn-lt"/>
                <a:cs typeface="+mn-lt"/>
              </a:rPr>
              <a:t>Method: Descriptive Analytics</a:t>
            </a:r>
            <a:endParaRPr lang="en-US" sz="2000">
              <a:ea typeface="Calibri"/>
              <a:cs typeface="Calibri"/>
            </a:endParaRPr>
          </a:p>
          <a:p>
            <a:pPr>
              <a:buFont typeface="Calibri" panose="020B0604020202020204" pitchFamily="34" charset="0"/>
              <a:buChar char="-"/>
            </a:pPr>
            <a:r>
              <a:rPr lang="en-US" sz="2000" b="1">
                <a:ea typeface="+mn-lt"/>
                <a:cs typeface="+mn-lt"/>
              </a:rPr>
              <a:t>User:</a:t>
            </a:r>
            <a:r>
              <a:rPr lang="en-US" sz="2000">
                <a:ea typeface="+mn-lt"/>
                <a:cs typeface="+mn-lt"/>
              </a:rPr>
              <a:t> Hospital Epidemiologist</a:t>
            </a:r>
            <a:endParaRPr lang="en-US" sz="2000">
              <a:ea typeface="Calibri"/>
              <a:cs typeface="Calibri"/>
            </a:endParaRPr>
          </a:p>
          <a:p>
            <a:pPr>
              <a:buFont typeface="Calibri" panose="020B0604020202020204" pitchFamily="34" charset="0"/>
              <a:buChar char="-"/>
            </a:pPr>
            <a:r>
              <a:rPr lang="en-US" sz="2000" b="1">
                <a:ea typeface="+mn-lt"/>
                <a:cs typeface="+mn-lt"/>
              </a:rPr>
              <a:t> Questions:</a:t>
            </a:r>
            <a:endParaRPr lang="en-US" sz="2000">
              <a:ea typeface="Calibri"/>
              <a:cs typeface="Calibri"/>
            </a:endParaRPr>
          </a:p>
          <a:p>
            <a:pPr marL="690880" lvl="2">
              <a:buFont typeface="Wingdings" panose="020B0604020202020204" pitchFamily="34" charset="0"/>
              <a:buChar char="§"/>
            </a:pPr>
            <a:r>
              <a:rPr lang="en-US" sz="1800">
                <a:ea typeface="+mn-lt"/>
                <a:cs typeface="+mn-lt"/>
              </a:rPr>
              <a:t>What is the distribution of</a:t>
            </a:r>
          </a:p>
          <a:p>
            <a:pPr marL="921280" lvl="3">
              <a:buFont typeface="Wingdings" panose="020B0604020202020204" pitchFamily="34" charset="0"/>
              <a:buChar char="§"/>
            </a:pPr>
            <a:r>
              <a:rPr lang="en-US" sz="1600">
                <a:ea typeface="+mn-lt"/>
                <a:cs typeface="+mn-lt"/>
              </a:rPr>
              <a:t>age,</a:t>
            </a:r>
          </a:p>
          <a:p>
            <a:pPr marL="921280" lvl="3">
              <a:buFont typeface="Wingdings" panose="020B0604020202020204" pitchFamily="34" charset="0"/>
              <a:buChar char="§"/>
            </a:pPr>
            <a:r>
              <a:rPr lang="en-US" sz="1600">
                <a:ea typeface="+mn-lt"/>
                <a:cs typeface="+mn-lt"/>
              </a:rPr>
              <a:t>Sex,</a:t>
            </a:r>
          </a:p>
          <a:p>
            <a:pPr marL="921280" lvl="3">
              <a:buFont typeface="Wingdings" panose="020B0604020202020204" pitchFamily="34" charset="0"/>
              <a:buChar char="§"/>
            </a:pPr>
            <a:r>
              <a:rPr lang="en-US" sz="1600">
                <a:ea typeface="+mn-lt"/>
                <a:cs typeface="+mn-lt"/>
              </a:rPr>
              <a:t># admission</a:t>
            </a:r>
            <a:endParaRPr lang="en-US" sz="1800">
              <a:ea typeface="+mn-lt"/>
              <a:cs typeface="+mn-lt"/>
            </a:endParaRPr>
          </a:p>
          <a:p>
            <a:pPr marL="690880" lvl="2">
              <a:buFont typeface="Wingdings" panose="020B0604020202020204" pitchFamily="34" charset="0"/>
              <a:buChar char="§"/>
            </a:pPr>
            <a:r>
              <a:rPr lang="en-US" sz="1800">
                <a:ea typeface="+mn-lt"/>
                <a:cs typeface="+mn-lt"/>
              </a:rPr>
              <a:t>How does the outcome vary by</a:t>
            </a:r>
          </a:p>
          <a:p>
            <a:pPr marL="921280" lvl="3">
              <a:buFont typeface="Wingdings" panose="020B0604020202020204" pitchFamily="34" charset="0"/>
              <a:buChar char="§"/>
            </a:pPr>
            <a:r>
              <a:rPr lang="en-US" sz="1600">
                <a:ea typeface="+mn-lt"/>
                <a:cs typeface="+mn-lt"/>
              </a:rPr>
              <a:t>Age,</a:t>
            </a:r>
          </a:p>
          <a:p>
            <a:pPr marL="921280" lvl="3">
              <a:buFont typeface="Wingdings" panose="020B0604020202020204" pitchFamily="34" charset="0"/>
              <a:buChar char="§"/>
            </a:pPr>
            <a:r>
              <a:rPr lang="en-US" sz="1600">
                <a:ea typeface="+mn-lt"/>
                <a:cs typeface="+mn-lt"/>
              </a:rPr>
              <a:t>Sex,</a:t>
            </a:r>
          </a:p>
          <a:p>
            <a:pPr marL="921280" lvl="3">
              <a:buFont typeface="Wingdings" panose="020B0604020202020204" pitchFamily="34" charset="0"/>
              <a:buChar char="§"/>
            </a:pPr>
            <a:r>
              <a:rPr lang="en-US" sz="1600">
                <a:ea typeface="+mn-lt"/>
                <a:cs typeface="+mn-lt"/>
              </a:rPr>
              <a:t># admission</a:t>
            </a:r>
            <a:endParaRPr lang="en-US" sz="1600">
              <a:ea typeface="Calibri"/>
              <a:cs typeface="Calibri"/>
            </a:endParaRPr>
          </a:p>
          <a:p>
            <a:pPr>
              <a:buFont typeface="Calibri" panose="020B0604020202020204" pitchFamily="34" charset="0"/>
              <a:buChar char="-"/>
            </a:pPr>
            <a:r>
              <a:rPr lang="en-US" sz="2000" b="1">
                <a:ea typeface="+mn-lt"/>
                <a:cs typeface="+mn-lt"/>
              </a:rPr>
              <a:t>Expected outputs</a:t>
            </a:r>
            <a:endParaRPr lang="en-US" sz="2000">
              <a:ea typeface="Calibri"/>
              <a:cs typeface="Calibri"/>
            </a:endParaRPr>
          </a:p>
          <a:p>
            <a:pPr marL="690880" lvl="2">
              <a:buFont typeface="Wingdings"/>
              <a:buChar char="§"/>
            </a:pPr>
            <a:r>
              <a:rPr lang="en-US" sz="1600" b="1">
                <a:ea typeface="+mn-lt"/>
                <a:cs typeface="+mn-lt"/>
              </a:rPr>
              <a:t>Univariate and Bivariate Descriptive Analysis of (1/2) Features </a:t>
            </a:r>
            <a:endParaRPr lang="en-US" sz="1600">
              <a:ea typeface="+mn-lt"/>
              <a:cs typeface="+mn-lt"/>
            </a:endParaRPr>
          </a:p>
          <a:p>
            <a:pPr>
              <a:buFont typeface="Calibri"/>
              <a:buChar char="-"/>
            </a:pPr>
            <a:r>
              <a:rPr lang="en-US" sz="2000" b="1">
                <a:ea typeface="+mn-lt"/>
                <a:cs typeface="+mn-lt"/>
              </a:rPr>
              <a:t>Purpose:</a:t>
            </a:r>
          </a:p>
          <a:p>
            <a:pPr marL="690880" lvl="2">
              <a:buFont typeface="Wingdings"/>
              <a:buChar char="§"/>
            </a:pPr>
            <a:r>
              <a:rPr lang="en-US" sz="1600" b="1">
                <a:ea typeface="+mn-lt"/>
                <a:cs typeface="+mn-lt"/>
              </a:rPr>
              <a:t>To provide an ov</a:t>
            </a:r>
            <a:r>
              <a:rPr lang="en-US" b="1">
                <a:ea typeface="+mn-lt"/>
                <a:cs typeface="+mn-lt"/>
              </a:rPr>
              <a:t>erall epidemiological profile of the sepsis population and their outcomes.</a:t>
            </a:r>
            <a:endParaRPr lang="en-US">
              <a:ea typeface="Calibri"/>
              <a:cs typeface="Calibri"/>
            </a:endParaRPr>
          </a:p>
        </p:txBody>
      </p:sp>
      <p:sp>
        <p:nvSpPr>
          <p:cNvPr id="4" name="Footer Placeholder 3">
            <a:extLst>
              <a:ext uri="{FF2B5EF4-FFF2-40B4-BE49-F238E27FC236}">
                <a16:creationId xmlns:a16="http://schemas.microsoft.com/office/drawing/2014/main" id="{1C8E26F9-56BC-3932-3BEA-D8AE08AA9E01}"/>
              </a:ext>
            </a:extLst>
          </p:cNvPr>
          <p:cNvSpPr>
            <a:spLocks noGrp="1"/>
          </p:cNvSpPr>
          <p:nvPr>
            <p:ph type="ftr" sz="quarter" idx="11"/>
          </p:nvPr>
        </p:nvSpPr>
        <p:spPr/>
        <p:txBody>
          <a:bodyPr/>
          <a:lstStyle/>
          <a:p>
            <a:r>
              <a:rPr lang="en-US"/>
              <a:t>PROHI HT2026 · Group 2 · Seminar 28 September 2026</a:t>
            </a:r>
          </a:p>
        </p:txBody>
      </p:sp>
      <p:sp>
        <p:nvSpPr>
          <p:cNvPr id="5" name="灯片编号占位符 4">
            <a:extLst>
              <a:ext uri="{FF2B5EF4-FFF2-40B4-BE49-F238E27FC236}">
                <a16:creationId xmlns:a16="http://schemas.microsoft.com/office/drawing/2014/main" id="{442F115C-2707-8A5D-7F40-38F06246CDA5}"/>
              </a:ext>
            </a:extLst>
          </p:cNvPr>
          <p:cNvSpPr>
            <a:spLocks noGrp="1"/>
          </p:cNvSpPr>
          <p:nvPr>
            <p:ph type="sldNum" sz="quarter" idx="12"/>
          </p:nvPr>
        </p:nvSpPr>
        <p:spPr/>
        <p:txBody>
          <a:bodyPr/>
          <a:lstStyle/>
          <a:p>
            <a:fld id="{AE086683-F536-42AB-ABBC-F4803DFE8DBC}" type="slidenum">
              <a:rPr lang="sv-SE" smtClean="0"/>
              <a:t>13</a:t>
            </a:fld>
            <a:endParaRPr lang="zh-CN" altLang="en-US"/>
          </a:p>
        </p:txBody>
      </p:sp>
    </p:spTree>
    <p:extLst>
      <p:ext uri="{BB962C8B-B14F-4D97-AF65-F5344CB8AC3E}">
        <p14:creationId xmlns:p14="http://schemas.microsoft.com/office/powerpoint/2010/main" val="215899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7617-37E1-176C-DEAB-504F74081DC5}"/>
              </a:ext>
            </a:extLst>
          </p:cNvPr>
          <p:cNvSpPr>
            <a:spLocks noGrp="1"/>
          </p:cNvSpPr>
          <p:nvPr>
            <p:ph type="title"/>
          </p:nvPr>
        </p:nvSpPr>
        <p:spPr>
          <a:xfrm>
            <a:off x="623887" y="334645"/>
            <a:ext cx="11235200" cy="692150"/>
          </a:xfrm>
        </p:spPr>
        <p:txBody>
          <a:bodyPr/>
          <a:lstStyle/>
          <a:p>
            <a:pPr marL="228600" indent="-228600">
              <a:spcBef>
                <a:spcPts val="1000"/>
              </a:spcBef>
            </a:pPr>
            <a:r>
              <a:rPr lang="en-US" sz="2400">
                <a:ea typeface="Calibri"/>
                <a:cs typeface="Calibri"/>
              </a:rPr>
              <a:t>Use Case 2 - </a:t>
            </a:r>
            <a:r>
              <a:rPr lang="en-US" sz="2400" b="1">
                <a:ea typeface="Calibri"/>
                <a:cs typeface="Calibri"/>
              </a:rPr>
              <a:t>The user wants to investigate whether patient characteristics are associated with  the recorded outcome.</a:t>
            </a:r>
            <a:endParaRPr lang="en-US" sz="2400">
              <a:solidFill>
                <a:srgbClr val="FFFFFF"/>
              </a:solidFill>
              <a:ea typeface="Calibri"/>
              <a:cs typeface="Calibri"/>
            </a:endParaRPr>
          </a:p>
        </p:txBody>
      </p:sp>
      <p:sp>
        <p:nvSpPr>
          <p:cNvPr id="3" name="Content Placeholder 2">
            <a:extLst>
              <a:ext uri="{FF2B5EF4-FFF2-40B4-BE49-F238E27FC236}">
                <a16:creationId xmlns:a16="http://schemas.microsoft.com/office/drawing/2014/main" id="{EE441F09-8419-D0CA-F780-FA930B7C0FDC}"/>
              </a:ext>
            </a:extLst>
          </p:cNvPr>
          <p:cNvSpPr>
            <a:spLocks noGrp="1"/>
          </p:cNvSpPr>
          <p:nvPr>
            <p:ph idx="1"/>
          </p:nvPr>
        </p:nvSpPr>
        <p:spPr>
          <a:xfrm>
            <a:off x="623887" y="1227455"/>
            <a:ext cx="10564640" cy="4787900"/>
          </a:xfrm>
        </p:spPr>
        <p:txBody>
          <a:bodyPr vert="horz" lIns="0" tIns="0" rIns="0" bIns="0" rtlCol="0" anchor="t">
            <a:noAutofit/>
          </a:bodyPr>
          <a:lstStyle/>
          <a:p>
            <a:r>
              <a:rPr lang="en-US" sz="2000"/>
              <a:t>Method: Diagnostic Analytics</a:t>
            </a:r>
            <a:endParaRPr lang="en-US" sz="2000">
              <a:ea typeface="Calibri"/>
              <a:cs typeface="Calibri"/>
            </a:endParaRPr>
          </a:p>
          <a:p>
            <a:r>
              <a:rPr lang="en-US" sz="2000" b="1">
                <a:ea typeface="+mn-lt"/>
                <a:cs typeface="+mn-lt"/>
              </a:rPr>
              <a:t>User:</a:t>
            </a:r>
            <a:r>
              <a:rPr lang="en-US" sz="2000">
                <a:ea typeface="+mn-lt"/>
                <a:cs typeface="+mn-lt"/>
              </a:rPr>
              <a:t> Hospital Epidemiologist / Clinical Data Analyst</a:t>
            </a:r>
            <a:endParaRPr lang="en-US" sz="2000">
              <a:ea typeface="Calibri"/>
              <a:cs typeface="Calibri"/>
            </a:endParaRPr>
          </a:p>
          <a:p>
            <a:r>
              <a:rPr lang="en-US" sz="2000"/>
              <a:t>Questions</a:t>
            </a:r>
            <a:endParaRPr lang="en-US" sz="2000">
              <a:ea typeface="Calibri"/>
              <a:cs typeface="Calibri"/>
            </a:endParaRPr>
          </a:p>
          <a:p>
            <a:pPr marL="0" indent="0">
              <a:buNone/>
            </a:pPr>
            <a:r>
              <a:rPr lang="en-US" sz="2000" b="1">
                <a:ea typeface="+mn-lt"/>
                <a:cs typeface="+mn-lt"/>
              </a:rPr>
              <a:t>1/Age</a:t>
            </a:r>
            <a:endParaRPr lang="en-US" sz="2000">
              <a:ea typeface="Calibri"/>
              <a:cs typeface="Calibri"/>
            </a:endParaRPr>
          </a:p>
          <a:p>
            <a:pPr marL="690880" lvl="2">
              <a:buFont typeface="Wingdings" panose="020B0604020202020204" pitchFamily="34" charset="0"/>
              <a:buChar char="§"/>
            </a:pPr>
            <a:r>
              <a:rPr lang="en-US" sz="1600">
                <a:ea typeface="+mn-lt"/>
                <a:cs typeface="+mn-lt"/>
              </a:rPr>
              <a:t>Is age associated with outcome? </a:t>
            </a:r>
            <a:endParaRPr lang="en-US" sz="1600">
              <a:ea typeface="Calibri"/>
              <a:cs typeface="Calibri"/>
            </a:endParaRPr>
          </a:p>
          <a:p>
            <a:pPr marL="690880" lvl="2">
              <a:buFont typeface="Wingdings" panose="020B0604020202020204" pitchFamily="34" charset="0"/>
              <a:buChar char="§"/>
            </a:pPr>
            <a:r>
              <a:rPr lang="en-US" sz="1600">
                <a:ea typeface="+mn-lt"/>
                <a:cs typeface="+mn-lt"/>
              </a:rPr>
              <a:t>Does the proportion of </a:t>
            </a:r>
            <a:r>
              <a:rPr lang="en-US" sz="1600">
                <a:solidFill>
                  <a:schemeClr val="tx1"/>
                </a:solidFill>
                <a:ea typeface="+mn-lt"/>
                <a:cs typeface="+mn-lt"/>
              </a:rPr>
              <a:t>deaths </a:t>
            </a:r>
            <a:r>
              <a:rPr lang="en-US" sz="1600">
                <a:ea typeface="+mn-lt"/>
                <a:cs typeface="+mn-lt"/>
              </a:rPr>
              <a:t>differ between age categories? </a:t>
            </a:r>
            <a:endParaRPr lang="en-US" sz="1600">
              <a:ea typeface="Calibri"/>
              <a:cs typeface="Calibri"/>
            </a:endParaRPr>
          </a:p>
          <a:p>
            <a:pPr marL="0" indent="0">
              <a:buNone/>
            </a:pPr>
            <a:r>
              <a:rPr lang="en-US" sz="2000" b="1">
                <a:ea typeface="+mn-lt"/>
                <a:cs typeface="+mn-lt"/>
              </a:rPr>
              <a:t>2/Sex</a:t>
            </a:r>
            <a:endParaRPr lang="en-US" sz="2000">
              <a:ea typeface="Calibri"/>
              <a:cs typeface="Calibri"/>
            </a:endParaRPr>
          </a:p>
          <a:p>
            <a:pPr marL="690880" lvl="2">
              <a:buFont typeface="Wingdings" panose="020B0604020202020204" pitchFamily="34" charset="0"/>
              <a:buChar char="§"/>
            </a:pPr>
            <a:r>
              <a:rPr lang="en-US" sz="1600">
                <a:ea typeface="+mn-lt"/>
                <a:cs typeface="+mn-lt"/>
              </a:rPr>
              <a:t>Is sex associated with outcome? </a:t>
            </a:r>
            <a:endParaRPr lang="en-US" sz="1600">
              <a:ea typeface="Calibri"/>
              <a:cs typeface="Calibri"/>
            </a:endParaRPr>
          </a:p>
          <a:p>
            <a:pPr marL="690880" lvl="2">
              <a:buFont typeface="Wingdings" panose="020B0604020202020204" pitchFamily="34" charset="0"/>
              <a:buChar char="§"/>
            </a:pPr>
            <a:r>
              <a:rPr lang="en-US" sz="1600">
                <a:ea typeface="+mn-lt"/>
                <a:cs typeface="+mn-lt"/>
              </a:rPr>
              <a:t>Does the outcome  differ between male and female patients? </a:t>
            </a:r>
            <a:endParaRPr lang="en-US" sz="1600">
              <a:ea typeface="Calibri"/>
              <a:cs typeface="Calibri"/>
            </a:endParaRPr>
          </a:p>
          <a:p>
            <a:pPr marL="0" indent="0">
              <a:buNone/>
            </a:pPr>
            <a:r>
              <a:rPr lang="en-US" sz="2000" b="1">
                <a:ea typeface="+mn-lt"/>
                <a:cs typeface="+mn-lt"/>
              </a:rPr>
              <a:t>3/Number of admission episodes</a:t>
            </a:r>
            <a:endParaRPr lang="en-US" sz="2000">
              <a:ea typeface="Calibri"/>
              <a:cs typeface="Calibri"/>
            </a:endParaRPr>
          </a:p>
          <a:p>
            <a:pPr marL="690880" lvl="2">
              <a:buFont typeface="Wingdings" panose="020B0604020202020204" pitchFamily="34" charset="0"/>
              <a:buChar char="§"/>
            </a:pPr>
            <a:r>
              <a:rPr lang="en-US" sz="1600">
                <a:ea typeface="+mn-lt"/>
                <a:cs typeface="+mn-lt"/>
              </a:rPr>
              <a:t>Is the number of admission episodes associated with outcome? </a:t>
            </a:r>
            <a:endParaRPr lang="en-US" sz="1600">
              <a:ea typeface="Calibri"/>
              <a:cs typeface="Calibri"/>
            </a:endParaRPr>
          </a:p>
          <a:p>
            <a:pPr marL="690880" lvl="2">
              <a:buFont typeface="Wingdings" panose="020B0604020202020204" pitchFamily="34" charset="0"/>
              <a:buChar char="§"/>
            </a:pPr>
            <a:r>
              <a:rPr lang="en-US" sz="1600">
                <a:ea typeface="+mn-lt"/>
                <a:cs typeface="+mn-lt"/>
              </a:rPr>
              <a:t>Do patients with multiple admissions have a different outcome distribution? </a:t>
            </a:r>
            <a:endParaRPr lang="en-US" sz="1600">
              <a:ea typeface="Calibri"/>
              <a:cs typeface="Calibri"/>
            </a:endParaRPr>
          </a:p>
          <a:p>
            <a:r>
              <a:rPr lang="en-US" sz="2000"/>
              <a:t>Analytical approach</a:t>
            </a:r>
            <a:endParaRPr lang="en-US" sz="2000">
              <a:ea typeface="Calibri"/>
              <a:cs typeface="Calibri"/>
            </a:endParaRPr>
          </a:p>
          <a:p>
            <a:pPr marL="690880" lvl="2">
              <a:buFont typeface="Wingdings" panose="020B0604020202020204" pitchFamily="34" charset="0"/>
              <a:buChar char="§"/>
            </a:pPr>
            <a:r>
              <a:rPr lang="en-US" sz="1600">
                <a:ea typeface="+mn-lt"/>
                <a:cs typeface="+mn-lt"/>
              </a:rPr>
              <a:t>MW-U test </a:t>
            </a:r>
          </a:p>
          <a:p>
            <a:pPr marL="690880" lvl="2">
              <a:buFont typeface="Wingdings" panose="020B0604020202020204" pitchFamily="34" charset="0"/>
              <a:buChar char="§"/>
            </a:pPr>
            <a:r>
              <a:rPr lang="en-US" sz="1600">
                <a:ea typeface="+mn-lt"/>
                <a:cs typeface="+mn-lt"/>
              </a:rPr>
              <a:t>Chi-square test/Fisher's exact test for categorical variables </a:t>
            </a:r>
            <a:endParaRPr lang="en-US" sz="1600">
              <a:ea typeface="Calibri"/>
              <a:cs typeface="Calibri"/>
            </a:endParaRPr>
          </a:p>
          <a:p>
            <a:pPr marL="460375" lvl="1">
              <a:buFont typeface="Courier New" panose="020B0604020202020204" pitchFamily="34" charset="0"/>
              <a:buChar char="o"/>
            </a:pPr>
            <a:endParaRPr lang="en-US"/>
          </a:p>
        </p:txBody>
      </p:sp>
      <p:sp>
        <p:nvSpPr>
          <p:cNvPr id="4" name="Footer Placeholder 3">
            <a:extLst>
              <a:ext uri="{FF2B5EF4-FFF2-40B4-BE49-F238E27FC236}">
                <a16:creationId xmlns:a16="http://schemas.microsoft.com/office/drawing/2014/main" id="{3547CBC2-ABC9-5BA3-3B42-867E4A998FD2}"/>
              </a:ext>
            </a:extLst>
          </p:cNvPr>
          <p:cNvSpPr>
            <a:spLocks noGrp="1"/>
          </p:cNvSpPr>
          <p:nvPr>
            <p:ph type="ftr" sz="quarter" idx="11"/>
          </p:nvPr>
        </p:nvSpPr>
        <p:spPr>
          <a:xfrm>
            <a:off x="621891" y="6418580"/>
            <a:ext cx="4373880" cy="152400"/>
          </a:xfrm>
        </p:spPr>
        <p:txBody>
          <a:bodyPr/>
          <a:lstStyle/>
          <a:p>
            <a:r>
              <a:rPr lang="en-US"/>
              <a:t>PROHI HT2026 · Group 2 · Seminar 28 September 2026</a:t>
            </a:r>
          </a:p>
        </p:txBody>
      </p:sp>
      <p:sp>
        <p:nvSpPr>
          <p:cNvPr id="5" name="灯片编号占位符 4">
            <a:extLst>
              <a:ext uri="{FF2B5EF4-FFF2-40B4-BE49-F238E27FC236}">
                <a16:creationId xmlns:a16="http://schemas.microsoft.com/office/drawing/2014/main" id="{FEC5E2EE-7FEF-7F02-A10F-89181476EE1D}"/>
              </a:ext>
            </a:extLst>
          </p:cNvPr>
          <p:cNvSpPr>
            <a:spLocks noGrp="1"/>
          </p:cNvSpPr>
          <p:nvPr>
            <p:ph type="sldNum" sz="quarter" idx="12"/>
          </p:nvPr>
        </p:nvSpPr>
        <p:spPr/>
        <p:txBody>
          <a:bodyPr/>
          <a:lstStyle/>
          <a:p>
            <a:fld id="{AE086683-F536-42AB-ABBC-F4803DFE8DBC}" type="slidenum">
              <a:rPr lang="sv-SE" smtClean="0"/>
              <a:t>14</a:t>
            </a:fld>
            <a:endParaRPr lang="zh-CN" altLang="en-US"/>
          </a:p>
        </p:txBody>
      </p:sp>
    </p:spTree>
    <p:extLst>
      <p:ext uri="{BB962C8B-B14F-4D97-AF65-F5344CB8AC3E}">
        <p14:creationId xmlns:p14="http://schemas.microsoft.com/office/powerpoint/2010/main" val="791205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3C6B1-5D31-91F5-4EEE-F57309D9EC0E}"/>
              </a:ext>
            </a:extLst>
          </p:cNvPr>
          <p:cNvSpPr>
            <a:spLocks noGrp="1"/>
          </p:cNvSpPr>
          <p:nvPr>
            <p:ph type="title"/>
          </p:nvPr>
        </p:nvSpPr>
        <p:spPr>
          <a:xfrm>
            <a:off x="634047" y="334645"/>
            <a:ext cx="11062480" cy="692150"/>
          </a:xfrm>
        </p:spPr>
        <p:txBody>
          <a:bodyPr/>
          <a:lstStyle/>
          <a:p>
            <a:r>
              <a:rPr lang="en-US" sz="2400">
                <a:ea typeface="Calibri"/>
                <a:cs typeface="Calibri"/>
              </a:rPr>
              <a:t>Use Case 3 - </a:t>
            </a:r>
            <a:r>
              <a:rPr lang="en-US" sz="2400" b="1">
                <a:ea typeface="Calibri"/>
                <a:cs typeface="Calibri"/>
              </a:rPr>
              <a:t>The user wants to predict a patient's outcome during admission using the available minimum features.</a:t>
            </a:r>
            <a:r>
              <a:rPr lang="en-US" sz="2400">
                <a:ea typeface="Calibri"/>
                <a:cs typeface="Calibri"/>
              </a:rPr>
              <a:t> </a:t>
            </a:r>
          </a:p>
        </p:txBody>
      </p:sp>
      <p:sp>
        <p:nvSpPr>
          <p:cNvPr id="3" name="Content Placeholder 2">
            <a:extLst>
              <a:ext uri="{FF2B5EF4-FFF2-40B4-BE49-F238E27FC236}">
                <a16:creationId xmlns:a16="http://schemas.microsoft.com/office/drawing/2014/main" id="{B97D498E-BE1E-1933-EBE0-A79E708089B7}"/>
              </a:ext>
            </a:extLst>
          </p:cNvPr>
          <p:cNvSpPr>
            <a:spLocks noGrp="1"/>
          </p:cNvSpPr>
          <p:nvPr>
            <p:ph idx="1"/>
          </p:nvPr>
        </p:nvSpPr>
        <p:spPr>
          <a:xfrm>
            <a:off x="634047" y="1471295"/>
            <a:ext cx="11265680" cy="4787900"/>
          </a:xfrm>
        </p:spPr>
        <p:txBody>
          <a:bodyPr vert="horz" lIns="0" tIns="0" rIns="0" bIns="0" rtlCol="0" anchor="t">
            <a:noAutofit/>
          </a:bodyPr>
          <a:lstStyle/>
          <a:p>
            <a:pPr>
              <a:buFont typeface="Wingdings" panose="020B0604020202020204" pitchFamily="34" charset="0"/>
              <a:buChar char="§"/>
            </a:pPr>
            <a:r>
              <a:rPr lang="en-US" sz="2400"/>
              <a:t>Method: Predictive Analytics</a:t>
            </a:r>
            <a:endParaRPr lang="en-US" sz="2400">
              <a:ea typeface="Calibri"/>
              <a:cs typeface="Calibri"/>
            </a:endParaRPr>
          </a:p>
          <a:p>
            <a:pPr marL="690880" lvl="2"/>
            <a:r>
              <a:rPr lang="en-US" sz="1800" b="1">
                <a:ea typeface="+mn-lt"/>
                <a:cs typeface="+mn-lt"/>
              </a:rPr>
              <a:t>User:</a:t>
            </a:r>
            <a:r>
              <a:rPr lang="en-US" sz="1800">
                <a:ea typeface="+mn-lt"/>
                <a:cs typeface="+mn-lt"/>
              </a:rPr>
              <a:t> Clinician / Clinical Decision-Support Team</a:t>
            </a:r>
            <a:endParaRPr lang="en-US" sz="1800">
              <a:ea typeface="Calibri"/>
              <a:cs typeface="Calibri"/>
            </a:endParaRPr>
          </a:p>
          <a:p>
            <a:pPr marL="690880" lvl="2"/>
            <a:r>
              <a:rPr lang="en-US" sz="1800">
                <a:ea typeface="+mn-lt"/>
                <a:cs typeface="+mn-lt"/>
              </a:rPr>
              <a:t>Identified Features: </a:t>
            </a:r>
            <a:r>
              <a:rPr lang="en-US" sz="1800">
                <a:solidFill>
                  <a:schemeClr val="tx1"/>
                </a:solidFill>
                <a:ea typeface="+mn-lt"/>
                <a:cs typeface="+mn-lt"/>
              </a:rPr>
              <a:t>Three (age, sex, episode number)</a:t>
            </a:r>
          </a:p>
          <a:p>
            <a:pPr marL="0" indent="0">
              <a:buNone/>
            </a:pPr>
            <a:r>
              <a:rPr lang="en-US" sz="2400"/>
              <a:t>Question:</a:t>
            </a:r>
            <a:endParaRPr lang="en-US" sz="2400">
              <a:ea typeface="Calibri"/>
              <a:cs typeface="Calibri"/>
            </a:endParaRPr>
          </a:p>
          <a:p>
            <a:pPr marL="690880" lvl="2"/>
            <a:r>
              <a:rPr lang="zh-CN" altLang="zh-CN" sz="1800"/>
              <a:t>Given age, sex and episode number at admission, what is the patient's risk of in-hospital death?</a:t>
            </a:r>
            <a:endParaRPr lang="en-US" sz="1800">
              <a:ea typeface="Calibri"/>
              <a:cs typeface="Calibri"/>
            </a:endParaRPr>
          </a:p>
          <a:p>
            <a:pPr marL="0" indent="0">
              <a:buNone/>
            </a:pPr>
            <a:r>
              <a:rPr lang="en-US" sz="2000" b="1">
                <a:ea typeface="+mn-lt"/>
                <a:cs typeface="+mn-lt"/>
              </a:rPr>
              <a:t>Input features (</a:t>
            </a:r>
            <a:r>
              <a:rPr lang="en-US" sz="2000">
                <a:solidFill>
                  <a:schemeClr val="tx1"/>
                </a:solidFill>
                <a:ea typeface="+mn-lt"/>
                <a:cs typeface="+mn-lt"/>
              </a:rPr>
              <a:t>Three min</a:t>
            </a:r>
            <a:r>
              <a:rPr lang="en-US" sz="2000">
                <a:ea typeface="+mn-lt"/>
                <a:cs typeface="+mn-lt"/>
              </a:rPr>
              <a:t>imal admission features)  -&gt;  </a:t>
            </a:r>
            <a:r>
              <a:rPr lang="en-US" sz="2000" b="1">
                <a:ea typeface="+mn-lt"/>
                <a:cs typeface="+mn-lt"/>
              </a:rPr>
              <a:t>ML model  -&gt;  Risk probability (0 - 1)</a:t>
            </a:r>
            <a:endParaRPr lang="en-US" sz="2000">
              <a:ea typeface="Calibri"/>
              <a:cs typeface="Calibri"/>
            </a:endParaRPr>
          </a:p>
          <a:p>
            <a:pPr marL="0" indent="0">
              <a:buNone/>
            </a:pPr>
            <a:endParaRPr lang="en-US" sz="2400"/>
          </a:p>
          <a:p>
            <a:pPr marL="0" indent="0">
              <a:buNone/>
            </a:pPr>
            <a:r>
              <a:rPr lang="en-US" sz="2400"/>
              <a:t>Models</a:t>
            </a:r>
            <a:endParaRPr lang="en-US" sz="2200">
              <a:ea typeface="+mn-lt"/>
              <a:cs typeface="+mn-lt"/>
            </a:endParaRPr>
          </a:p>
          <a:p>
            <a:pPr marL="690880">
              <a:buFont typeface="Wingdings" panose="020B0604020202020204" pitchFamily="34" charset="0"/>
              <a:buChar char="§"/>
            </a:pPr>
            <a:r>
              <a:rPr lang="en-US">
                <a:ea typeface="+mn-lt"/>
                <a:cs typeface="+mn-lt"/>
              </a:rPr>
              <a:t>Baseline: predict the majority class (alive) as a reference point</a:t>
            </a:r>
          </a:p>
          <a:p>
            <a:pPr marL="690880" lvl="2"/>
            <a:r>
              <a:rPr lang="en-US" sz="1800">
                <a:ea typeface="+mn-lt"/>
                <a:cs typeface="+mn-lt"/>
              </a:rPr>
              <a:t>Logistic Regression </a:t>
            </a:r>
            <a:endParaRPr lang="en-US" sz="1800">
              <a:ea typeface="Calibri"/>
              <a:cs typeface="Calibri"/>
            </a:endParaRPr>
          </a:p>
          <a:p>
            <a:pPr marL="690880" lvl="2"/>
            <a:r>
              <a:rPr lang="en-US" sz="1800">
                <a:ea typeface="+mn-lt"/>
                <a:cs typeface="+mn-lt"/>
              </a:rPr>
              <a:t>Decision Tree </a:t>
            </a:r>
            <a:endParaRPr lang="en-US" sz="1800">
              <a:ea typeface="Calibri"/>
              <a:cs typeface="Calibri"/>
            </a:endParaRPr>
          </a:p>
          <a:p>
            <a:pPr marL="690880" lvl="2"/>
            <a:r>
              <a:rPr lang="en-US" sz="1800">
                <a:ea typeface="+mn-lt"/>
                <a:cs typeface="+mn-lt"/>
              </a:rPr>
              <a:t>Random Forest </a:t>
            </a:r>
            <a:endParaRPr lang="en-US" sz="1800">
              <a:ea typeface="Calibri"/>
              <a:cs typeface="Calibri"/>
            </a:endParaRPr>
          </a:p>
          <a:p>
            <a:pPr marL="690880" lvl="2"/>
            <a:r>
              <a:rPr lang="en-US" sz="1800" err="1">
                <a:ea typeface="+mn-lt"/>
                <a:cs typeface="+mn-lt"/>
              </a:rPr>
              <a:t>XGBoost</a:t>
            </a:r>
            <a:r>
              <a:rPr lang="en-US" sz="1800">
                <a:ea typeface="+mn-lt"/>
                <a:cs typeface="+mn-lt"/>
              </a:rPr>
              <a:t>/another tree-based boosting model </a:t>
            </a:r>
            <a:endParaRPr lang="en-US" sz="1800">
              <a:ea typeface="Calibri"/>
              <a:cs typeface="Calibri"/>
            </a:endParaRPr>
          </a:p>
        </p:txBody>
      </p:sp>
      <p:sp>
        <p:nvSpPr>
          <p:cNvPr id="4" name="Footer Placeholder 3">
            <a:extLst>
              <a:ext uri="{FF2B5EF4-FFF2-40B4-BE49-F238E27FC236}">
                <a16:creationId xmlns:a16="http://schemas.microsoft.com/office/drawing/2014/main" id="{2C3649E1-D452-3C31-0EF3-C6CBC8192C6B}"/>
              </a:ext>
            </a:extLst>
          </p:cNvPr>
          <p:cNvSpPr>
            <a:spLocks noGrp="1"/>
          </p:cNvSpPr>
          <p:nvPr>
            <p:ph type="ftr" sz="quarter" idx="11"/>
          </p:nvPr>
        </p:nvSpPr>
        <p:spPr/>
        <p:txBody>
          <a:bodyPr/>
          <a:lstStyle/>
          <a:p>
            <a:r>
              <a:rPr lang="en-US"/>
              <a:t>PROHI HT2026 · Group 2 · Seminar 28 September 2026</a:t>
            </a:r>
          </a:p>
        </p:txBody>
      </p:sp>
      <p:sp>
        <p:nvSpPr>
          <p:cNvPr id="5" name="灯片编号占位符 4">
            <a:extLst>
              <a:ext uri="{FF2B5EF4-FFF2-40B4-BE49-F238E27FC236}">
                <a16:creationId xmlns:a16="http://schemas.microsoft.com/office/drawing/2014/main" id="{A7A36249-6DE3-6551-FB9A-8E755E0D5556}"/>
              </a:ext>
            </a:extLst>
          </p:cNvPr>
          <p:cNvSpPr>
            <a:spLocks noGrp="1"/>
          </p:cNvSpPr>
          <p:nvPr>
            <p:ph type="sldNum" sz="quarter" idx="12"/>
          </p:nvPr>
        </p:nvSpPr>
        <p:spPr/>
        <p:txBody>
          <a:bodyPr/>
          <a:lstStyle/>
          <a:p>
            <a:fld id="{AE086683-F536-42AB-ABBC-F4803DFE8DBC}" type="slidenum">
              <a:rPr lang="sv-SE" smtClean="0"/>
              <a:t>15</a:t>
            </a:fld>
            <a:endParaRPr lang="zh-CN" altLang="en-US"/>
          </a:p>
        </p:txBody>
      </p:sp>
      <p:sp>
        <p:nvSpPr>
          <p:cNvPr id="6" name="文本框 5">
            <a:extLst>
              <a:ext uri="{FF2B5EF4-FFF2-40B4-BE49-F238E27FC236}">
                <a16:creationId xmlns:a16="http://schemas.microsoft.com/office/drawing/2014/main" id="{6F4101C8-A30C-633D-AC0D-10FAD03C5F8B}"/>
              </a:ext>
            </a:extLst>
          </p:cNvPr>
          <p:cNvSpPr txBox="1"/>
          <p:nvPr/>
        </p:nvSpPr>
        <p:spPr>
          <a:xfrm>
            <a:off x="7167562" y="4316015"/>
            <a:ext cx="4731542" cy="196977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zh-CN" sz="2000" b="1">
                <a:ea typeface="+mn-lt"/>
                <a:cs typeface="+mn-lt"/>
              </a:rPr>
              <a:t>Evaluation:</a:t>
            </a:r>
            <a:endParaRPr lang="zh-CN" sz="2000">
              <a:cs typeface="Calibri"/>
            </a:endParaRPr>
          </a:p>
          <a:p>
            <a:pPr marL="285750" indent="-285750">
              <a:buFont typeface="Arial"/>
              <a:buChar char="•"/>
            </a:pPr>
            <a:r>
              <a:rPr lang="zh-CN">
                <a:ea typeface="+mn-lt"/>
                <a:cs typeface="+mn-lt"/>
              </a:rPr>
              <a:t>MCC, PR-AUC, ROC-AUC and calibration, since deaths are the minority class (7.4% in the primary cohort)</a:t>
            </a:r>
            <a:endParaRPr lang="zh-CN"/>
          </a:p>
          <a:p>
            <a:pPr marL="285750" indent="-285750">
              <a:buFont typeface="Arial"/>
              <a:buChar char="•"/>
            </a:pPr>
            <a:r>
              <a:rPr lang="zh-CN">
                <a:ea typeface="+mn-lt"/>
                <a:cs typeface="+mn-lt"/>
              </a:rPr>
              <a:t>Train on the Norwegian primary cohort</a:t>
            </a:r>
            <a:endParaRPr lang="zh-CN"/>
          </a:p>
          <a:p>
            <a:pPr marL="285750" indent="-285750">
              <a:buFont typeface="Arial"/>
              <a:buChar char="•"/>
            </a:pPr>
            <a:r>
              <a:rPr lang="zh-CN">
                <a:ea typeface="+mn-lt"/>
                <a:cs typeface="+mn-lt"/>
              </a:rPr>
              <a:t>Validate externally on the South Korean cohort</a:t>
            </a:r>
            <a:endParaRPr lang="zh-CN"/>
          </a:p>
          <a:p>
            <a:pPr algn="l"/>
            <a:endParaRPr lang="zh-CN" altLang="en-US">
              <a:cs typeface="Calibri"/>
            </a:endParaRPr>
          </a:p>
        </p:txBody>
      </p:sp>
    </p:spTree>
    <p:extLst>
      <p:ext uri="{BB962C8B-B14F-4D97-AF65-F5344CB8AC3E}">
        <p14:creationId xmlns:p14="http://schemas.microsoft.com/office/powerpoint/2010/main" val="3147189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63A65-D8D4-7133-E39C-93DEDE04E429}"/>
              </a:ext>
            </a:extLst>
          </p:cNvPr>
          <p:cNvSpPr>
            <a:spLocks noGrp="1"/>
          </p:cNvSpPr>
          <p:nvPr>
            <p:ph type="title"/>
          </p:nvPr>
        </p:nvSpPr>
        <p:spPr>
          <a:xfrm>
            <a:off x="634047" y="334645"/>
            <a:ext cx="11194560" cy="692150"/>
          </a:xfrm>
        </p:spPr>
        <p:txBody>
          <a:bodyPr/>
          <a:lstStyle/>
          <a:p>
            <a:r>
              <a:rPr lang="en-US" sz="2400">
                <a:ea typeface="Calibri"/>
                <a:cs typeface="Calibri"/>
              </a:rPr>
              <a:t>Use Case 4 - </a:t>
            </a:r>
            <a:r>
              <a:rPr lang="en-US" sz="1800" b="1">
                <a:ea typeface="Calibri"/>
                <a:cs typeface="Calibri"/>
              </a:rPr>
              <a:t>The hospital has limited available beds. Several patients have been referred for admission, and the administration wants to determine how to prioritize the available beds.</a:t>
            </a:r>
            <a:endParaRPr lang="en-US"/>
          </a:p>
        </p:txBody>
      </p:sp>
      <p:sp>
        <p:nvSpPr>
          <p:cNvPr id="3" name="Content Placeholder 2">
            <a:extLst>
              <a:ext uri="{FF2B5EF4-FFF2-40B4-BE49-F238E27FC236}">
                <a16:creationId xmlns:a16="http://schemas.microsoft.com/office/drawing/2014/main" id="{8D7B4F6D-BBF1-F00C-4186-7509CB33D9F9}"/>
              </a:ext>
            </a:extLst>
          </p:cNvPr>
          <p:cNvSpPr>
            <a:spLocks noGrp="1"/>
          </p:cNvSpPr>
          <p:nvPr>
            <p:ph idx="1"/>
          </p:nvPr>
        </p:nvSpPr>
        <p:spPr>
          <a:xfrm>
            <a:off x="526121" y="1566185"/>
            <a:ext cx="11154303" cy="4773523"/>
          </a:xfrm>
        </p:spPr>
        <p:txBody>
          <a:bodyPr vert="horz" lIns="0" tIns="0" rIns="0" bIns="0" rtlCol="0" anchor="t">
            <a:noAutofit/>
          </a:bodyPr>
          <a:lstStyle/>
          <a:p>
            <a:r>
              <a:rPr lang="en-US" sz="2000"/>
              <a:t>Method: Prescriptive Analytics</a:t>
            </a:r>
            <a:endParaRPr lang="en-US" sz="2000">
              <a:ea typeface="Calibri"/>
              <a:cs typeface="Calibri"/>
            </a:endParaRPr>
          </a:p>
          <a:p>
            <a:r>
              <a:rPr lang="en-US" sz="2000" b="1">
                <a:ea typeface="+mn-lt"/>
                <a:cs typeface="+mn-lt"/>
              </a:rPr>
              <a:t>User:</a:t>
            </a:r>
            <a:r>
              <a:rPr lang="en-US" sz="2000">
                <a:ea typeface="+mn-lt"/>
                <a:cs typeface="+mn-lt"/>
              </a:rPr>
              <a:t> Hospital Administration / Admission Management Team</a:t>
            </a:r>
            <a:endParaRPr lang="en-US" sz="2000" b="1">
              <a:ea typeface="+mn-lt"/>
              <a:cs typeface="+mn-lt"/>
            </a:endParaRPr>
          </a:p>
          <a:p>
            <a:pPr marL="0" indent="0">
              <a:buNone/>
            </a:pPr>
            <a:endParaRPr lang="en-US" sz="800">
              <a:ea typeface="Calibri"/>
              <a:cs typeface="Calibri"/>
            </a:endParaRPr>
          </a:p>
          <a:p>
            <a:r>
              <a:rPr lang="en-US" sz="2000"/>
              <a:t>Question</a:t>
            </a:r>
            <a:endParaRPr lang="en-US" sz="2000">
              <a:ea typeface="Calibri"/>
              <a:cs typeface="Calibri"/>
            </a:endParaRPr>
          </a:p>
          <a:p>
            <a:pPr marL="690880" lvl="2">
              <a:buFont typeface="Wingdings" panose="020B0604020202020204" pitchFamily="34" charset="0"/>
              <a:buChar char="§"/>
            </a:pPr>
            <a:r>
              <a:rPr lang="en-US" sz="2000" b="1">
                <a:ea typeface="+mn-lt"/>
                <a:cs typeface="+mn-lt"/>
              </a:rPr>
              <a:t>Given a limited number of available beds, how can referred patients be prioritized using the available patient information and predicted risk?</a:t>
            </a:r>
            <a:endParaRPr lang="en-US" sz="2000">
              <a:ea typeface="Calibri"/>
              <a:cs typeface="Calibri"/>
            </a:endParaRPr>
          </a:p>
          <a:p>
            <a:r>
              <a:rPr lang="en-US" sz="2000">
                <a:ea typeface="+mn-lt"/>
                <a:cs typeface="+mn-lt"/>
              </a:rPr>
              <a:t>The analytical pipeline would be:</a:t>
            </a:r>
            <a:endParaRPr lang="en-US" sz="2000">
              <a:ea typeface="Calibri"/>
              <a:cs typeface="Calibri"/>
            </a:endParaRPr>
          </a:p>
          <a:p>
            <a:pPr marL="0" indent="0"/>
            <a:r>
              <a:rPr lang="en-US" sz="2000" b="1">
                <a:ea typeface="+mn-lt"/>
                <a:cs typeface="+mn-lt"/>
              </a:rPr>
              <a:t>  Referred patients -&gt; Predictive model -&gt; Predicted risk/outcome-&gt; Priority rule (to be set based on the clinic's capacity and priority guidelines) -&gt; Ranked list</a:t>
            </a:r>
            <a:endParaRPr lang="en-US" sz="2000" b="1">
              <a:ea typeface="Calibri"/>
              <a:cs typeface="Calibri"/>
            </a:endParaRPr>
          </a:p>
          <a:p>
            <a:r>
              <a:rPr lang="en-US" sz="2000" b="1">
                <a:ea typeface="Calibri"/>
                <a:cs typeface="Calibri"/>
              </a:rPr>
              <a:t>(Medical Guidelines, Referral Principles, and Ethical Principles to be considered for decision prioritization)</a:t>
            </a:r>
          </a:p>
          <a:p>
            <a:r>
              <a:rPr lang="en-US">
                <a:solidFill>
                  <a:schemeClr val="tx1"/>
                </a:solidFill>
                <a:ea typeface="Calibri"/>
                <a:cs typeface="Calibri"/>
              </a:rPr>
              <a:t>Key point: a high predicted risk of death is not the same as a high expected benefit from a bed (see Limitations)</a:t>
            </a:r>
            <a:endParaRPr lang="en-US" sz="2000" b="1">
              <a:solidFill>
                <a:schemeClr val="tx1"/>
              </a:solidFill>
              <a:ea typeface="Calibri"/>
              <a:cs typeface="Calibri"/>
            </a:endParaRPr>
          </a:p>
          <a:p>
            <a:endParaRPr lang="en-US" sz="2000" b="1">
              <a:ea typeface="Calibri"/>
              <a:cs typeface="Calibri"/>
            </a:endParaRPr>
          </a:p>
        </p:txBody>
      </p:sp>
      <p:sp>
        <p:nvSpPr>
          <p:cNvPr id="4" name="Footer Placeholder 3">
            <a:extLst>
              <a:ext uri="{FF2B5EF4-FFF2-40B4-BE49-F238E27FC236}">
                <a16:creationId xmlns:a16="http://schemas.microsoft.com/office/drawing/2014/main" id="{AC588B5E-D0B1-CFE7-B489-16DC8CE9501B}"/>
              </a:ext>
            </a:extLst>
          </p:cNvPr>
          <p:cNvSpPr>
            <a:spLocks noGrp="1"/>
          </p:cNvSpPr>
          <p:nvPr>
            <p:ph type="ftr" sz="quarter" idx="11"/>
          </p:nvPr>
        </p:nvSpPr>
        <p:spPr/>
        <p:txBody>
          <a:bodyPr/>
          <a:lstStyle/>
          <a:p>
            <a:r>
              <a:rPr lang="en-US"/>
              <a:t>PROHI HT2026 · Group 2 · Seminar 28 September 2026</a:t>
            </a:r>
          </a:p>
        </p:txBody>
      </p:sp>
      <p:sp>
        <p:nvSpPr>
          <p:cNvPr id="5" name="灯片编号占位符 4">
            <a:extLst>
              <a:ext uri="{FF2B5EF4-FFF2-40B4-BE49-F238E27FC236}">
                <a16:creationId xmlns:a16="http://schemas.microsoft.com/office/drawing/2014/main" id="{AEFE63B2-4605-CE28-E0B4-09A42F4941C3}"/>
              </a:ext>
            </a:extLst>
          </p:cNvPr>
          <p:cNvSpPr>
            <a:spLocks noGrp="1"/>
          </p:cNvSpPr>
          <p:nvPr>
            <p:ph type="sldNum" sz="quarter" idx="12"/>
          </p:nvPr>
        </p:nvSpPr>
        <p:spPr/>
        <p:txBody>
          <a:bodyPr/>
          <a:lstStyle/>
          <a:p>
            <a:fld id="{AE086683-F536-42AB-ABBC-F4803DFE8DBC}" type="slidenum">
              <a:rPr lang="sv-SE" smtClean="0"/>
              <a:t>16</a:t>
            </a:fld>
            <a:endParaRPr lang="zh-CN" altLang="en-US"/>
          </a:p>
        </p:txBody>
      </p:sp>
    </p:spTree>
    <p:extLst>
      <p:ext uri="{BB962C8B-B14F-4D97-AF65-F5344CB8AC3E}">
        <p14:creationId xmlns:p14="http://schemas.microsoft.com/office/powerpoint/2010/main" val="2511122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0C4CA73-B7A5-3957-24ED-403941585E91}"/>
              </a:ext>
            </a:extLst>
          </p:cNvPr>
          <p:cNvSpPr>
            <a:spLocks noGrp="1"/>
          </p:cNvSpPr>
          <p:nvPr>
            <p:ph type="title"/>
          </p:nvPr>
        </p:nvSpPr>
        <p:spPr/>
        <p:txBody>
          <a:bodyPr/>
          <a:lstStyle/>
          <a:p>
            <a:r>
              <a:rPr lang="en-US">
                <a:solidFill>
                  <a:schemeClr val="tx1"/>
                </a:solidFill>
              </a:rPr>
              <a:t>Why these methods fit</a:t>
            </a:r>
            <a:endParaRPr lang="en-US">
              <a:solidFill>
                <a:schemeClr val="tx1"/>
              </a:solidFill>
              <a:ea typeface="Calibri"/>
              <a:cs typeface="Calibri"/>
            </a:endParaRPr>
          </a:p>
        </p:txBody>
      </p:sp>
      <p:sp>
        <p:nvSpPr>
          <p:cNvPr id="11" name="Content Placeholder 10">
            <a:extLst>
              <a:ext uri="{FF2B5EF4-FFF2-40B4-BE49-F238E27FC236}">
                <a16:creationId xmlns:a16="http://schemas.microsoft.com/office/drawing/2014/main" id="{5C71C2E7-0303-77B2-2B5C-A569EA9EBF09}"/>
              </a:ext>
            </a:extLst>
          </p:cNvPr>
          <p:cNvSpPr>
            <a:spLocks noGrp="1"/>
          </p:cNvSpPr>
          <p:nvPr>
            <p:ph idx="1"/>
          </p:nvPr>
        </p:nvSpPr>
        <p:spPr/>
        <p:txBody>
          <a:bodyPr vert="horz" lIns="0" tIns="0" rIns="0" bIns="0" rtlCol="0">
            <a:noAutofit/>
          </a:bodyPr>
          <a:lstStyle/>
          <a:p>
            <a:r>
              <a:rPr lang="en-US" sz="2200" b="1">
                <a:solidFill>
                  <a:schemeClr val="tx1"/>
                </a:solidFill>
              </a:rPr>
              <a:t>Descriptive: frequencies, %, median (IQR), stratified by outcome</a:t>
            </a:r>
            <a:endParaRPr lang="en-US" sz="2200" b="1">
              <a:solidFill>
                <a:schemeClr val="tx1"/>
              </a:solidFill>
              <a:ea typeface="Calibri"/>
              <a:cs typeface="Calibri"/>
            </a:endParaRPr>
          </a:p>
          <a:p>
            <a:pPr marL="460375" lvl="1"/>
            <a:r>
              <a:rPr lang="en-US" sz="1900">
                <a:solidFill>
                  <a:schemeClr val="tx1"/>
                </a:solidFill>
              </a:rPr>
              <a:t>Only three simple variables, so plain summaries describe the population completely</a:t>
            </a:r>
            <a:endParaRPr lang="en-US" sz="1900">
              <a:solidFill>
                <a:schemeClr val="tx1"/>
              </a:solidFill>
              <a:ea typeface="Calibri"/>
              <a:cs typeface="Calibri"/>
            </a:endParaRPr>
          </a:p>
          <a:p>
            <a:r>
              <a:rPr lang="en-US" sz="2200" b="1">
                <a:solidFill>
                  <a:schemeClr val="tx1"/>
                </a:solidFill>
              </a:rPr>
              <a:t>Diagnostic: chi-square / Fisher (categorical), Mann–Whitney U (age), multivariable logistic regression</a:t>
            </a:r>
            <a:endParaRPr lang="en-US" sz="2200" b="1">
              <a:solidFill>
                <a:schemeClr val="tx1"/>
              </a:solidFill>
              <a:ea typeface="Calibri"/>
              <a:cs typeface="Calibri"/>
            </a:endParaRPr>
          </a:p>
          <a:p>
            <a:pPr marL="460375" lvl="1"/>
            <a:r>
              <a:rPr lang="en-US" sz="1900">
                <a:solidFill>
                  <a:schemeClr val="tx1"/>
                </a:solidFill>
              </a:rPr>
              <a:t>Adjusted odds ratios separate the effects of age, sex and episode number</a:t>
            </a:r>
            <a:endParaRPr lang="en-US" sz="1900">
              <a:solidFill>
                <a:schemeClr val="tx1"/>
              </a:solidFill>
              <a:ea typeface="Calibri"/>
              <a:cs typeface="Calibri"/>
            </a:endParaRPr>
          </a:p>
          <a:p>
            <a:pPr marL="460375" lvl="1"/>
            <a:r>
              <a:rPr lang="en-US" sz="1900">
                <a:solidFill>
                  <a:schemeClr val="tx1"/>
                </a:solidFill>
              </a:rPr>
              <a:t>Observational registry data: we can show associations, not causes</a:t>
            </a:r>
            <a:endParaRPr lang="en-US" sz="1900">
              <a:solidFill>
                <a:schemeClr val="tx1"/>
              </a:solidFill>
              <a:ea typeface="Calibri"/>
              <a:cs typeface="Calibri"/>
            </a:endParaRPr>
          </a:p>
          <a:p>
            <a:r>
              <a:rPr lang="en-US" sz="2200" b="1">
                <a:solidFill>
                  <a:schemeClr val="tx1"/>
                </a:solidFill>
              </a:rPr>
              <a:t>Predictive: logistic regression baseline vs. tree-based models</a:t>
            </a:r>
            <a:endParaRPr lang="en-US" sz="2200" b="1">
              <a:solidFill>
                <a:schemeClr val="tx1"/>
              </a:solidFill>
              <a:ea typeface="Calibri"/>
              <a:cs typeface="Calibri"/>
            </a:endParaRPr>
          </a:p>
          <a:p>
            <a:pPr marL="460375" lvl="1"/>
            <a:r>
              <a:rPr lang="en-US" sz="1900">
                <a:solidFill>
                  <a:schemeClr val="tx1"/>
                </a:solidFill>
              </a:rPr>
              <a:t>Logistic regression is interpretable; trees test for non-linear age effects and interactions</a:t>
            </a:r>
            <a:endParaRPr lang="en-US" sz="1900">
              <a:solidFill>
                <a:schemeClr val="tx1"/>
              </a:solidFill>
              <a:ea typeface="Calibri"/>
              <a:cs typeface="Calibri"/>
            </a:endParaRPr>
          </a:p>
          <a:p>
            <a:pPr marL="460375" lvl="1"/>
            <a:r>
              <a:rPr lang="en-US" sz="1900">
                <a:solidFill>
                  <a:schemeClr val="tx1"/>
                </a:solidFill>
              </a:rPr>
              <a:t>Deaths are the minority class, so we report MCC, PR-AUC, ROC-AUC and calibration, not accuracy alone</a:t>
            </a:r>
            <a:endParaRPr lang="en-US" sz="1900">
              <a:solidFill>
                <a:schemeClr val="tx1"/>
              </a:solidFill>
              <a:ea typeface="Calibri"/>
              <a:cs typeface="Calibri"/>
            </a:endParaRPr>
          </a:p>
          <a:p>
            <a:pPr marL="460375" lvl="1"/>
            <a:r>
              <a:rPr lang="en-US" sz="1900">
                <a:solidFill>
                  <a:schemeClr val="tx1"/>
                </a:solidFill>
              </a:rPr>
              <a:t>Train on the Norwegian primary cohort, validate externally on the South Korean cohort</a:t>
            </a:r>
            <a:endParaRPr lang="en-US" sz="1900">
              <a:solidFill>
                <a:schemeClr val="tx1"/>
              </a:solidFill>
              <a:ea typeface="Calibri"/>
              <a:cs typeface="Calibri"/>
            </a:endParaRPr>
          </a:p>
          <a:p>
            <a:r>
              <a:rPr lang="en-US" sz="2200" b="1">
                <a:solidFill>
                  <a:schemeClr val="tx1"/>
                </a:solidFill>
              </a:rPr>
              <a:t>Prescriptive: risk-based ranking under a bed-capacity constraint</a:t>
            </a:r>
            <a:endParaRPr lang="en-US" sz="2200" b="1">
              <a:solidFill>
                <a:schemeClr val="tx1"/>
              </a:solidFill>
              <a:ea typeface="Calibri"/>
              <a:cs typeface="Calibri"/>
            </a:endParaRPr>
          </a:p>
          <a:p>
            <a:pPr marL="460375" lvl="1"/>
            <a:r>
              <a:rPr lang="en-US" sz="1900">
                <a:solidFill>
                  <a:schemeClr val="tx1"/>
                </a:solidFill>
              </a:rPr>
              <a:t>Compared against a simple first-come-first-served rule as the baseline</a:t>
            </a:r>
            <a:endParaRPr lang="en-US" sz="1900">
              <a:solidFill>
                <a:schemeClr val="tx1"/>
              </a:solidFill>
              <a:ea typeface="Calibri"/>
              <a:cs typeface="Calibri"/>
            </a:endParaRPr>
          </a:p>
        </p:txBody>
      </p:sp>
      <p:sp>
        <p:nvSpPr>
          <p:cNvPr id="5" name="Footer Placeholder 4">
            <a:extLst>
              <a:ext uri="{FF2B5EF4-FFF2-40B4-BE49-F238E27FC236}">
                <a16:creationId xmlns:a16="http://schemas.microsoft.com/office/drawing/2014/main" id="{E7663E0E-F26A-4DAB-2F5A-ECC5EA0CE18F}"/>
              </a:ext>
            </a:extLst>
          </p:cNvPr>
          <p:cNvSpPr>
            <a:spLocks noGrp="1"/>
          </p:cNvSpPr>
          <p:nvPr>
            <p:ph type="ftr" sz="quarter" idx="11"/>
          </p:nvPr>
        </p:nvSpPr>
        <p:spPr/>
        <p:txBody>
          <a:bodyPr/>
          <a:lstStyle/>
          <a:p>
            <a:r>
              <a:rPr lang="en-US"/>
              <a:t>PROHI HT2026 · Group 2 · Seminar 28 September 2026</a:t>
            </a:r>
          </a:p>
        </p:txBody>
      </p:sp>
      <p:sp>
        <p:nvSpPr>
          <p:cNvPr id="2" name="灯片编号占位符 1">
            <a:extLst>
              <a:ext uri="{FF2B5EF4-FFF2-40B4-BE49-F238E27FC236}">
                <a16:creationId xmlns:a16="http://schemas.microsoft.com/office/drawing/2014/main" id="{5DFB1504-34BA-6630-5170-8E9C69F95123}"/>
              </a:ext>
            </a:extLst>
          </p:cNvPr>
          <p:cNvSpPr>
            <a:spLocks noGrp="1"/>
          </p:cNvSpPr>
          <p:nvPr>
            <p:ph type="sldNum" sz="quarter" idx="12"/>
          </p:nvPr>
        </p:nvSpPr>
        <p:spPr/>
        <p:txBody>
          <a:bodyPr/>
          <a:lstStyle/>
          <a:p>
            <a:fld id="{AE086683-F536-42AB-ABBC-F4803DFE8DBC}" type="slidenum">
              <a:rPr lang="sv-SE" smtClean="0"/>
              <a:t>17</a:t>
            </a:fld>
            <a:endParaRPr lang="zh-CN" altLang="en-US"/>
          </a:p>
        </p:txBody>
      </p:sp>
    </p:spTree>
    <p:extLst>
      <p:ext uri="{BB962C8B-B14F-4D97-AF65-F5344CB8AC3E}">
        <p14:creationId xmlns:p14="http://schemas.microsoft.com/office/powerpoint/2010/main" val="3127610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0C4CA73-B7A5-3957-24ED-403941585E91}"/>
              </a:ext>
            </a:extLst>
          </p:cNvPr>
          <p:cNvSpPr>
            <a:spLocks noGrp="1"/>
          </p:cNvSpPr>
          <p:nvPr>
            <p:ph type="title"/>
          </p:nvPr>
        </p:nvSpPr>
        <p:spPr/>
        <p:txBody>
          <a:bodyPr/>
          <a:lstStyle/>
          <a:p>
            <a:r>
              <a:rPr lang="en-US">
                <a:solidFill>
                  <a:schemeClr val="tx1"/>
                </a:solidFill>
              </a:rPr>
              <a:t>Limitations and questions for you</a:t>
            </a:r>
            <a:endParaRPr lang="en-US">
              <a:solidFill>
                <a:schemeClr val="tx1"/>
              </a:solidFill>
              <a:ea typeface="Calibri"/>
              <a:cs typeface="Calibri"/>
            </a:endParaRPr>
          </a:p>
        </p:txBody>
      </p:sp>
      <p:sp>
        <p:nvSpPr>
          <p:cNvPr id="11" name="Content Placeholder 10">
            <a:extLst>
              <a:ext uri="{FF2B5EF4-FFF2-40B4-BE49-F238E27FC236}">
                <a16:creationId xmlns:a16="http://schemas.microsoft.com/office/drawing/2014/main" id="{5C71C2E7-0303-77B2-2B5C-A569EA9EBF09}"/>
              </a:ext>
            </a:extLst>
          </p:cNvPr>
          <p:cNvSpPr>
            <a:spLocks noGrp="1"/>
          </p:cNvSpPr>
          <p:nvPr>
            <p:ph idx="1"/>
          </p:nvPr>
        </p:nvSpPr>
        <p:spPr>
          <a:xfrm>
            <a:off x="623887" y="1196975"/>
            <a:ext cx="10423358" cy="4787900"/>
          </a:xfrm>
        </p:spPr>
        <p:txBody>
          <a:bodyPr vert="horz" lIns="0" tIns="0" rIns="0" bIns="0" rtlCol="0" anchor="t">
            <a:noAutofit/>
          </a:bodyPr>
          <a:lstStyle/>
          <a:p>
            <a:r>
              <a:rPr lang="en-US" sz="2200" b="1">
                <a:solidFill>
                  <a:schemeClr val="tx1"/>
                </a:solidFill>
              </a:rPr>
              <a:t>Limitations</a:t>
            </a:r>
            <a:endParaRPr lang="en-US" sz="2200" b="1">
              <a:solidFill>
                <a:schemeClr val="tx1"/>
              </a:solidFill>
              <a:ea typeface="Calibri"/>
              <a:cs typeface="Calibri"/>
            </a:endParaRPr>
          </a:p>
          <a:p>
            <a:pPr marL="460375" lvl="1"/>
            <a:r>
              <a:rPr lang="en-US" sz="1900">
                <a:solidFill>
                  <a:schemeClr val="tx1"/>
                </a:solidFill>
              </a:rPr>
              <a:t>Only three predictors (no vital signs, labs or severity scores), so modest accuracy is expected</a:t>
            </a:r>
            <a:endParaRPr lang="en-US" sz="1900">
              <a:solidFill>
                <a:schemeClr val="tx1"/>
              </a:solidFill>
              <a:ea typeface="Calibri"/>
              <a:cs typeface="Calibri"/>
            </a:endParaRPr>
          </a:p>
          <a:p>
            <a:pPr marL="460375" lvl="1"/>
            <a:r>
              <a:rPr lang="en-US" sz="1900">
                <a:solidFill>
                  <a:schemeClr val="tx1"/>
                </a:solidFill>
              </a:rPr>
              <a:t>No patient ID: repeated admissions of one patient can end up in both training and test sets (leakage)</a:t>
            </a:r>
            <a:endParaRPr lang="en-US" sz="1900">
              <a:solidFill>
                <a:schemeClr val="tx1"/>
              </a:solidFill>
              <a:ea typeface="Calibri"/>
              <a:cs typeface="Calibri"/>
            </a:endParaRPr>
          </a:p>
          <a:p>
            <a:pPr marL="460375" lvl="1"/>
            <a:r>
              <a:rPr lang="en-US" sz="1900">
                <a:solidFill>
                  <a:schemeClr val="tx1"/>
                </a:solidFill>
              </a:rPr>
              <a:t>Outcome is binary alive/dead with no time variable, so this is not a time-to-event survival analysis</a:t>
            </a:r>
            <a:endParaRPr lang="en-US" sz="1900">
              <a:solidFill>
                <a:schemeClr val="tx1"/>
              </a:solidFill>
              <a:ea typeface="Calibri"/>
              <a:cs typeface="Calibri"/>
            </a:endParaRPr>
          </a:p>
          <a:p>
            <a:pPr marL="460375" lvl="1"/>
            <a:r>
              <a:rPr lang="en-US" sz="1900">
                <a:solidFill>
                  <a:schemeClr val="tx1"/>
                </a:solidFill>
              </a:rPr>
              <a:t>Prescriptive: risk ≠ benefit; only admitted patients are recorded (selection bias); ranking by age or sex raises fairness concerns</a:t>
            </a:r>
            <a:endParaRPr lang="en-US" sz="1900">
              <a:solidFill>
                <a:schemeClr val="tx1"/>
              </a:solidFill>
              <a:ea typeface="Calibri"/>
              <a:cs typeface="Calibri"/>
            </a:endParaRPr>
          </a:p>
        </p:txBody>
      </p:sp>
      <p:sp>
        <p:nvSpPr>
          <p:cNvPr id="5" name="Footer Placeholder 4">
            <a:extLst>
              <a:ext uri="{FF2B5EF4-FFF2-40B4-BE49-F238E27FC236}">
                <a16:creationId xmlns:a16="http://schemas.microsoft.com/office/drawing/2014/main" id="{E7663E0E-F26A-4DAB-2F5A-ECC5EA0CE18F}"/>
              </a:ext>
            </a:extLst>
          </p:cNvPr>
          <p:cNvSpPr>
            <a:spLocks noGrp="1"/>
          </p:cNvSpPr>
          <p:nvPr>
            <p:ph type="ftr" sz="quarter" idx="11"/>
          </p:nvPr>
        </p:nvSpPr>
        <p:spPr/>
        <p:txBody>
          <a:bodyPr/>
          <a:lstStyle/>
          <a:p>
            <a:r>
              <a:rPr lang="en-US"/>
              <a:t>PROHI HT2026 · Group 2 · Seminar 28 September 2026</a:t>
            </a:r>
          </a:p>
        </p:txBody>
      </p:sp>
      <p:sp>
        <p:nvSpPr>
          <p:cNvPr id="2" name="灯片编号占位符 1">
            <a:extLst>
              <a:ext uri="{FF2B5EF4-FFF2-40B4-BE49-F238E27FC236}">
                <a16:creationId xmlns:a16="http://schemas.microsoft.com/office/drawing/2014/main" id="{8F337EDD-793F-62F3-E2A5-19FAB0F80285}"/>
              </a:ext>
            </a:extLst>
          </p:cNvPr>
          <p:cNvSpPr>
            <a:spLocks noGrp="1"/>
          </p:cNvSpPr>
          <p:nvPr>
            <p:ph type="sldNum" sz="quarter" idx="12"/>
          </p:nvPr>
        </p:nvSpPr>
        <p:spPr/>
        <p:txBody>
          <a:bodyPr/>
          <a:lstStyle/>
          <a:p>
            <a:fld id="{AE086683-F536-42AB-ABBC-F4803DFE8DBC}" type="slidenum">
              <a:rPr lang="sv-SE" smtClean="0"/>
              <a:t>18</a:t>
            </a:fld>
            <a:endParaRPr lang="zh-CN" altLang="en-US"/>
          </a:p>
        </p:txBody>
      </p:sp>
    </p:spTree>
    <p:extLst>
      <p:ext uri="{BB962C8B-B14F-4D97-AF65-F5344CB8AC3E}">
        <p14:creationId xmlns:p14="http://schemas.microsoft.com/office/powerpoint/2010/main" val="3127610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8F21C-BDB0-3994-8358-E17EB93BB7A5}"/>
              </a:ext>
            </a:extLst>
          </p:cNvPr>
          <p:cNvSpPr>
            <a:spLocks noGrp="1"/>
          </p:cNvSpPr>
          <p:nvPr>
            <p:ph type="title"/>
          </p:nvPr>
        </p:nvSpPr>
        <p:spPr/>
        <p:txBody>
          <a:bodyPr/>
          <a:lstStyle/>
          <a:p>
            <a:r>
              <a:rPr lang="en-US" noProof="0"/>
              <a:t>Cooperation with AI</a:t>
            </a:r>
          </a:p>
        </p:txBody>
      </p:sp>
      <p:sp>
        <p:nvSpPr>
          <p:cNvPr id="3" name="Content Placeholder 2">
            <a:extLst>
              <a:ext uri="{FF2B5EF4-FFF2-40B4-BE49-F238E27FC236}">
                <a16:creationId xmlns:a16="http://schemas.microsoft.com/office/drawing/2014/main" id="{1D8770AC-8CB7-A5DA-F1FC-DB3DBE6BE611}"/>
              </a:ext>
            </a:extLst>
          </p:cNvPr>
          <p:cNvSpPr>
            <a:spLocks noGrp="1"/>
          </p:cNvSpPr>
          <p:nvPr>
            <p:ph idx="1"/>
          </p:nvPr>
        </p:nvSpPr>
        <p:spPr/>
        <p:txBody>
          <a:bodyPr/>
          <a:lstStyle/>
          <a:p>
            <a:r>
              <a:rPr lang="en-US" noProof="0"/>
              <a:t>Some fancy AI meme…</a:t>
            </a:r>
          </a:p>
        </p:txBody>
      </p:sp>
      <p:sp>
        <p:nvSpPr>
          <p:cNvPr id="4" name="Footer Placeholder 3">
            <a:extLst>
              <a:ext uri="{FF2B5EF4-FFF2-40B4-BE49-F238E27FC236}">
                <a16:creationId xmlns:a16="http://schemas.microsoft.com/office/drawing/2014/main" id="{E4073655-87A1-2AA2-CBE6-69B249DF01CB}"/>
              </a:ext>
            </a:extLst>
          </p:cNvPr>
          <p:cNvSpPr>
            <a:spLocks noGrp="1"/>
          </p:cNvSpPr>
          <p:nvPr>
            <p:ph type="ftr" sz="quarter" idx="11"/>
          </p:nvPr>
        </p:nvSpPr>
        <p:spPr/>
        <p:txBody>
          <a:bodyPr/>
          <a:lstStyle/>
          <a:p>
            <a:r>
              <a:rPr lang="en-US"/>
              <a:t>PROHI HT2026 · Group 2 · Seminar 28 September 2026</a:t>
            </a:r>
          </a:p>
        </p:txBody>
      </p:sp>
      <p:sp>
        <p:nvSpPr>
          <p:cNvPr id="5" name="灯片编号占位符 4">
            <a:extLst>
              <a:ext uri="{FF2B5EF4-FFF2-40B4-BE49-F238E27FC236}">
                <a16:creationId xmlns:a16="http://schemas.microsoft.com/office/drawing/2014/main" id="{1D089ED7-5A19-8FDC-0D56-439BF6036EA2}"/>
              </a:ext>
            </a:extLst>
          </p:cNvPr>
          <p:cNvSpPr>
            <a:spLocks noGrp="1"/>
          </p:cNvSpPr>
          <p:nvPr>
            <p:ph type="sldNum" sz="quarter" idx="12"/>
          </p:nvPr>
        </p:nvSpPr>
        <p:spPr/>
        <p:txBody>
          <a:bodyPr/>
          <a:lstStyle/>
          <a:p>
            <a:fld id="{AE086683-F536-42AB-ABBC-F4803DFE8DBC}" type="slidenum">
              <a:rPr lang="sv-SE" smtClean="0"/>
              <a:t>19</a:t>
            </a:fld>
            <a:endParaRPr lang="zh-CN" altLang="en-US"/>
          </a:p>
        </p:txBody>
      </p:sp>
    </p:spTree>
    <p:extLst>
      <p:ext uri="{BB962C8B-B14F-4D97-AF65-F5344CB8AC3E}">
        <p14:creationId xmlns:p14="http://schemas.microsoft.com/office/powerpoint/2010/main" val="1507796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3763"/>
          </a:solidFill>
          <a:ln w="12700">
            <a:solidFill>
              <a:srgbClr val="FFFFFF">
                <a:alpha val="0"/>
              </a:srgbClr>
            </a:solidFill>
            <a:prstDash val="solid"/>
          </a:ln>
        </p:spPr>
        <p:txBody>
          <a:bodyPr/>
          <a:lstStyle/>
          <a:p>
            <a:endParaRPr lang="en-US"/>
          </a:p>
        </p:txBody>
      </p:sp>
      <p:sp>
        <p:nvSpPr>
          <p:cNvPr id="3" name="Text 1"/>
          <p:cNvSpPr/>
          <p:nvPr/>
        </p:nvSpPr>
        <p:spPr>
          <a:xfrm>
            <a:off x="628634" y="342900"/>
            <a:ext cx="7238819" cy="590550"/>
          </a:xfrm>
          <a:prstGeom prst="rect">
            <a:avLst/>
          </a:prstGeom>
          <a:noFill/>
          <a:ln/>
        </p:spPr>
        <p:txBody>
          <a:bodyPr wrap="square" lIns="0" tIns="0" rIns="0" bIns="0" rtlCol="0" anchor="t"/>
          <a:lstStyle/>
          <a:p>
            <a:pPr marL="0" indent="0" algn="l">
              <a:buNone/>
            </a:pPr>
            <a:r>
              <a:rPr lang="en-US" sz="3000">
                <a:solidFill>
                  <a:srgbClr val="FFFFFF"/>
                </a:solidFill>
                <a:latin typeface="Arial" pitchFamily="34" charset="0"/>
                <a:ea typeface="Arial" pitchFamily="34" charset="-122"/>
                <a:cs typeface="Arial" pitchFamily="34" charset="-120"/>
              </a:rPr>
              <a:t>Cooperation with AI</a:t>
            </a:r>
            <a:endParaRPr lang="en-US" sz="3000"/>
          </a:p>
        </p:txBody>
      </p:sp>
      <p:sp>
        <p:nvSpPr>
          <p:cNvPr id="4" name="Shape 2"/>
          <p:cNvSpPr/>
          <p:nvPr/>
        </p:nvSpPr>
        <p:spPr>
          <a:xfrm>
            <a:off x="628634" y="1047750"/>
            <a:ext cx="10934427" cy="4591050"/>
          </a:xfrm>
          <a:prstGeom prst="rect">
            <a:avLst/>
          </a:prstGeom>
          <a:solidFill>
            <a:srgbClr val="FFFFFF"/>
          </a:solidFill>
          <a:ln w="57150">
            <a:solidFill>
              <a:srgbClr val="111111"/>
            </a:solidFill>
            <a:prstDash val="solid"/>
          </a:ln>
        </p:spPr>
        <p:txBody>
          <a:bodyPr/>
          <a:lstStyle/>
          <a:p>
            <a:endParaRPr lang="en-US"/>
          </a:p>
        </p:txBody>
      </p:sp>
      <p:pic>
        <p:nvPicPr>
          <p:cNvPr id="5" name="BasisPointsImage" descr="preencoded.png"/>
          <p:cNvPicPr>
            <a:picLocks noChangeAspect="1"/>
          </p:cNvPicPr>
          <p:nvPr/>
        </p:nvPicPr>
        <p:blipFill>
          <a:blip r:embed="rId3"/>
          <a:srcRect t="18970" b="18970"/>
          <a:stretch/>
        </p:blipFill>
        <p:spPr>
          <a:xfrm>
            <a:off x="685783" y="1104900"/>
            <a:ext cx="10820129" cy="4476750"/>
          </a:xfrm>
          <a:prstGeom prst="rect">
            <a:avLst/>
          </a:prstGeom>
        </p:spPr>
      </p:pic>
      <p:sp>
        <p:nvSpPr>
          <p:cNvPr id="6" name="Shape 3"/>
          <p:cNvSpPr/>
          <p:nvPr/>
        </p:nvSpPr>
        <p:spPr>
          <a:xfrm>
            <a:off x="6114897" y="1104900"/>
            <a:ext cx="76198" cy="4476750"/>
          </a:xfrm>
          <a:prstGeom prst="rect">
            <a:avLst/>
          </a:prstGeom>
          <a:solidFill>
            <a:srgbClr val="111111"/>
          </a:solidFill>
          <a:ln w="12700">
            <a:solidFill>
              <a:srgbClr val="FFFFFF">
                <a:alpha val="0"/>
              </a:srgbClr>
            </a:solidFill>
            <a:prstDash val="solid"/>
          </a:ln>
        </p:spPr>
        <p:txBody>
          <a:bodyPr/>
          <a:lstStyle/>
          <a:p>
            <a:endParaRPr lang="en-US"/>
          </a:p>
        </p:txBody>
      </p:sp>
      <p:sp>
        <p:nvSpPr>
          <p:cNvPr id="7" name="Shape 4"/>
          <p:cNvSpPr/>
          <p:nvPr/>
        </p:nvSpPr>
        <p:spPr>
          <a:xfrm>
            <a:off x="914377" y="4381500"/>
            <a:ext cx="4762381" cy="876300"/>
          </a:xfrm>
          <a:prstGeom prst="rect">
            <a:avLst/>
          </a:prstGeom>
          <a:solidFill>
            <a:srgbClr val="111111"/>
          </a:solidFill>
          <a:ln w="12700">
            <a:solidFill>
              <a:srgbClr val="FFFFFF">
                <a:alpha val="0"/>
              </a:srgbClr>
            </a:solidFill>
            <a:prstDash val="solid"/>
          </a:ln>
        </p:spPr>
        <p:txBody>
          <a:bodyPr/>
          <a:lstStyle/>
          <a:p>
            <a:endParaRPr lang="en-US"/>
          </a:p>
        </p:txBody>
      </p:sp>
      <p:sp>
        <p:nvSpPr>
          <p:cNvPr id="8" name="Shape 5"/>
          <p:cNvSpPr/>
          <p:nvPr/>
        </p:nvSpPr>
        <p:spPr>
          <a:xfrm>
            <a:off x="6419690" y="4210050"/>
            <a:ext cx="4895728" cy="1047750"/>
          </a:xfrm>
          <a:prstGeom prst="rect">
            <a:avLst/>
          </a:prstGeom>
          <a:solidFill>
            <a:srgbClr val="111111"/>
          </a:solidFill>
          <a:ln w="12700">
            <a:solidFill>
              <a:srgbClr val="FFFFFF">
                <a:alpha val="0"/>
              </a:srgbClr>
            </a:solidFill>
            <a:prstDash val="solid"/>
          </a:ln>
        </p:spPr>
        <p:txBody>
          <a:bodyPr/>
          <a:lstStyle/>
          <a:p>
            <a:endParaRPr lang="en-US"/>
          </a:p>
        </p:txBody>
      </p:sp>
      <p:sp>
        <p:nvSpPr>
          <p:cNvPr id="9" name="Text 6"/>
          <p:cNvSpPr/>
          <p:nvPr/>
        </p:nvSpPr>
        <p:spPr>
          <a:xfrm>
            <a:off x="1085823" y="4505325"/>
            <a:ext cx="4381390" cy="609600"/>
          </a:xfrm>
          <a:prstGeom prst="rect">
            <a:avLst/>
          </a:prstGeom>
          <a:noFill/>
          <a:ln/>
        </p:spPr>
        <p:txBody>
          <a:bodyPr wrap="square" lIns="0" tIns="0" rIns="0" bIns="0" rtlCol="0" anchor="t"/>
          <a:lstStyle/>
          <a:p>
            <a:pPr marL="0" indent="0" algn="l">
              <a:buNone/>
            </a:pPr>
            <a:r>
              <a:rPr lang="en-US" sz="1750" b="1">
                <a:solidFill>
                  <a:srgbClr val="FFFFFF"/>
                </a:solidFill>
                <a:latin typeface="Arial" pitchFamily="34" charset="0"/>
                <a:ea typeface="Arial" pitchFamily="34" charset="-122"/>
                <a:cs typeface="Arial" pitchFamily="34" charset="-120"/>
              </a:rPr>
              <a:t>EXPECTATION</a:t>
            </a:r>
            <a:endParaRPr lang="en-US" sz="1750"/>
          </a:p>
          <a:p>
            <a:pPr marL="0" indent="0" algn="l">
              <a:buNone/>
            </a:pPr>
            <a:r>
              <a:rPr lang="en-US" sz="1750" b="1">
                <a:solidFill>
                  <a:srgbClr val="FFFFFF"/>
                </a:solidFill>
                <a:latin typeface="Arial" pitchFamily="34" charset="0"/>
                <a:ea typeface="Arial" pitchFamily="34" charset="-122"/>
                <a:cs typeface="Arial" pitchFamily="34" charset="-120"/>
              </a:rPr>
              <a:t>“AI will save me hours.”</a:t>
            </a:r>
            <a:endParaRPr lang="en-US" sz="1750"/>
          </a:p>
        </p:txBody>
      </p:sp>
      <p:sp>
        <p:nvSpPr>
          <p:cNvPr id="10" name="Text 7"/>
          <p:cNvSpPr/>
          <p:nvPr/>
        </p:nvSpPr>
        <p:spPr>
          <a:xfrm>
            <a:off x="6591135" y="4333875"/>
            <a:ext cx="4524262" cy="800100"/>
          </a:xfrm>
          <a:prstGeom prst="rect">
            <a:avLst/>
          </a:prstGeom>
          <a:noFill/>
          <a:ln/>
        </p:spPr>
        <p:txBody>
          <a:bodyPr wrap="square" lIns="0" tIns="0" rIns="0" bIns="0" rtlCol="0" anchor="t"/>
          <a:lstStyle/>
          <a:p>
            <a:pPr marL="0" indent="0" algn="l">
              <a:buNone/>
            </a:pPr>
            <a:r>
              <a:rPr lang="en-US" sz="1450" b="1">
                <a:solidFill>
                  <a:srgbClr val="FFFFFF"/>
                </a:solidFill>
                <a:latin typeface="Arial" pitchFamily="34" charset="0"/>
                <a:ea typeface="Arial" pitchFamily="34" charset="-122"/>
                <a:cs typeface="Arial" pitchFamily="34" charset="-120"/>
              </a:rPr>
              <a:t>REALITY · VERSION 17</a:t>
            </a:r>
            <a:endParaRPr lang="en-US" sz="1450"/>
          </a:p>
          <a:p>
            <a:pPr marL="0" indent="0" algn="l">
              <a:buNone/>
            </a:pPr>
            <a:r>
              <a:rPr lang="en-US" sz="1450" b="1">
                <a:solidFill>
                  <a:srgbClr val="FFFFFF"/>
                </a:solidFill>
                <a:latin typeface="Arial" pitchFamily="34" charset="0"/>
                <a:ea typeface="Arial" pitchFamily="34" charset="-122"/>
                <a:cs typeface="Arial" pitchFamily="34" charset="-120"/>
              </a:rPr>
              <a:t>“Keep everything the same — but make it feel more human.”</a:t>
            </a:r>
            <a:endParaRPr lang="en-US" sz="1450"/>
          </a:p>
        </p:txBody>
      </p:sp>
      <p:sp>
        <p:nvSpPr>
          <p:cNvPr id="11" name="Shape 8"/>
          <p:cNvSpPr/>
          <p:nvPr/>
        </p:nvSpPr>
        <p:spPr>
          <a:xfrm>
            <a:off x="2324042" y="5810250"/>
            <a:ext cx="7543611" cy="476250"/>
          </a:xfrm>
          <a:prstGeom prst="rect">
            <a:avLst/>
          </a:prstGeom>
          <a:solidFill>
            <a:srgbClr val="0D527A"/>
          </a:solidFill>
          <a:ln w="12700">
            <a:solidFill>
              <a:srgbClr val="FFFFFF">
                <a:alpha val="0"/>
              </a:srgbClr>
            </a:solidFill>
            <a:prstDash val="solid"/>
          </a:ln>
        </p:spPr>
        <p:txBody>
          <a:bodyPr/>
          <a:lstStyle/>
          <a:p>
            <a:endParaRPr lang="en-US"/>
          </a:p>
        </p:txBody>
      </p:sp>
      <p:sp>
        <p:nvSpPr>
          <p:cNvPr id="12" name="Text 9"/>
          <p:cNvSpPr/>
          <p:nvPr/>
        </p:nvSpPr>
        <p:spPr>
          <a:xfrm>
            <a:off x="2619310" y="5915025"/>
            <a:ext cx="6953076" cy="266700"/>
          </a:xfrm>
          <a:prstGeom prst="rect">
            <a:avLst/>
          </a:prstGeom>
          <a:noFill/>
          <a:ln/>
        </p:spPr>
        <p:txBody>
          <a:bodyPr wrap="square" lIns="0" tIns="0" rIns="0" bIns="0" rtlCol="0" anchor="t"/>
          <a:lstStyle/>
          <a:p>
            <a:pPr marL="0" indent="0" algn="ctr">
              <a:buNone/>
            </a:pPr>
            <a:r>
              <a:rPr lang="en-US" sz="1350" b="1">
                <a:solidFill>
                  <a:srgbClr val="FFFFFF"/>
                </a:solidFill>
                <a:latin typeface="Arial" pitchFamily="34" charset="0"/>
                <a:ea typeface="Arial" pitchFamily="34" charset="-122"/>
                <a:cs typeface="Arial" pitchFamily="34" charset="-120"/>
              </a:rPr>
              <a:t>AI drafts. Humans decide when it’s actually done.</a:t>
            </a:r>
            <a:endParaRPr lang="en-US" sz="1350"/>
          </a:p>
        </p:txBody>
      </p:sp>
      <p:sp>
        <p:nvSpPr>
          <p:cNvPr id="13" name="Text 10"/>
          <p:cNvSpPr/>
          <p:nvPr/>
        </p:nvSpPr>
        <p:spPr>
          <a:xfrm>
            <a:off x="628634" y="6419850"/>
            <a:ext cx="4476638" cy="209550"/>
          </a:xfrm>
          <a:prstGeom prst="rect">
            <a:avLst/>
          </a:prstGeom>
          <a:noFill/>
          <a:ln/>
        </p:spPr>
        <p:txBody>
          <a:bodyPr wrap="square" lIns="0" tIns="0" rIns="0" bIns="0" rtlCol="0" anchor="t"/>
          <a:lstStyle/>
          <a:p>
            <a:pPr marL="0" indent="0" algn="l">
              <a:buNone/>
            </a:pPr>
            <a:r>
              <a:rPr lang="en-US" sz="850" b="1">
                <a:solidFill>
                  <a:srgbClr val="FFFFFF"/>
                </a:solidFill>
                <a:latin typeface="Arial" pitchFamily="34" charset="0"/>
                <a:ea typeface="Arial" pitchFamily="34" charset="-122"/>
                <a:cs typeface="Arial" pitchFamily="34" charset="-120"/>
              </a:rPr>
              <a:t>PROH HT2026 · Group 2 · Seminar 28 September 2026</a:t>
            </a:r>
            <a:endParaRPr lang="en-US" sz="850"/>
          </a:p>
        </p:txBody>
      </p:sp>
      <p:sp>
        <p:nvSpPr>
          <p:cNvPr id="14" name="Text 11"/>
          <p:cNvSpPr/>
          <p:nvPr/>
        </p:nvSpPr>
        <p:spPr>
          <a:xfrm>
            <a:off x="9086623" y="6381750"/>
            <a:ext cx="2476438" cy="228600"/>
          </a:xfrm>
          <a:prstGeom prst="rect">
            <a:avLst/>
          </a:prstGeom>
          <a:noFill/>
          <a:ln/>
        </p:spPr>
        <p:txBody>
          <a:bodyPr wrap="square" lIns="0" tIns="0" rIns="0" bIns="0" rtlCol="0" anchor="t"/>
          <a:lstStyle/>
          <a:p>
            <a:pPr marL="0" indent="0" algn="r">
              <a:buNone/>
            </a:pPr>
            <a:r>
              <a:rPr lang="en-US" sz="1000">
                <a:solidFill>
                  <a:srgbClr val="FFFFFF"/>
                </a:solidFill>
                <a:latin typeface="Arial" pitchFamily="34" charset="0"/>
                <a:ea typeface="Arial" pitchFamily="34" charset="-122"/>
                <a:cs typeface="Arial" pitchFamily="34" charset="-120"/>
              </a:rPr>
              <a:t>Stockholms universitet</a:t>
            </a:r>
            <a:endParaRPr lang="en-US" sz="1000"/>
          </a:p>
        </p:txBody>
      </p:sp>
    </p:spTree>
    <p:extLst>
      <p:ext uri="{BB962C8B-B14F-4D97-AF65-F5344CB8AC3E}">
        <p14:creationId xmlns:p14="http://schemas.microsoft.com/office/powerpoint/2010/main" val="16549275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72F9D-87A3-898B-5F62-F237982E6319}"/>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2B127FDD-2A1A-A1B8-2EB2-FF0F58CC7B24}"/>
              </a:ext>
            </a:extLst>
          </p:cNvPr>
          <p:cNvSpPr>
            <a:spLocks noGrp="1"/>
          </p:cNvSpPr>
          <p:nvPr>
            <p:ph idx="1"/>
          </p:nvPr>
        </p:nvSpPr>
        <p:spPr/>
        <p:txBody>
          <a:bodyPr vert="horz" lIns="0" tIns="0" rIns="0" bIns="0" rtlCol="0" anchor="t">
            <a:noAutofit/>
          </a:bodyPr>
          <a:lstStyle/>
          <a:p>
            <a:pPr>
              <a:buNone/>
            </a:pPr>
            <a:r>
              <a:rPr lang="en-SE"/>
              <a:t> [1] Sepsis [Internet]. Cleveland Clinic. Cleveland, OH: Cleveland Clinic; 2026 [cited 2026 Sept 27]. Available from: </a:t>
            </a:r>
            <a:r>
              <a:rPr lang="en-SE">
                <a:hlinkClick r:id="rId2"/>
              </a:rPr>
              <a:t>https://my.clevelandclinic.org/health/diseases/12361-sepsis</a:t>
            </a:r>
            <a:r>
              <a:rPr lang="en-SE"/>
              <a:t>.</a:t>
            </a:r>
          </a:p>
          <a:p>
            <a:pPr>
              <a:buNone/>
            </a:pPr>
            <a:r>
              <a:rPr lang="en-SE"/>
              <a:t>[2] Gray AP, Chung E, Hsu RL, Araki DT, Gershberg Hayoon A, Davis Weaver N, Swetschinski LR, Wool EE, Han C, Mestrovic T, et al. Global, regional, and national sepsis incidence and mortality, 1990–2021: a systematic analysis. The Lancet Global Health. 2025;13(12):e2013–26. DOI: </a:t>
            </a:r>
            <a:r>
              <a:rPr lang="en-SE">
                <a:hlinkClick r:id="rId3"/>
              </a:rPr>
              <a:t>10.1016/S2214-109X(25)00356-0</a:t>
            </a:r>
            <a:r>
              <a:rPr lang="en-SE"/>
              <a:t>.</a:t>
            </a:r>
            <a:endParaRPr lang="en-SE">
              <a:ea typeface="Calibri"/>
              <a:cs typeface="Calibri"/>
            </a:endParaRPr>
          </a:p>
          <a:p>
            <a:pPr>
              <a:buNone/>
            </a:pPr>
            <a:r>
              <a:rPr lang="en-SE"/>
              <a:t>[3] About Sepsis [Internet]. Sepsis. Atlanta, GA: U.S. Centers for Disease Control and Prevention; 2026 [cited 2026 Sept 27]. Available from: </a:t>
            </a:r>
            <a:r>
              <a:rPr lang="en-SE">
                <a:hlinkClick r:id="rId4"/>
              </a:rPr>
              <a:t>https://www.cdc.gov/sepsis/about/index.html</a:t>
            </a:r>
            <a:r>
              <a:rPr lang="en-SE"/>
              <a:t>.</a:t>
            </a:r>
            <a:endParaRPr lang="en-SE">
              <a:ea typeface="Calibri"/>
              <a:cs typeface="Calibri"/>
            </a:endParaRPr>
          </a:p>
          <a:p>
            <a:pPr>
              <a:buNone/>
            </a:pPr>
            <a:r>
              <a:rPr lang="en-SE"/>
              <a:t>[4] Chicco D, Jurman G. Sepsis Survival Minimal Clinical Records [dataset]. 2020. UCI Machine Learning Repository. DOI: </a:t>
            </a:r>
            <a:r>
              <a:rPr lang="en-SE">
                <a:hlinkClick r:id="rId5"/>
              </a:rPr>
              <a:t>10.24432/C53C8N</a:t>
            </a:r>
            <a:r>
              <a:rPr lang="en-SE"/>
              <a:t>.</a:t>
            </a:r>
            <a:endParaRPr lang="en-SE">
              <a:ea typeface="Calibri"/>
              <a:cs typeface="Calibri"/>
            </a:endParaRPr>
          </a:p>
          <a:p>
            <a:pPr>
              <a:buNone/>
            </a:pPr>
            <a:r>
              <a:rPr lang="en-SE"/>
              <a:t>[5] Kelly M, Longjohn R, Nottingham K. The UCI Machine Learning Repository [Internet]. 2026 [cited 2026 Sept 27]. Available from: </a:t>
            </a:r>
            <a:r>
              <a:rPr lang="en-SE">
                <a:hlinkClick r:id="rId6"/>
              </a:rPr>
              <a:t>https://archive.ics.uci.edu</a:t>
            </a:r>
            <a:r>
              <a:rPr lang="en-SE"/>
              <a:t>.</a:t>
            </a:r>
            <a:endParaRPr lang="en-SE">
              <a:ea typeface="Calibri"/>
              <a:cs typeface="Calibri"/>
            </a:endParaRPr>
          </a:p>
          <a:p>
            <a:pPr>
              <a:buNone/>
            </a:pPr>
            <a:r>
              <a:rPr lang="en-US">
                <a:solidFill>
                  <a:schemeClr val="tx1"/>
                </a:solidFill>
                <a:ea typeface="Calibri"/>
                <a:cs typeface="Calibri"/>
              </a:rPr>
              <a:t>[6] Chicco D, Jurman G. Survival prediction of patients with sepsis from age, sex, and septic episode number alone. Scientific Reports. 2020;10. DOI: 10.1038/s41598-020-73558-3.</a:t>
            </a:r>
            <a:endParaRPr lang="en-SE">
              <a:solidFill>
                <a:schemeClr val="tx1"/>
              </a:solidFill>
              <a:ea typeface="Calibri"/>
              <a:cs typeface="Calibri"/>
            </a:endParaRPr>
          </a:p>
          <a:p>
            <a:pPr>
              <a:buNone/>
            </a:pPr>
            <a:endParaRPr lang="en-SE">
              <a:ea typeface="Calibri"/>
              <a:cs typeface="Calibri"/>
            </a:endParaRPr>
          </a:p>
        </p:txBody>
      </p:sp>
      <p:sp>
        <p:nvSpPr>
          <p:cNvPr id="4" name="Footer Placeholder 3">
            <a:extLst>
              <a:ext uri="{FF2B5EF4-FFF2-40B4-BE49-F238E27FC236}">
                <a16:creationId xmlns:a16="http://schemas.microsoft.com/office/drawing/2014/main" id="{1BA2897B-C99E-DAD2-053D-689B9980C4F0}"/>
              </a:ext>
            </a:extLst>
          </p:cNvPr>
          <p:cNvSpPr>
            <a:spLocks noGrp="1"/>
          </p:cNvSpPr>
          <p:nvPr>
            <p:ph type="ftr" sz="quarter" idx="11"/>
          </p:nvPr>
        </p:nvSpPr>
        <p:spPr/>
        <p:txBody>
          <a:bodyPr/>
          <a:lstStyle/>
          <a:p>
            <a:r>
              <a:rPr lang="en-US"/>
              <a:t>PROHI HT2026 · Group 2 · Seminar 28 September 2026</a:t>
            </a:r>
          </a:p>
        </p:txBody>
      </p:sp>
      <p:sp>
        <p:nvSpPr>
          <p:cNvPr id="5" name="灯片编号占位符 4">
            <a:extLst>
              <a:ext uri="{FF2B5EF4-FFF2-40B4-BE49-F238E27FC236}">
                <a16:creationId xmlns:a16="http://schemas.microsoft.com/office/drawing/2014/main" id="{46583DDF-F3BF-962B-32FB-17C9BA688141}"/>
              </a:ext>
            </a:extLst>
          </p:cNvPr>
          <p:cNvSpPr>
            <a:spLocks noGrp="1"/>
          </p:cNvSpPr>
          <p:nvPr>
            <p:ph type="sldNum" sz="quarter" idx="12"/>
          </p:nvPr>
        </p:nvSpPr>
        <p:spPr/>
        <p:txBody>
          <a:bodyPr/>
          <a:lstStyle/>
          <a:p>
            <a:fld id="{AE086683-F536-42AB-ABBC-F4803DFE8DBC}" type="slidenum">
              <a:rPr lang="sv-SE" smtClean="0"/>
              <a:t>21</a:t>
            </a:fld>
            <a:endParaRPr lang="zh-CN" altLang="en-US"/>
          </a:p>
        </p:txBody>
      </p:sp>
    </p:spTree>
    <p:extLst>
      <p:ext uri="{BB962C8B-B14F-4D97-AF65-F5344CB8AC3E}">
        <p14:creationId xmlns:p14="http://schemas.microsoft.com/office/powerpoint/2010/main" val="301319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3ADF171-0556-1E6C-DF0C-10463B9A8C1F}"/>
              </a:ext>
            </a:extLst>
          </p:cNvPr>
          <p:cNvSpPr>
            <a:spLocks noGrp="1"/>
          </p:cNvSpPr>
          <p:nvPr>
            <p:ph type="ctrTitle"/>
          </p:nvPr>
        </p:nvSpPr>
        <p:spPr/>
        <p:txBody>
          <a:bodyPr/>
          <a:lstStyle/>
          <a:p>
            <a:r>
              <a:rPr lang="en-US" noProof="0"/>
              <a:t>Thank you for your engagement</a:t>
            </a:r>
          </a:p>
        </p:txBody>
      </p:sp>
      <p:sp>
        <p:nvSpPr>
          <p:cNvPr id="4" name="Platshållare för sidfot 3">
            <a:extLst>
              <a:ext uri="{FF2B5EF4-FFF2-40B4-BE49-F238E27FC236}">
                <a16:creationId xmlns:a16="http://schemas.microsoft.com/office/drawing/2014/main" id="{3EA64AB0-9A21-3FE1-A565-73FECBD18C50}"/>
              </a:ext>
            </a:extLst>
          </p:cNvPr>
          <p:cNvSpPr>
            <a:spLocks noGrp="1"/>
          </p:cNvSpPr>
          <p:nvPr>
            <p:ph type="ftr" sz="quarter" idx="11"/>
          </p:nvPr>
        </p:nvSpPr>
        <p:spPr/>
        <p:txBody>
          <a:bodyPr/>
          <a:lstStyle/>
          <a:p>
            <a:r>
              <a:rPr lang="en-US">
                <a:solidFill>
                  <a:schemeClr val="accent6"/>
                </a:solidFill>
              </a:rPr>
              <a:t>PROHI HT2026 · Group 2 · Seminar 28 September 2026</a:t>
            </a:r>
          </a:p>
        </p:txBody>
      </p:sp>
      <p:sp>
        <p:nvSpPr>
          <p:cNvPr id="5" name="Underrubrik 4">
            <a:extLst>
              <a:ext uri="{FF2B5EF4-FFF2-40B4-BE49-F238E27FC236}">
                <a16:creationId xmlns:a16="http://schemas.microsoft.com/office/drawing/2014/main" id="{7C32B4D4-3616-EA2A-5AA0-232158ADF863}"/>
              </a:ext>
            </a:extLst>
          </p:cNvPr>
          <p:cNvSpPr>
            <a:spLocks noGrp="1"/>
          </p:cNvSpPr>
          <p:nvPr>
            <p:ph type="subTitle" idx="1"/>
          </p:nvPr>
        </p:nvSpPr>
        <p:spPr>
          <a:xfrm>
            <a:off x="623887" y="3600645"/>
            <a:ext cx="9289609" cy="582293"/>
          </a:xfrm>
        </p:spPr>
        <p:txBody>
          <a:bodyPr/>
          <a:lstStyle/>
          <a:p>
            <a:r>
              <a:rPr lang="en-US" noProof="0"/>
              <a:t>Yuanrui Zou, Evangelos Balanikas, Qizheng Zhao, Zoltan Kurhejja, Xuehai Wang, Anupom Das, Christian Schinkel, Kaiwen Huang</a:t>
            </a:r>
          </a:p>
        </p:txBody>
      </p:sp>
      <p:sp>
        <p:nvSpPr>
          <p:cNvPr id="3" name="灯片编号占位符 2">
            <a:extLst>
              <a:ext uri="{FF2B5EF4-FFF2-40B4-BE49-F238E27FC236}">
                <a16:creationId xmlns:a16="http://schemas.microsoft.com/office/drawing/2014/main" id="{0771638A-BAA0-6E1A-67AB-3E287CF72DA7}"/>
              </a:ext>
            </a:extLst>
          </p:cNvPr>
          <p:cNvSpPr>
            <a:spLocks noGrp="1"/>
          </p:cNvSpPr>
          <p:nvPr>
            <p:ph type="sldNum" sz="quarter" idx="12"/>
          </p:nvPr>
        </p:nvSpPr>
        <p:spPr/>
        <p:txBody>
          <a:bodyPr/>
          <a:lstStyle/>
          <a:p>
            <a:fld id="{AE086683-F536-42AB-ABBC-F4803DFE8DBC}" type="slidenum">
              <a:rPr lang="sv-SE" smtClean="0"/>
              <a:pPr/>
              <a:t>22</a:t>
            </a:fld>
            <a:endParaRPr lang="zh-CN" altLang="en-US"/>
          </a:p>
        </p:txBody>
      </p:sp>
    </p:spTree>
    <p:extLst>
      <p:ext uri="{BB962C8B-B14F-4D97-AF65-F5344CB8AC3E}">
        <p14:creationId xmlns:p14="http://schemas.microsoft.com/office/powerpoint/2010/main" val="80014408"/>
      </p:ext>
    </p:extLst>
  </p:cSld>
  <p:clrMapOvr>
    <a:masterClrMapping/>
  </p:clrMapOvr>
</p:sld>
</file>

<file path=ppt/theme/theme1.xml><?xml version="1.0" encoding="utf-8"?>
<a:theme xmlns:a="http://schemas.openxmlformats.org/drawingml/2006/main" name="Stockholms Universitet">
  <a:themeElements>
    <a:clrScheme name="Stockholms Universitet - Färger Mörk">
      <a:dk1>
        <a:sysClr val="windowText" lastClr="000000"/>
      </a:dk1>
      <a:lt1>
        <a:sysClr val="window" lastClr="FFFFFF"/>
      </a:lt1>
      <a:dk2>
        <a:srgbClr val="002F5F"/>
      </a:dk2>
      <a:lt2>
        <a:srgbClr val="F8F8F8"/>
      </a:lt2>
      <a:accent1>
        <a:srgbClr val="FFFFFF"/>
      </a:accent1>
      <a:accent2>
        <a:srgbClr val="ACDEE6"/>
      </a:accent2>
      <a:accent3>
        <a:srgbClr val="9BB2CE"/>
      </a:accent3>
      <a:accent4>
        <a:srgbClr val="EB7125"/>
      </a:accent4>
      <a:accent5>
        <a:srgbClr val="A3A86B"/>
      </a:accent5>
      <a:accent6>
        <a:srgbClr val="33587F"/>
      </a:accent6>
      <a:hlink>
        <a:srgbClr val="FFFFFF"/>
      </a:hlink>
      <a:folHlink>
        <a:srgbClr val="ACDEE6"/>
      </a:folHlink>
    </a:clrScheme>
    <a:fontScheme name="Stockholms Universitet - Typsnitt">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dirty="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a:defPPr>
      </a:lstStyle>
    </a:txDef>
  </a:objectDefaults>
  <a:extraClrSchemeLst/>
  <a:extLst>
    <a:ext uri="{05A4C25C-085E-4340-85A3-A5531E510DB2}">
      <thm15:themeFamily xmlns:thm15="http://schemas.microsoft.com/office/thememl/2012/main" name="Stockholms universitet - Mörk.potx" id="{55A92D32-9989-4A22-AC21-030F6321F412}" vid="{B926C999-3D20-4301-881B-3530F66239C1}"/>
    </a:ext>
  </a:extLst>
</a:theme>
</file>

<file path=ppt/theme/theme2.xml><?xml version="1.0" encoding="utf-8"?>
<a:theme xmlns:a="http://schemas.openxmlformats.org/drawingml/2006/main" name="Office-tema">
  <a:themeElements>
    <a:clrScheme name="Stockholms Universitet - Färger">
      <a:dk1>
        <a:sysClr val="windowText" lastClr="000000"/>
      </a:dk1>
      <a:lt1>
        <a:sysClr val="window" lastClr="FFFFFF"/>
      </a:lt1>
      <a:dk2>
        <a:srgbClr val="002F5F"/>
      </a:dk2>
      <a:lt2>
        <a:srgbClr val="F8F8F8"/>
      </a:lt2>
      <a:accent1>
        <a:srgbClr val="002F5F"/>
      </a:accent1>
      <a:accent2>
        <a:srgbClr val="ACDEE6"/>
      </a:accent2>
      <a:accent3>
        <a:srgbClr val="9BB2CE"/>
      </a:accent3>
      <a:accent4>
        <a:srgbClr val="EB7125"/>
      </a:accent4>
      <a:accent5>
        <a:srgbClr val="A3A86B"/>
      </a:accent5>
      <a:accent6>
        <a:srgbClr val="33587F"/>
      </a:accent6>
      <a:hlink>
        <a:srgbClr val="002F5F"/>
      </a:hlink>
      <a:folHlink>
        <a:srgbClr val="33587F"/>
      </a:folHlink>
    </a:clrScheme>
    <a:fontScheme name="Stockholms Universitet - Typsnitt">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Stockholms Universitet - Färger">
      <a:dk1>
        <a:sysClr val="windowText" lastClr="000000"/>
      </a:dk1>
      <a:lt1>
        <a:sysClr val="window" lastClr="FFFFFF"/>
      </a:lt1>
      <a:dk2>
        <a:srgbClr val="002F5F"/>
      </a:dk2>
      <a:lt2>
        <a:srgbClr val="F8F8F8"/>
      </a:lt2>
      <a:accent1>
        <a:srgbClr val="002F5F"/>
      </a:accent1>
      <a:accent2>
        <a:srgbClr val="ACDEE6"/>
      </a:accent2>
      <a:accent3>
        <a:srgbClr val="9BB2CE"/>
      </a:accent3>
      <a:accent4>
        <a:srgbClr val="EB7125"/>
      </a:accent4>
      <a:accent5>
        <a:srgbClr val="A3A86B"/>
      </a:accent5>
      <a:accent6>
        <a:srgbClr val="33587F"/>
      </a:accent6>
      <a:hlink>
        <a:srgbClr val="5F5F5F"/>
      </a:hlink>
      <a:folHlink>
        <a:srgbClr val="919191"/>
      </a:folHlink>
    </a:clrScheme>
    <a:fontScheme name="Stockholms Universitet - Typsnitt">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5AFF641-9837-4361-9718-D85FB1B0B86F}">
  <we:reference id="33491e4f-5d38-4c24-85cb-c5144f8a0d2f" version="1.0.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DEA9E5426AFC6429736A46F0DA455F2" ma:contentTypeVersion="3" ma:contentTypeDescription="Create a new document." ma:contentTypeScope="" ma:versionID="e4c8b3d6f7990df4f1d2d8a7ae0bdd44">
  <xsd:schema xmlns:xsd="http://www.w3.org/2001/XMLSchema" xmlns:xs="http://www.w3.org/2001/XMLSchema" xmlns:p="http://schemas.microsoft.com/office/2006/metadata/properties" xmlns:ns2="1f5dded1-1c70-4dcf-942e-13d22f48ba26" targetNamespace="http://schemas.microsoft.com/office/2006/metadata/properties" ma:root="true" ma:fieldsID="19812d7f122323a4ddec8ee848f22be1" ns2:_="">
    <xsd:import namespace="1f5dded1-1c70-4dcf-942e-13d22f48ba2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5dded1-1c70-4dcf-942e-13d22f48ba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CEBAD6A-AFE5-46E0-9A90-AF4AB80FFBEE}">
  <ds:schemaRefs>
    <ds:schemaRef ds:uri="http://schemas.microsoft.com/sharepoint/v3/contenttype/forms"/>
  </ds:schemaRefs>
</ds:datastoreItem>
</file>

<file path=customXml/itemProps2.xml><?xml version="1.0" encoding="utf-8"?>
<ds:datastoreItem xmlns:ds="http://schemas.openxmlformats.org/officeDocument/2006/customXml" ds:itemID="{113D1B49-C289-42B9-9003-086CB8906C37}">
  <ds:schemaRefs>
    <ds:schemaRef ds:uri="1f5dded1-1c70-4dcf-942e-13d22f48ba2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D4ABDA6A-1F6C-4B42-8544-08E5AE6AC91F}">
  <ds:schemaRefs>
    <ds:schemaRef ds:uri="http://schemas.microsoft.com/office/2006/metadata/properties"/>
    <ds:schemaRef ds:uri="http://schemas.microsoft.com/office/infopath/2007/PartnerControls"/>
    <ds:schemaRef ds:uri="http://www.w3.org/2000/xmlns/"/>
  </ds:schemaRefs>
</ds:datastoreItem>
</file>

<file path=docProps/app.xml><?xml version="1.0" encoding="utf-8"?>
<Properties xmlns="http://schemas.openxmlformats.org/officeDocument/2006/extended-properties" xmlns:vt="http://schemas.openxmlformats.org/officeDocument/2006/docPropsVTypes">
  <Template>Stockholms Universitet</Template>
  <TotalTime>0</TotalTime>
  <Words>2070</Words>
  <Application>Microsoft Macintosh PowerPoint</Application>
  <PresentationFormat>Widescreen</PresentationFormat>
  <Paragraphs>237</Paragraphs>
  <Slides>22</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Courier New</vt:lpstr>
      <vt:lpstr>Wingdings</vt:lpstr>
      <vt:lpstr>Stockholms Universitet</vt:lpstr>
      <vt:lpstr>Sepsis survival prediction</vt:lpstr>
      <vt:lpstr>Sepsis survival</vt:lpstr>
      <vt:lpstr>Definition</vt:lpstr>
      <vt:lpstr>Epidemiology</vt:lpstr>
      <vt:lpstr>Clinical Significance</vt:lpstr>
      <vt:lpstr>Dataset</vt:lpstr>
      <vt:lpstr>Sepsis Survival Minimal Clinical Records</vt:lpstr>
      <vt:lpstr>Setting</vt:lpstr>
      <vt:lpstr>Condition</vt:lpstr>
      <vt:lpstr>License</vt:lpstr>
      <vt:lpstr>Data access</vt:lpstr>
      <vt:lpstr>One dataset supports four distinct decision questions</vt:lpstr>
      <vt:lpstr>Use Case 1: The hospital epidemiologist wants to understand the demographic and admission characteristics of patients with sepsis and describe overall outcomes.</vt:lpstr>
      <vt:lpstr>Use Case 2 - The user wants to investigate whether patient characteristics are associated with  the recorded outcome.</vt:lpstr>
      <vt:lpstr>Use Case 3 - The user wants to predict a patient's outcome during admission using the available minimum features. </vt:lpstr>
      <vt:lpstr>Use Case 4 - The hospital has limited available beds. Several patients have been referred for admission, and the administration wants to determine how to prioritize the available beds.</vt:lpstr>
      <vt:lpstr>Why these methods fit</vt:lpstr>
      <vt:lpstr>Limitations and questions for you</vt:lpstr>
      <vt:lpstr>Cooperation with AI</vt:lpstr>
      <vt:lpstr>PowerPoint Presentation</vt:lpstr>
      <vt:lpstr>References</vt:lpstr>
      <vt:lpstr>Thank you for your engagement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Sepsis survival prediction</dc:title>
  <dc:creator>Christian Schinkel</dc:creator>
  <cp:lastModifiedBy>Christian Schinkel</cp:lastModifiedBy>
  <cp:revision>2</cp:revision>
  <dcterms:created xsi:type="dcterms:W3CDTF">2026-09-25T07:37:47Z</dcterms:created>
  <dcterms:modified xsi:type="dcterms:W3CDTF">2026-09-28T12:38:06Z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0x010100FDEA9E5426AFC6429736A46F0DA455F2</vt:lpwstr>
  </property>
  <property fmtid="{D5CDD505-2E9C-101B-9397-08002B2CF9AE}" pid="3" name="Order">
    <vt:r8>32000</vt:r8>
  </property>
  <property fmtid="{D5CDD505-2E9C-101B-9397-08002B2CF9AE}" pid="4" name="MediaServiceImageTags">
    <vt:lpwstr/>
  </property>
  <property fmtid="{D5CDD505-2E9C-101B-9397-08002B2CF9AE}" pid="5" name="Godkänd">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xd_Signature">
    <vt:bool>false</vt:bool>
  </property>
</Properties>
</file>