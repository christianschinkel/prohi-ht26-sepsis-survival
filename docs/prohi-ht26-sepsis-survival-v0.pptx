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04" r:id="rId5"/>
    <p:sldId id="301" r:id="rId6"/>
    <p:sldId id="311" r:id="rId7"/>
    <p:sldId id="310" r:id="rId8"/>
    <p:sldId id="309" r:id="rId9"/>
    <p:sldId id="308" r:id="rId10"/>
    <p:sldId id="307" r:id="rId11"/>
    <p:sldId id="305" r:id="rId12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ktioner" id="{6E6E6ECD-356C-4D49-9D22-22C3E7AF66C1}">
          <p14:sldIdLst/>
        </p14:section>
        <p14:section name="Presentation" id="{B972C155-D5BF-46A7-B591-A42909CFC1FA}">
          <p14:sldIdLst>
            <p14:sldId id="304"/>
            <p14:sldId id="301"/>
            <p14:sldId id="311"/>
            <p14:sldId id="310"/>
            <p14:sldId id="309"/>
            <p14:sldId id="308"/>
            <p14:sldId id="307"/>
            <p14:sldId id="30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C0552AA-E825-9B4D-910E-EAF2B48A64D8}" name="Josefine Fahlström" initials="JF" userId="S::josefine@rehngruppen.se::95f19734-20da-42a3-84f5-fc5f81c35d2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8E2D0A-40BC-46F0-A3B2-9EBAD6CBA134}" v="88" dt="2020-03-16T10:32:41.9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85" autoAdjust="0"/>
    <p:restoredTop sz="96170" autoAdjust="0"/>
  </p:normalViewPr>
  <p:slideViewPr>
    <p:cSldViewPr snapToGrid="0">
      <p:cViewPr varScale="1">
        <p:scale>
          <a:sx n="98" d="100"/>
          <a:sy n="98" d="100"/>
        </p:scale>
        <p:origin x="208" y="6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92" d="100"/>
          <a:sy n="92" d="100"/>
        </p:scale>
        <p:origin x="364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>
            <a:extLst>
              <a:ext uri="{FF2B5EF4-FFF2-40B4-BE49-F238E27FC236}">
                <a16:creationId xmlns:a16="http://schemas.microsoft.com/office/drawing/2014/main" id="{2CB07928-A75A-F107-620A-42E182A6EB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F5CB8B71-ED55-3CBF-1F30-436B288EF81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640C19-4F6C-45C5-B912-E9BC3B732BE0}" type="datetimeFigureOut">
              <a:rPr lang="sv-SE" smtClean="0"/>
              <a:t>2026-09-26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433D137E-D9E6-E5D5-B137-956C475C75B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7F92D41C-250D-69B0-3DFB-1935D1F1EA4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85218D-4E59-4AD4-B444-209800A8E34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92902891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7650A7-E0AD-43B4-860B-B6EA87638F4F}" type="datetimeFigureOut">
              <a:rPr lang="sv-SE" smtClean="0"/>
              <a:t>2026-09-26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58DAD-563E-44C2-9634-954658D40E6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21070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ubrikbild - kv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>
            <a:extLst>
              <a:ext uri="{FF2B5EF4-FFF2-40B4-BE49-F238E27FC236}">
                <a16:creationId xmlns:a16="http://schemas.microsoft.com/office/drawing/2014/main" id="{A515873A-FD41-4820-315E-A137B74F0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5000"/>
          </a:blip>
          <a:srcRect b="24133"/>
          <a:stretch/>
        </p:blipFill>
        <p:spPr>
          <a:xfrm>
            <a:off x="3911999" y="3585356"/>
            <a:ext cx="5283200" cy="3276000"/>
          </a:xfrm>
          <a:prstGeom prst="rect">
            <a:avLst/>
          </a:prstGeom>
        </p:spPr>
      </p:pic>
      <p:sp>
        <p:nvSpPr>
          <p:cNvPr id="2" name="Rubrik 1">
            <a:extLst>
              <a:ext uri="{FF2B5EF4-FFF2-40B4-BE49-F238E27FC236}">
                <a16:creationId xmlns:a16="http://schemas.microsoft.com/office/drawing/2014/main" id="{A258EC79-F416-4E3D-A67E-4A13E80045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7" y="1714682"/>
            <a:ext cx="10944225" cy="1244420"/>
          </a:xfrm>
        </p:spPr>
        <p:txBody>
          <a:bodyPr anchor="b"/>
          <a:lstStyle>
            <a:lvl1pPr algn="l">
              <a:defRPr sz="5400"/>
            </a:lvl1pPr>
          </a:lstStyle>
          <a:p>
            <a:endParaRPr lang="sv-SE" dirty="0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0B04F11C-8931-4F2C-862F-B58C9926FB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887" y="3046394"/>
            <a:ext cx="10944225" cy="804249"/>
          </a:xfrm>
        </p:spPr>
        <p:txBody>
          <a:bodyPr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81FD2A41-9C0C-486B-814D-D78D722ED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6683-F536-42AB-ABBC-F4803DFE8DBC}" type="slidenum">
              <a:rPr lang="sv-SE" smtClean="0"/>
              <a:t>‹#›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637ACD31-1B3B-4C51-AAAF-B74C576BA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964F6B1-10EC-43D7-8A6F-B43A304B5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074BD-6C45-4FCF-A977-E03D0A6EB9F6}" type="datetime1">
              <a:rPr lang="sv-SE" smtClean="0"/>
              <a:t>2026-09-26</a:t>
            </a:fld>
            <a:endParaRPr lang="sv-SE" dirty="0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438D95FB-4B91-FBAA-0146-1B55B51A50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9895256" y="5953507"/>
            <a:ext cx="2296744" cy="86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6926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ubrikbild - 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258EC79-F416-4E3D-A67E-4A13E80045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7" y="1714682"/>
            <a:ext cx="10944225" cy="1244420"/>
          </a:xfrm>
        </p:spPr>
        <p:txBody>
          <a:bodyPr anchor="b"/>
          <a:lstStyle>
            <a:lvl1pPr algn="l">
              <a:defRPr sz="5400"/>
            </a:lvl1pPr>
          </a:lstStyle>
          <a:p>
            <a:endParaRPr lang="sv-SE" dirty="0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0B04F11C-8931-4F2C-862F-B58C9926FB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887" y="3046395"/>
            <a:ext cx="10944225" cy="804249"/>
          </a:xfrm>
        </p:spPr>
        <p:txBody>
          <a:bodyPr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81FD2A41-9C0C-486B-814D-D78D722ED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6683-F536-42AB-ABBC-F4803DFE8DBC}" type="slidenum">
              <a:rPr lang="sv-SE" smtClean="0"/>
              <a:t>‹#›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637ACD31-1B3B-4C51-AAAF-B74C576BA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964F6B1-10EC-43D7-8A6F-B43A304B5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39853-84F3-4A23-8525-80D1222EF800}" type="datetime1">
              <a:rPr lang="sv-SE" smtClean="0"/>
              <a:t>2026-09-26</a:t>
            </a:fld>
            <a:endParaRPr lang="sv-SE" dirty="0"/>
          </a:p>
        </p:txBody>
      </p:sp>
      <p:pic>
        <p:nvPicPr>
          <p:cNvPr id="9" name="Picture 3">
            <a:extLst>
              <a:ext uri="{FF2B5EF4-FFF2-40B4-BE49-F238E27FC236}">
                <a16:creationId xmlns:a16="http://schemas.microsoft.com/office/drawing/2014/main" id="{6B85FD5A-2661-1A40-3003-ABE0810BD4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5000"/>
          </a:blip>
          <a:srcRect t="2" b="15583"/>
          <a:stretch/>
        </p:blipFill>
        <p:spPr>
          <a:xfrm>
            <a:off x="3680177" y="3330084"/>
            <a:ext cx="6112080" cy="3528000"/>
          </a:xfrm>
          <a:prstGeom prst="rect">
            <a:avLst/>
          </a:prstGeom>
        </p:spPr>
      </p:pic>
      <p:pic>
        <p:nvPicPr>
          <p:cNvPr id="7" name="Bildobjekt 6">
            <a:extLst>
              <a:ext uri="{FF2B5EF4-FFF2-40B4-BE49-F238E27FC236}">
                <a16:creationId xmlns:a16="http://schemas.microsoft.com/office/drawing/2014/main" id="{2FFC4659-1462-8E24-3EF2-FDDDF134CA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9895256" y="5953507"/>
            <a:ext cx="2296744" cy="86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314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ubrikbild - kron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258EC79-F416-4E3D-A67E-4A13E80045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7" y="1714682"/>
            <a:ext cx="10944225" cy="1244420"/>
          </a:xfrm>
        </p:spPr>
        <p:txBody>
          <a:bodyPr anchor="b"/>
          <a:lstStyle>
            <a:lvl1pPr algn="l">
              <a:defRPr sz="5400"/>
            </a:lvl1pPr>
          </a:lstStyle>
          <a:p>
            <a:endParaRPr lang="sv-SE" dirty="0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0B04F11C-8931-4F2C-862F-B58C9926FB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887" y="3046395"/>
            <a:ext cx="10944225" cy="804249"/>
          </a:xfrm>
        </p:spPr>
        <p:txBody>
          <a:bodyPr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81FD2A41-9C0C-486B-814D-D78D722ED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6683-F536-42AB-ABBC-F4803DFE8DBC}" type="slidenum">
              <a:rPr lang="sv-SE" smtClean="0"/>
              <a:t>‹#›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637ACD31-1B3B-4C51-AAAF-B74C576BA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964F6B1-10EC-43D7-8A6F-B43A304B5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94CBC-9D0A-4C28-8159-8F03D1B934D1}" type="datetime1">
              <a:rPr lang="sv-SE" smtClean="0"/>
              <a:t>2026-09-26</a:t>
            </a:fld>
            <a:endParaRPr lang="sv-SE" dirty="0"/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99A88B90-1D13-586E-ADBD-787CC857C4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5000"/>
          </a:blip>
          <a:srcRect b="8849"/>
          <a:stretch/>
        </p:blipFill>
        <p:spPr>
          <a:xfrm>
            <a:off x="3975100" y="3587626"/>
            <a:ext cx="4851400" cy="3276000"/>
          </a:xfrm>
          <a:prstGeom prst="rect">
            <a:avLst/>
          </a:prstGeom>
        </p:spPr>
      </p:pic>
      <p:pic>
        <p:nvPicPr>
          <p:cNvPr id="8" name="Bildobjekt 7">
            <a:extLst>
              <a:ext uri="{FF2B5EF4-FFF2-40B4-BE49-F238E27FC236}">
                <a16:creationId xmlns:a16="http://schemas.microsoft.com/office/drawing/2014/main" id="{563C44F6-67CA-FEF3-F8EC-C9A11F77CA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9895256" y="5953507"/>
            <a:ext cx="2296744" cy="86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969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ubrik, text och stor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ubrik 10">
            <a:extLst>
              <a:ext uri="{FF2B5EF4-FFF2-40B4-BE49-F238E27FC236}">
                <a16:creationId xmlns:a16="http://schemas.microsoft.com/office/drawing/2014/main" id="{3B78B7EB-C08E-D58F-9919-F81BF636B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334645"/>
            <a:ext cx="5148263" cy="6921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10" name="Platshållare för text 9">
            <a:extLst>
              <a:ext uri="{FF2B5EF4-FFF2-40B4-BE49-F238E27FC236}">
                <a16:creationId xmlns:a16="http://schemas.microsoft.com/office/drawing/2014/main" id="{8FF0C923-5139-430D-4B76-F572F1B798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888" y="1196975"/>
            <a:ext cx="5148263" cy="478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 dirty="0"/>
          </a:p>
        </p:txBody>
      </p:sp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3827E8E1-C8D9-4B0C-9F54-7001360B6DB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419850" y="0"/>
            <a:ext cx="5772150" cy="6857999"/>
          </a:xfrm>
        </p:spPr>
        <p:txBody>
          <a:bodyPr lIns="36000" tIns="72000" rIns="0"/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v-SE" dirty="0"/>
              <a:t> Klicka på ikonen för att lägga till en bild</a:t>
            </a:r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BC5C5AB0-F210-4270-9F00-E64EE6E2C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6683-F536-42AB-ABBC-F4803DFE8DBC}" type="slidenum">
              <a:rPr lang="sv-SE" smtClean="0"/>
              <a:t>‹#›</a:t>
            </a:fld>
            <a:endParaRPr lang="sv-SE" dirty="0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88BBB9DA-077E-4748-B71A-39B1A6673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DC5274B3-FC50-4805-83A6-333B89BE4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E4B1A-67D0-4D16-B5AA-C1FAC55098A4}" type="datetime1">
              <a:rPr lang="sv-SE" smtClean="0"/>
              <a:t>2026-09-26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257198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, text och liten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ubrik 10">
            <a:extLst>
              <a:ext uri="{FF2B5EF4-FFF2-40B4-BE49-F238E27FC236}">
                <a16:creationId xmlns:a16="http://schemas.microsoft.com/office/drawing/2014/main" id="{3B78B7EB-C08E-D58F-9919-F81BF636B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334645"/>
            <a:ext cx="5148263" cy="6921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10" name="Platshållare för text 9">
            <a:extLst>
              <a:ext uri="{FF2B5EF4-FFF2-40B4-BE49-F238E27FC236}">
                <a16:creationId xmlns:a16="http://schemas.microsoft.com/office/drawing/2014/main" id="{8FF0C923-5139-430D-4B76-F572F1B798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888" y="1196975"/>
            <a:ext cx="5148263" cy="478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 dirty="0"/>
          </a:p>
        </p:txBody>
      </p:sp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3827E8E1-C8D9-4B0C-9F54-7001360B6DB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419850" y="620713"/>
            <a:ext cx="5148262" cy="5364162"/>
          </a:xfrm>
        </p:spPr>
        <p:txBody>
          <a:bodyPr lIns="36000" tIns="72000" rIns="0"/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v-SE" dirty="0"/>
              <a:t> Klicka på ikonen för att lägga till en bild</a:t>
            </a:r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BC5C5AB0-F210-4270-9F00-E64EE6E2C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6683-F536-42AB-ABBC-F4803DFE8DBC}" type="slidenum">
              <a:rPr lang="sv-SE" smtClean="0"/>
              <a:t>‹#›</a:t>
            </a:fld>
            <a:endParaRPr lang="sv-SE" dirty="0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88BBB9DA-077E-4748-B71A-39B1A6673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DC5274B3-FC50-4805-83A6-333B89BE4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ECCFC-C7F6-4169-9EC3-2ED499031583}" type="datetime1">
              <a:rPr lang="sv-SE" smtClean="0"/>
              <a:t>2026-09-26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794813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ubrik 10">
            <a:extLst>
              <a:ext uri="{FF2B5EF4-FFF2-40B4-BE49-F238E27FC236}">
                <a16:creationId xmlns:a16="http://schemas.microsoft.com/office/drawing/2014/main" id="{3B78B7EB-C08E-D58F-9919-F81BF636B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334645"/>
            <a:ext cx="5148262" cy="6921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10" name="Platshållare för text 9">
            <a:extLst>
              <a:ext uri="{FF2B5EF4-FFF2-40B4-BE49-F238E27FC236}">
                <a16:creationId xmlns:a16="http://schemas.microsoft.com/office/drawing/2014/main" id="{8FF0C923-5139-430D-4B76-F572F1B798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888" y="1196975"/>
            <a:ext cx="5148262" cy="478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 dirty="0"/>
          </a:p>
        </p:txBody>
      </p:sp>
      <p:sp>
        <p:nvSpPr>
          <p:cNvPr id="4" name="Platshållare för text 9">
            <a:extLst>
              <a:ext uri="{FF2B5EF4-FFF2-40B4-BE49-F238E27FC236}">
                <a16:creationId xmlns:a16="http://schemas.microsoft.com/office/drawing/2014/main" id="{98BADF9E-A12F-356B-E3C2-04A1281C31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19851" y="1196975"/>
            <a:ext cx="5148262" cy="478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 dirty="0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BC5C5AB0-F210-4270-9F00-E64EE6E2C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6683-F536-42AB-ABBC-F4803DFE8DBC}" type="slidenum">
              <a:rPr lang="sv-SE" smtClean="0"/>
              <a:t>‹#›</a:t>
            </a:fld>
            <a:endParaRPr lang="sv-SE" dirty="0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88BBB9DA-077E-4748-B71A-39B1A6673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DC5274B3-FC50-4805-83A6-333B89BE4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B7AEC-EA51-4EC6-AD4F-20307B092D6F}" type="datetime1">
              <a:rPr lang="sv-SE" smtClean="0"/>
              <a:t>2026-09-26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661159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6B25631-0701-40C3-A2E5-991715C62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334645"/>
            <a:ext cx="9000000" cy="6921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94DD60AF-FC73-41DA-8ECD-F5290F6D92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196975"/>
            <a:ext cx="9000000" cy="478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9C085466-4788-495F-AA4A-842866450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6683-F536-42AB-ABBC-F4803DFE8DBC}" type="slidenum">
              <a:rPr lang="sv-SE" smtClean="0"/>
              <a:t>‹#›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094C615-7E13-4A8A-90D6-32013DC87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0976B228-402E-404C-A134-9A6A7E7BB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49F37-9EFB-43E9-B1AA-0A134B35AE81}" type="datetime1">
              <a:rPr lang="sv-SE" smtClean="0"/>
              <a:t>2026-09-26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5005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sida - blå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258EC79-F416-4E3D-A67E-4A13E80045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7" y="1714682"/>
            <a:ext cx="10944225" cy="1244420"/>
          </a:xfrm>
        </p:spPr>
        <p:txBody>
          <a:bodyPr anchor="b"/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81FD2A41-9C0C-486B-814D-D78D722ED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tx1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086683-F536-42AB-ABBC-F4803DFE8DBC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637ACD31-1B3B-4C51-AAAF-B74C576BA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964F6B1-10EC-43D7-8A6F-B43A304B5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B88BD0F-71AF-4521-AD7F-1C42293E1D37}" type="datetime1">
              <a:rPr lang="sv-SE" smtClean="0"/>
              <a:t>2026-09-26</a:t>
            </a:fld>
            <a:endParaRPr lang="sv-SE" dirty="0"/>
          </a:p>
        </p:txBody>
      </p:sp>
      <p:pic>
        <p:nvPicPr>
          <p:cNvPr id="10" name="Bildobjekt 8">
            <a:extLst>
              <a:ext uri="{FF2B5EF4-FFF2-40B4-BE49-F238E27FC236}">
                <a16:creationId xmlns:a16="http://schemas.microsoft.com/office/drawing/2014/main" id="{48F77B2E-B0DC-1BF3-E255-96650F6DBE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10486800" y="6123601"/>
            <a:ext cx="1663200" cy="625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1719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sida - oran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258EC79-F416-4E3D-A67E-4A13E80045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7" y="1714682"/>
            <a:ext cx="10944225" cy="1244420"/>
          </a:xfrm>
        </p:spPr>
        <p:txBody>
          <a:bodyPr anchor="b"/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81FD2A41-9C0C-486B-814D-D78D722ED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tx1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086683-F536-42AB-ABBC-F4803DFE8DBC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637ACD31-1B3B-4C51-AAAF-B74C576BA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964F6B1-10EC-43D7-8A6F-B43A304B5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8D8713-1142-4327-A0B3-14822AE2BECC}" type="datetime1">
              <a:rPr lang="sv-SE" smtClean="0"/>
              <a:t>2026-09-26</a:t>
            </a:fld>
            <a:endParaRPr lang="sv-SE" dirty="0"/>
          </a:p>
        </p:txBody>
      </p:sp>
      <p:pic>
        <p:nvPicPr>
          <p:cNvPr id="10" name="Bildobjekt 8">
            <a:extLst>
              <a:ext uri="{FF2B5EF4-FFF2-40B4-BE49-F238E27FC236}">
                <a16:creationId xmlns:a16="http://schemas.microsoft.com/office/drawing/2014/main" id="{48F77B2E-B0DC-1BF3-E255-96650F6DBE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10486800" y="6123601"/>
            <a:ext cx="1663200" cy="625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6324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sida - grö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258EC79-F416-4E3D-A67E-4A13E80045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7" y="1714682"/>
            <a:ext cx="10944225" cy="1244420"/>
          </a:xfrm>
        </p:spPr>
        <p:txBody>
          <a:bodyPr anchor="b"/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81FD2A41-9C0C-486B-814D-D78D722ED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tx1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086683-F536-42AB-ABBC-F4803DFE8DBC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637ACD31-1B3B-4C51-AAAF-B74C576BA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964F6B1-10EC-43D7-8A6F-B43A304B5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2F632AA-0142-45B7-8E85-FD026349257C}" type="datetime1">
              <a:rPr lang="sv-SE" smtClean="0"/>
              <a:t>2026-09-26</a:t>
            </a:fld>
            <a:endParaRPr lang="sv-SE" dirty="0"/>
          </a:p>
        </p:txBody>
      </p:sp>
      <p:pic>
        <p:nvPicPr>
          <p:cNvPr id="10" name="Bildobjekt 8">
            <a:extLst>
              <a:ext uri="{FF2B5EF4-FFF2-40B4-BE49-F238E27FC236}">
                <a16:creationId xmlns:a16="http://schemas.microsoft.com/office/drawing/2014/main" id="{48F77B2E-B0DC-1BF3-E255-96650F6DBE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10486800" y="6123601"/>
            <a:ext cx="1663200" cy="625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906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sida - ljusblå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258EC79-F416-4E3D-A67E-4A13E80045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7" y="1714682"/>
            <a:ext cx="10944225" cy="1244420"/>
          </a:xfrm>
        </p:spPr>
        <p:txBody>
          <a:bodyPr anchor="b"/>
          <a:lstStyle>
            <a:lvl1pPr algn="l">
              <a:defRPr sz="5400">
                <a:solidFill>
                  <a:schemeClr val="bg2"/>
                </a:solidFill>
              </a:defRPr>
            </a:lvl1pPr>
          </a:lstStyle>
          <a:p>
            <a:endParaRPr lang="sv-SE" dirty="0"/>
          </a:p>
        </p:txBody>
      </p:sp>
      <p:sp>
        <p:nvSpPr>
          <p:cNvPr id="8" name="Platshållare för bildnummer 7">
            <a:extLst>
              <a:ext uri="{FF2B5EF4-FFF2-40B4-BE49-F238E27FC236}">
                <a16:creationId xmlns:a16="http://schemas.microsoft.com/office/drawing/2014/main" id="{3016E4C3-9E99-B729-232E-84386F182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bg2"/>
            </a:solidFill>
          </a:ln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086683-F536-42AB-ABBC-F4803DFE8DBC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7" name="Platshållare för sidfot 6">
            <a:extLst>
              <a:ext uri="{FF2B5EF4-FFF2-40B4-BE49-F238E27FC236}">
                <a16:creationId xmlns:a16="http://schemas.microsoft.com/office/drawing/2014/main" id="{A82196CD-BF64-C9E2-75F5-8DBF87F86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sv-SE" dirty="0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D3805F1E-D8C8-C0B1-FB03-ECFB5F053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B49FC9D-7C32-4E59-A2B3-79162D05DC75}" type="datetime1">
              <a:rPr lang="sv-SE" smtClean="0"/>
              <a:t>2026-09-26</a:t>
            </a:fld>
            <a:endParaRPr lang="sv-SE" dirty="0"/>
          </a:p>
        </p:txBody>
      </p:sp>
      <p:pic>
        <p:nvPicPr>
          <p:cNvPr id="5" name="Bildobjekt 8">
            <a:extLst>
              <a:ext uri="{FF2B5EF4-FFF2-40B4-BE49-F238E27FC236}">
                <a16:creationId xmlns:a16="http://schemas.microsoft.com/office/drawing/2014/main" id="{599D70C6-0B5F-C067-19B6-6A05F81816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86800" y="6123601"/>
            <a:ext cx="1663200" cy="62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7070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258EC79-F416-4E3D-A67E-4A13E800458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5461" y="1757443"/>
            <a:ext cx="9209093" cy="1768511"/>
          </a:xfrm>
        </p:spPr>
        <p:txBody>
          <a:bodyPr anchor="b"/>
          <a:lstStyle>
            <a:lvl1pPr algn="l">
              <a:defRPr sz="5400"/>
            </a:lvl1pPr>
          </a:lstStyle>
          <a:p>
            <a:r>
              <a:rPr lang="sv-SE" dirty="0"/>
              <a:t>”Citat”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0B04F11C-8931-4F2C-862F-B58C9926FB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5461" y="3607060"/>
            <a:ext cx="9209093" cy="373822"/>
          </a:xfrm>
        </p:spPr>
        <p:txBody>
          <a:bodyPr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 dirty="0"/>
              <a:t>Förnamn Efternamn, titel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81FD2A41-9C0C-486B-814D-D78D722ED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6683-F536-42AB-ABBC-F4803DFE8DBC}" type="slidenum">
              <a:rPr lang="sv-SE" smtClean="0"/>
              <a:t>‹#›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637ACD31-1B3B-4C51-AAAF-B74C576BA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964F6B1-10EC-43D7-8A6F-B43A304B5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3B88B-7199-46E8-B955-CD043252A387}" type="datetime1">
              <a:rPr lang="sv-SE" smtClean="0"/>
              <a:t>2026-09-26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1021168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 - mö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5571902-9019-4326-9DA4-70B9743B4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3F1E028D-3B14-4181-8E8B-87D9D42D9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6683-F536-42AB-ABBC-F4803DFE8DBC}" type="slidenum">
              <a:rPr lang="sv-SE" smtClean="0"/>
              <a:t>‹#›</a:t>
            </a:fld>
            <a:endParaRPr lang="sv-SE" dirty="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86059243-015F-4404-ADE1-14E49E031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4B906970-3E04-4D0D-B628-981C4A918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06B92-0229-4386-931F-2F6B833066AC}" type="datetime1">
              <a:rPr lang="sv-SE" smtClean="0"/>
              <a:t>2026-09-26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1932127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Endast rubrik - ljusblå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5571902-9019-4326-9DA4-70B9743B4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3F1E028D-3B14-4181-8E8B-87D9D42D9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bg2"/>
            </a:solidFill>
          </a:ln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086683-F536-42AB-ABBC-F4803DFE8DBC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86059243-015F-4404-ADE1-14E49E031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sv-SE" dirty="0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4B906970-3E04-4D0D-B628-981C4A918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E04F787-9230-40DF-B7DB-331DC9727D74}" type="datetime1">
              <a:rPr lang="sv-SE" smtClean="0"/>
              <a:t>2026-09-26</a:t>
            </a:fld>
            <a:endParaRPr lang="sv-SE" dirty="0"/>
          </a:p>
        </p:txBody>
      </p:sp>
      <p:pic>
        <p:nvPicPr>
          <p:cNvPr id="6" name="Bildobjekt 8">
            <a:extLst>
              <a:ext uri="{FF2B5EF4-FFF2-40B4-BE49-F238E27FC236}">
                <a16:creationId xmlns:a16="http://schemas.microsoft.com/office/drawing/2014/main" id="{8918E4C6-E157-5D35-4C91-34D262D1AF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86800" y="6123601"/>
            <a:ext cx="1663200" cy="62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6325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utsid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258EC79-F416-4E3D-A67E-4A13E80045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7" y="2490823"/>
            <a:ext cx="10944225" cy="931862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endParaRPr lang="sv-SE" dirty="0"/>
          </a:p>
        </p:txBody>
      </p:sp>
      <p:sp>
        <p:nvSpPr>
          <p:cNvPr id="8" name="Platshållare för bildnummer 7">
            <a:extLst>
              <a:ext uri="{FF2B5EF4-FFF2-40B4-BE49-F238E27FC236}">
                <a16:creationId xmlns:a16="http://schemas.microsoft.com/office/drawing/2014/main" id="{3016E4C3-9E99-B729-232E-84386F182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8827" y="7142162"/>
            <a:ext cx="331152" cy="152400"/>
          </a:xfrm>
          <a:ln>
            <a:solidFill>
              <a:schemeClr val="tx1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086683-F536-42AB-ABBC-F4803DFE8DBC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7" name="Platshållare för sidfot 6">
            <a:extLst>
              <a:ext uri="{FF2B5EF4-FFF2-40B4-BE49-F238E27FC236}">
                <a16:creationId xmlns:a16="http://schemas.microsoft.com/office/drawing/2014/main" id="{A82196CD-BF64-C9E2-75F5-8DBF87F86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89360" y="7142162"/>
            <a:ext cx="4373880" cy="152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sv-SE" dirty="0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D3805F1E-D8C8-C0B1-FB03-ECFB5F053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0A0E724-71C1-44B9-95EE-3658AF63CBF6}" type="datetime1">
              <a:rPr lang="sv-SE" smtClean="0"/>
              <a:t>2026-09-26</a:t>
            </a:fld>
            <a:endParaRPr lang="sv-SE" dirty="0"/>
          </a:p>
        </p:txBody>
      </p:sp>
      <p:pic>
        <p:nvPicPr>
          <p:cNvPr id="9" name="Bildobjekt 8">
            <a:extLst>
              <a:ext uri="{FF2B5EF4-FFF2-40B4-BE49-F238E27FC236}">
                <a16:creationId xmlns:a16="http://schemas.microsoft.com/office/drawing/2014/main" id="{BBC40F68-E7A9-CD97-53A1-9709F93CD7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4948029" y="5494138"/>
            <a:ext cx="2295942" cy="864000"/>
          </a:xfrm>
          <a:prstGeom prst="rect">
            <a:avLst/>
          </a:prstGeom>
        </p:spPr>
      </p:pic>
      <p:sp>
        <p:nvSpPr>
          <p:cNvPr id="10" name="Underrubrik 2">
            <a:extLst>
              <a:ext uri="{FF2B5EF4-FFF2-40B4-BE49-F238E27FC236}">
                <a16:creationId xmlns:a16="http://schemas.microsoft.com/office/drawing/2014/main" id="{8BC4C205-42FA-7026-F121-AC3A6105F7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887" y="3600645"/>
            <a:ext cx="9289609" cy="373822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 dirty="0"/>
              <a:t>Namn</a:t>
            </a:r>
          </a:p>
        </p:txBody>
      </p:sp>
      <p:cxnSp>
        <p:nvCxnSpPr>
          <p:cNvPr id="12" name="Rak koppling 11">
            <a:extLst>
              <a:ext uri="{FF2B5EF4-FFF2-40B4-BE49-F238E27FC236}">
                <a16:creationId xmlns:a16="http://schemas.microsoft.com/office/drawing/2014/main" id="{989C65A2-616E-A6CC-2CBB-A2682885539C}"/>
              </a:ext>
            </a:extLst>
          </p:cNvPr>
          <p:cNvCxnSpPr/>
          <p:nvPr userDrawn="1"/>
        </p:nvCxnSpPr>
        <p:spPr>
          <a:xfrm>
            <a:off x="623887" y="5232400"/>
            <a:ext cx="10944225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36413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ubrik 5">
            <a:extLst>
              <a:ext uri="{FF2B5EF4-FFF2-40B4-BE49-F238E27FC236}">
                <a16:creationId xmlns:a16="http://schemas.microsoft.com/office/drawing/2014/main" id="{329F01DE-5487-1725-1C60-6BD0909EA1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6" y="-834231"/>
            <a:ext cx="10944225" cy="692150"/>
          </a:xfrm>
        </p:spPr>
        <p:txBody>
          <a:bodyPr/>
          <a:lstStyle>
            <a:lvl1pPr>
              <a:defRPr sz="2400">
                <a:solidFill>
                  <a:schemeClr val="bg2"/>
                </a:solidFill>
              </a:defRPr>
            </a:lvl1pPr>
          </a:lstStyle>
          <a:p>
            <a:r>
              <a:rPr lang="sv-SE" dirty="0"/>
              <a:t>Lägg till en rubrik här för tillgänglighetsanpassning</a:t>
            </a:r>
          </a:p>
        </p:txBody>
      </p:sp>
    </p:spTree>
    <p:extLst>
      <p:ext uri="{BB962C8B-B14F-4D97-AF65-F5344CB8AC3E}">
        <p14:creationId xmlns:p14="http://schemas.microsoft.com/office/powerpoint/2010/main" val="1800422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152683E2-9A31-4B47-ACFE-390B6E0AF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334645"/>
            <a:ext cx="10944225" cy="69215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81C0710F-3CB3-4F01-9977-A1A69928F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1196975"/>
            <a:ext cx="10944225" cy="47879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  <a:p>
            <a:pPr lvl="5"/>
            <a:r>
              <a:rPr lang="sv-SE" dirty="0"/>
              <a:t>Nivå 6</a:t>
            </a:r>
          </a:p>
          <a:p>
            <a:pPr lvl="6"/>
            <a:r>
              <a:rPr lang="sv-SE" dirty="0"/>
              <a:t>Nivå 7</a:t>
            </a:r>
          </a:p>
          <a:p>
            <a:pPr lvl="7"/>
            <a:r>
              <a:rPr lang="sv-SE" dirty="0"/>
              <a:t>Nivå 8</a:t>
            </a:r>
          </a:p>
          <a:p>
            <a:pPr lvl="8"/>
            <a:r>
              <a:rPr lang="sv-SE" dirty="0"/>
              <a:t>Nivå 9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37249AA9-CC7D-40E0-9894-3652F2EE8C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1518" y="6337300"/>
            <a:ext cx="331152" cy="152400"/>
          </a:xfrm>
          <a:custGeom>
            <a:avLst/>
            <a:gdLst>
              <a:gd name="connsiteX0" fmla="*/ 0 w 331152"/>
              <a:gd name="connsiteY0" fmla="*/ 0 h 152400"/>
              <a:gd name="connsiteX1" fmla="*/ 331152 w 331152"/>
              <a:gd name="connsiteY1" fmla="*/ 0 h 152400"/>
              <a:gd name="connsiteX2" fmla="*/ 331152 w 331152"/>
              <a:gd name="connsiteY2" fmla="*/ 152400 h 152400"/>
              <a:gd name="connsiteX3" fmla="*/ 0 w 331152"/>
              <a:gd name="connsiteY3" fmla="*/ 152400 h 152400"/>
              <a:gd name="connsiteX4" fmla="*/ 0 w 331152"/>
              <a:gd name="connsiteY4" fmla="*/ 0 h 152400"/>
              <a:gd name="connsiteX0" fmla="*/ 328006 w 331152"/>
              <a:gd name="connsiteY0" fmla="*/ 0 h 152400"/>
              <a:gd name="connsiteX1" fmla="*/ 328006 w 331152"/>
              <a:gd name="connsiteY1" fmla="*/ 152400 h 152400"/>
              <a:gd name="connsiteX2" fmla="*/ 328006 w 331152"/>
              <a:gd name="connsiteY2" fmla="*/ 0 h 152400"/>
              <a:gd name="connsiteX0" fmla="*/ 328006 w 331152"/>
              <a:gd name="connsiteY0" fmla="*/ 147954 h 152400"/>
              <a:gd name="connsiteX1" fmla="*/ -55193 w 331152"/>
              <a:gd name="connsiteY1" fmla="*/ 28575 h 152400"/>
              <a:gd name="connsiteX2" fmla="*/ -154539 w 331152"/>
              <a:gd name="connsiteY2" fmla="*/ 171450 h 152400"/>
              <a:gd name="connsiteX0" fmla="*/ 154539 w 485691"/>
              <a:gd name="connsiteY0" fmla="*/ 0 h 171450"/>
              <a:gd name="connsiteX1" fmla="*/ 485691 w 485691"/>
              <a:gd name="connsiteY1" fmla="*/ 0 h 171450"/>
              <a:gd name="connsiteX2" fmla="*/ 485691 w 485691"/>
              <a:gd name="connsiteY2" fmla="*/ 152400 h 171450"/>
              <a:gd name="connsiteX3" fmla="*/ 154539 w 485691"/>
              <a:gd name="connsiteY3" fmla="*/ 152400 h 171450"/>
              <a:gd name="connsiteX4" fmla="*/ 154539 w 485691"/>
              <a:gd name="connsiteY4" fmla="*/ 0 h 171450"/>
              <a:gd name="connsiteX0" fmla="*/ 482545 w 485691"/>
              <a:gd name="connsiteY0" fmla="*/ 0 h 171450"/>
              <a:gd name="connsiteX1" fmla="*/ 482545 w 485691"/>
              <a:gd name="connsiteY1" fmla="*/ 152400 h 171450"/>
              <a:gd name="connsiteX2" fmla="*/ 482545 w 485691"/>
              <a:gd name="connsiteY2" fmla="*/ 0 h 171450"/>
              <a:gd name="connsiteX0" fmla="*/ 482545 w 485691"/>
              <a:gd name="connsiteY0" fmla="*/ 147954 h 171450"/>
              <a:gd name="connsiteX1" fmla="*/ 0 w 485691"/>
              <a:gd name="connsiteY1" fmla="*/ 171450 h 171450"/>
              <a:gd name="connsiteX0" fmla="*/ 0 w 331152"/>
              <a:gd name="connsiteY0" fmla="*/ 0 h 156210"/>
              <a:gd name="connsiteX1" fmla="*/ 331152 w 331152"/>
              <a:gd name="connsiteY1" fmla="*/ 0 h 156210"/>
              <a:gd name="connsiteX2" fmla="*/ 331152 w 331152"/>
              <a:gd name="connsiteY2" fmla="*/ 152400 h 156210"/>
              <a:gd name="connsiteX3" fmla="*/ 0 w 331152"/>
              <a:gd name="connsiteY3" fmla="*/ 152400 h 156210"/>
              <a:gd name="connsiteX4" fmla="*/ 0 w 331152"/>
              <a:gd name="connsiteY4" fmla="*/ 0 h 156210"/>
              <a:gd name="connsiteX0" fmla="*/ 328006 w 331152"/>
              <a:gd name="connsiteY0" fmla="*/ 0 h 156210"/>
              <a:gd name="connsiteX1" fmla="*/ 328006 w 331152"/>
              <a:gd name="connsiteY1" fmla="*/ 152400 h 156210"/>
              <a:gd name="connsiteX2" fmla="*/ 328006 w 331152"/>
              <a:gd name="connsiteY2" fmla="*/ 0 h 156210"/>
              <a:gd name="connsiteX0" fmla="*/ 328006 w 331152"/>
              <a:gd name="connsiteY0" fmla="*/ 147954 h 156210"/>
              <a:gd name="connsiteX1" fmla="*/ 401 w 331152"/>
              <a:gd name="connsiteY1" fmla="*/ 156210 h 156210"/>
              <a:gd name="connsiteX0" fmla="*/ 0 w 331152"/>
              <a:gd name="connsiteY0" fmla="*/ 0 h 152400"/>
              <a:gd name="connsiteX1" fmla="*/ 331152 w 331152"/>
              <a:gd name="connsiteY1" fmla="*/ 0 h 152400"/>
              <a:gd name="connsiteX2" fmla="*/ 331152 w 331152"/>
              <a:gd name="connsiteY2" fmla="*/ 152400 h 152400"/>
              <a:gd name="connsiteX3" fmla="*/ 0 w 331152"/>
              <a:gd name="connsiteY3" fmla="*/ 152400 h 152400"/>
              <a:gd name="connsiteX4" fmla="*/ 0 w 331152"/>
              <a:gd name="connsiteY4" fmla="*/ 0 h 152400"/>
              <a:gd name="connsiteX0" fmla="*/ 328006 w 331152"/>
              <a:gd name="connsiteY0" fmla="*/ 0 h 152400"/>
              <a:gd name="connsiteX1" fmla="*/ 328006 w 331152"/>
              <a:gd name="connsiteY1" fmla="*/ 152400 h 152400"/>
              <a:gd name="connsiteX2" fmla="*/ 328006 w 331152"/>
              <a:gd name="connsiteY2" fmla="*/ 0 h 152400"/>
              <a:gd name="connsiteX0" fmla="*/ 328006 w 331152"/>
              <a:gd name="connsiteY0" fmla="*/ 147954 h 152400"/>
              <a:gd name="connsiteX1" fmla="*/ 329966 w 331152"/>
              <a:gd name="connsiteY1" fmla="*/ 0 h 152400"/>
              <a:gd name="connsiteX0" fmla="*/ 0 w 331152"/>
              <a:gd name="connsiteY0" fmla="*/ 0 h 152400"/>
              <a:gd name="connsiteX1" fmla="*/ 331152 w 331152"/>
              <a:gd name="connsiteY1" fmla="*/ 0 h 152400"/>
              <a:gd name="connsiteX2" fmla="*/ 331152 w 331152"/>
              <a:gd name="connsiteY2" fmla="*/ 152400 h 152400"/>
              <a:gd name="connsiteX3" fmla="*/ 0 w 331152"/>
              <a:gd name="connsiteY3" fmla="*/ 152400 h 152400"/>
              <a:gd name="connsiteX4" fmla="*/ 0 w 331152"/>
              <a:gd name="connsiteY4" fmla="*/ 0 h 152400"/>
              <a:gd name="connsiteX0" fmla="*/ 328006 w 331152"/>
              <a:gd name="connsiteY0" fmla="*/ 0 h 152400"/>
              <a:gd name="connsiteX1" fmla="*/ 328006 w 331152"/>
              <a:gd name="connsiteY1" fmla="*/ 152400 h 152400"/>
              <a:gd name="connsiteX2" fmla="*/ 328006 w 331152"/>
              <a:gd name="connsiteY2" fmla="*/ 0 h 152400"/>
              <a:gd name="connsiteX0" fmla="*/ 328006 w 331152"/>
              <a:gd name="connsiteY0" fmla="*/ 147954 h 152400"/>
              <a:gd name="connsiteX1" fmla="*/ 329966 w 331152"/>
              <a:gd name="connsiteY1" fmla="*/ 0 h 152400"/>
              <a:gd name="connsiteX0" fmla="*/ 0 w 331152"/>
              <a:gd name="connsiteY0" fmla="*/ 0 h 152400"/>
              <a:gd name="connsiteX1" fmla="*/ 331152 w 331152"/>
              <a:gd name="connsiteY1" fmla="*/ 0 h 152400"/>
              <a:gd name="connsiteX2" fmla="*/ 331152 w 331152"/>
              <a:gd name="connsiteY2" fmla="*/ 152400 h 152400"/>
              <a:gd name="connsiteX3" fmla="*/ 0 w 331152"/>
              <a:gd name="connsiteY3" fmla="*/ 152400 h 152400"/>
              <a:gd name="connsiteX4" fmla="*/ 0 w 331152"/>
              <a:gd name="connsiteY4" fmla="*/ 0 h 152400"/>
              <a:gd name="connsiteX0" fmla="*/ 328006 w 331152"/>
              <a:gd name="connsiteY0" fmla="*/ 0 h 152400"/>
              <a:gd name="connsiteX1" fmla="*/ 328006 w 331152"/>
              <a:gd name="connsiteY1" fmla="*/ 152400 h 152400"/>
              <a:gd name="connsiteX2" fmla="*/ 328006 w 331152"/>
              <a:gd name="connsiteY2" fmla="*/ 0 h 152400"/>
              <a:gd name="connsiteX0" fmla="*/ 328006 w 331152"/>
              <a:gd name="connsiteY0" fmla="*/ 147954 h 152400"/>
              <a:gd name="connsiteX1" fmla="*/ 329966 w 331152"/>
              <a:gd name="connsiteY1" fmla="*/ 0 h 152400"/>
              <a:gd name="connsiteX2" fmla="*/ 328006 w 331152"/>
              <a:gd name="connsiteY2" fmla="*/ 147954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1152" h="152400" stroke="0" extrusionOk="0">
                <a:moveTo>
                  <a:pt x="0" y="0"/>
                </a:moveTo>
                <a:lnTo>
                  <a:pt x="331152" y="0"/>
                </a:lnTo>
                <a:lnTo>
                  <a:pt x="331152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  <a:path w="331152" h="152400" fill="none" extrusionOk="0">
                <a:moveTo>
                  <a:pt x="328006" y="0"/>
                </a:moveTo>
                <a:lnTo>
                  <a:pt x="328006" y="152400"/>
                </a:lnTo>
                <a:lnTo>
                  <a:pt x="328006" y="0"/>
                </a:lnTo>
                <a:close/>
              </a:path>
              <a:path w="331152" h="152400" fill="none" extrusionOk="0">
                <a:moveTo>
                  <a:pt x="328006" y="147954"/>
                </a:moveTo>
                <a:cubicBezTo>
                  <a:pt x="328659" y="98636"/>
                  <a:pt x="327408" y="154093"/>
                  <a:pt x="329966" y="0"/>
                </a:cubicBezTo>
                <a:lnTo>
                  <a:pt x="328006" y="147954"/>
                </a:lnTo>
                <a:close/>
              </a:path>
            </a:pathLst>
          </a:custGeom>
          <a:ln>
            <a:solidFill>
              <a:schemeClr val="tx1"/>
            </a:solidFill>
          </a:ln>
        </p:spPr>
        <p:txBody>
          <a:bodyPr vert="horz" lIns="0" tIns="0" rIns="108000" bIns="0" rtlCol="0" anchor="b">
            <a:noAutofit/>
          </a:bodyPr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AE086683-F536-42AB-ABBC-F4803DFE8DBC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5C0A3ABB-C906-40E9-AF35-0DB0B3403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2051" y="6337300"/>
            <a:ext cx="4373880" cy="1524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07D54BB-8EC7-458A-A082-8AF4306364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19850" y="7142162"/>
            <a:ext cx="2743200" cy="1524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fld id="{BE43B3F0-85C7-47F2-9BF1-EA94F77CC38B}" type="datetime1">
              <a:rPr lang="sv-SE" smtClean="0"/>
              <a:t>2026-09-26</a:t>
            </a:fld>
            <a:endParaRPr lang="sv-SE" dirty="0"/>
          </a:p>
        </p:txBody>
      </p:sp>
      <p:pic>
        <p:nvPicPr>
          <p:cNvPr id="8" name="Bildobjekt 9">
            <a:extLst>
              <a:ext uri="{FF2B5EF4-FFF2-40B4-BE49-F238E27FC236}">
                <a16:creationId xmlns:a16="http://schemas.microsoft.com/office/drawing/2014/main" id="{1CB4BF39-B1F0-1E00-9B91-C6364253C2F2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 bwMode="black">
          <a:xfrm>
            <a:off x="10487635" y="6124575"/>
            <a:ext cx="1659913" cy="624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382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2" r:id="rId4"/>
    <p:sldLayoutId id="2147483663" r:id="rId5"/>
    <p:sldLayoutId id="2147483664" r:id="rId6"/>
    <p:sldLayoutId id="2147483672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54" r:id="rId13"/>
    <p:sldLayoutId id="2147483671" r:id="rId14"/>
    <p:sldLayoutId id="2147483673" r:id="rId15"/>
    <p:sldLayoutId id="2147483655" r:id="rId16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5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460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691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921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382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6pPr>
      <a:lvl7pPr marL="1612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7pPr>
      <a:lvl8pPr marL="1843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8pPr>
      <a:lvl9pPr marL="2073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1" userDrawn="1">
          <p15:clr>
            <a:srgbClr val="F26B43"/>
          </p15:clr>
        </p15:guide>
        <p15:guide id="2" pos="393" userDrawn="1">
          <p15:clr>
            <a:srgbClr val="F26B43"/>
          </p15:clr>
        </p15:guide>
        <p15:guide id="3" pos="7287" userDrawn="1">
          <p15:clr>
            <a:srgbClr val="F26B43"/>
          </p15:clr>
        </p15:guide>
        <p15:guide id="4" orient="horz" pos="572" userDrawn="1">
          <p15:clr>
            <a:srgbClr val="F26B43"/>
          </p15:clr>
        </p15:guide>
        <p15:guide id="5" orient="horz" pos="754" userDrawn="1">
          <p15:clr>
            <a:srgbClr val="F26B43"/>
          </p15:clr>
        </p15:guide>
        <p15:guide id="6" pos="3840" userDrawn="1">
          <p15:clr>
            <a:srgbClr val="F26B43"/>
          </p15:clr>
        </p15:guide>
        <p15:guide id="7" pos="3636" userDrawn="1">
          <p15:clr>
            <a:srgbClr val="F26B43"/>
          </p15:clr>
        </p15:guide>
        <p15:guide id="8" pos="4044" userDrawn="1">
          <p15:clr>
            <a:srgbClr val="F26B43"/>
          </p15:clr>
        </p15:guide>
        <p15:guide id="9" pos="3432" userDrawn="1">
          <p15:clr>
            <a:srgbClr val="F26B43"/>
          </p15:clr>
        </p15:guide>
        <p15:guide id="10" orient="horz" pos="3770" userDrawn="1">
          <p15:clr>
            <a:srgbClr val="F26B43"/>
          </p15:clr>
        </p15:guide>
        <p15:guide id="11" orient="horz" pos="40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ubrik 4">
            <a:extLst>
              <a:ext uri="{FF2B5EF4-FFF2-40B4-BE49-F238E27FC236}">
                <a16:creationId xmlns:a16="http://schemas.microsoft.com/office/drawing/2014/main" id="{3DB4383A-EF4D-3E59-03ED-B6FB59F70D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/>
              <a:t>Sepsis survival from minimal clinical records</a:t>
            </a:r>
            <a:endParaRPr lang="sv-SE" dirty="0"/>
          </a:p>
        </p:txBody>
      </p:sp>
      <p:sp>
        <p:nvSpPr>
          <p:cNvPr id="6" name="Underrubrik 5">
            <a:extLst>
              <a:ext uri="{FF2B5EF4-FFF2-40B4-BE49-F238E27FC236}">
                <a16:creationId xmlns:a16="http://schemas.microsoft.com/office/drawing/2014/main" id="{9AF223CE-94DD-7626-0F39-20EB2FBE18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v-SE"/>
              <a:t>A health use case across four decision-making families</a:t>
            </a:r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466BE1BD-B3BE-6989-DB0F-DA6A6DE2C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PROHI HT2026 · Group 2 · Seminar 28 September 2026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668090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2CF50AC-9062-A7BA-906A-3898FD77B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Three variables may support early risk stratification — but not replace clinical judgment</a:t>
            </a:r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172BB727-1624-321F-AEB2-8A4B2F2F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C722CF-3816-F141-954F-C10E659C7612}"/>
              </a:ext>
            </a:extLst>
          </p:cNvPr>
          <p:cNvSpPr txBox="1"/>
          <p:nvPr/>
        </p:nvSpPr>
        <p:spPr>
          <a:xfrm>
            <a:off x="635000" y="13716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400" b="1">
                <a:solidFill>
                  <a:srgbClr val="63B3D1"/>
                </a:solidFill>
                <a:latin typeface="Arial"/>
                <a:cs typeface="Arial"/>
              </a:rPr>
              <a:t>CLINICAL CONTEXT</a:t>
            </a:r>
            <a:endParaRPr lang="en-US" sz="1400" b="1" dirty="0">
              <a:solidFill>
                <a:srgbClr val="63B3D1"/>
              </a:solidFill>
              <a:latin typeface="Arial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18FD01-6EFE-A94F-82CC-6519990F988E}"/>
              </a:ext>
            </a:extLst>
          </p:cNvPr>
          <p:cNvSpPr txBox="1"/>
          <p:nvPr/>
        </p:nvSpPr>
        <p:spPr>
          <a:xfrm>
            <a:off x="635000" y="1727200"/>
            <a:ext cx="4445000" cy="1168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2000">
                <a:solidFill>
                  <a:srgbClr val="FFFFFF"/>
                </a:solidFill>
                <a:latin typeface="Arial"/>
                <a:cs typeface="Arial"/>
              </a:rPr>
              <a:t>Sepsis is associated with high mortality. Earlier recognition of high-risk patients can support triage, monitoring and escalation decisions.</a:t>
            </a:r>
            <a:endParaRPr lang="en-US" sz="20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D95D61-18CD-4943-9A3D-BE3838311305}"/>
              </a:ext>
            </a:extLst>
          </p:cNvPr>
          <p:cNvSpPr/>
          <p:nvPr/>
        </p:nvSpPr>
        <p:spPr>
          <a:xfrm>
            <a:off x="5778500" y="1422400"/>
            <a:ext cx="5461000" cy="1625600"/>
          </a:xfrm>
          <a:prstGeom prst="rect">
            <a:avLst/>
          </a:prstGeom>
          <a:solidFill>
            <a:srgbClr val="0926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ctr"/>
            <a:r>
              <a:rPr lang="en-US" sz="2000">
                <a:solidFill>
                  <a:srgbClr val="FFFFFF"/>
                </a:solidFill>
                <a:latin typeface="Arial"/>
                <a:cs typeface="Arial"/>
              </a:rPr>
              <a:t>Research question
Can age, sex and episode number provide useful decision support for hospital outcome in patients with sepsis?</a:t>
            </a:r>
            <a:endParaRPr lang="en-US" sz="20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45AADC-D826-A248-8B40-AF076AD10065}"/>
              </a:ext>
            </a:extLst>
          </p:cNvPr>
          <p:cNvSpPr txBox="1"/>
          <p:nvPr/>
        </p:nvSpPr>
        <p:spPr>
          <a:xfrm>
            <a:off x="635000" y="34036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400" b="1">
                <a:solidFill>
                  <a:srgbClr val="63B3D1"/>
                </a:solidFill>
                <a:latin typeface="Arial"/>
                <a:cs typeface="Arial"/>
              </a:rPr>
              <a:t>DATASET</a:t>
            </a:r>
            <a:endParaRPr lang="en-US" sz="1400" b="1" dirty="0">
              <a:solidFill>
                <a:srgbClr val="63B3D1"/>
              </a:solidFill>
              <a:latin typeface="Arial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3598C2-070C-FE43-88C4-D2474E2C248E}"/>
              </a:ext>
            </a:extLst>
          </p:cNvPr>
          <p:cNvSpPr txBox="1"/>
          <p:nvPr/>
        </p:nvSpPr>
        <p:spPr>
          <a:xfrm>
            <a:off x="635000" y="3733800"/>
            <a:ext cx="10477500" cy="431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Arial"/>
                <a:cs typeface="Arial"/>
              </a:rPr>
              <a:t>Sepsis Survival Minimal Clinical Records · Norway · 2011–2012 · UCI Machine Learning Repository</a:t>
            </a:r>
            <a:endParaRPr lang="en-US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9BD33B-BFB4-4641-B7E9-716D0E8C7645}"/>
              </a:ext>
            </a:extLst>
          </p:cNvPr>
          <p:cNvSpPr/>
          <p:nvPr/>
        </p:nvSpPr>
        <p:spPr>
          <a:xfrm>
            <a:off x="635000" y="4445000"/>
            <a:ext cx="2413000" cy="1041400"/>
          </a:xfrm>
          <a:prstGeom prst="rect">
            <a:avLst/>
          </a:prstGeom>
          <a:solidFill>
            <a:srgbClr val="63B3D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/>
                <a:cs typeface="Arial"/>
              </a:rPr>
              <a:t>AGE
age_years</a:t>
            </a:r>
            <a:endParaRPr lang="en-US" sz="17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3DEF65-2B01-CA47-B36A-E21FFECF0EF0}"/>
              </a:ext>
            </a:extLst>
          </p:cNvPr>
          <p:cNvSpPr/>
          <p:nvPr/>
        </p:nvSpPr>
        <p:spPr>
          <a:xfrm>
            <a:off x="3302000" y="4445000"/>
            <a:ext cx="2413000" cy="1041400"/>
          </a:xfrm>
          <a:prstGeom prst="rect">
            <a:avLst/>
          </a:prstGeom>
          <a:solidFill>
            <a:srgbClr val="63B3D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/>
                <a:cs typeface="Arial"/>
              </a:rPr>
              <a:t>SEX
male / female</a:t>
            </a:r>
            <a:endParaRPr lang="en-US" sz="17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683594-9F09-3D46-BF2C-019726103A2F}"/>
              </a:ext>
            </a:extLst>
          </p:cNvPr>
          <p:cNvSpPr/>
          <p:nvPr/>
        </p:nvSpPr>
        <p:spPr>
          <a:xfrm>
            <a:off x="5969000" y="4445000"/>
            <a:ext cx="2413000" cy="1041400"/>
          </a:xfrm>
          <a:prstGeom prst="rect">
            <a:avLst/>
          </a:prstGeom>
          <a:solidFill>
            <a:srgbClr val="45B8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/>
                <a:cs typeface="Arial"/>
              </a:rPr>
              <a:t>HISTORY
episode_number</a:t>
            </a:r>
            <a:endParaRPr lang="en-US" sz="17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B666FC-1E31-7743-A042-2E12C02A8C46}"/>
              </a:ext>
            </a:extLst>
          </p:cNvPr>
          <p:cNvSpPr/>
          <p:nvPr/>
        </p:nvSpPr>
        <p:spPr>
          <a:xfrm>
            <a:off x="8636000" y="4445000"/>
            <a:ext cx="2413000" cy="1041400"/>
          </a:xfrm>
          <a:prstGeom prst="rect">
            <a:avLst/>
          </a:prstGeom>
          <a:solidFill>
            <a:srgbClr val="F3A6C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ctr"/>
            <a:r>
              <a:rPr lang="en-US" sz="1700" b="1">
                <a:solidFill>
                  <a:srgbClr val="09263E"/>
                </a:solidFill>
                <a:latin typeface="Arial"/>
                <a:cs typeface="Arial"/>
              </a:rPr>
              <a:t>OUTCOME
alive / dead</a:t>
            </a:r>
            <a:endParaRPr lang="en-US" sz="1700" b="1" dirty="0">
              <a:solidFill>
                <a:srgbClr val="09263E"/>
              </a:solidFill>
              <a:latin typeface="Arial"/>
              <a:cs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B953E1-4B4E-6342-9C6E-CE680207620A}"/>
              </a:ext>
            </a:extLst>
          </p:cNvPr>
          <p:cNvSpPr txBox="1"/>
          <p:nvPr/>
        </p:nvSpPr>
        <p:spPr>
          <a:xfrm>
            <a:off x="635000" y="5842000"/>
            <a:ext cx="8890000" cy="2286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200">
                <a:solidFill>
                  <a:srgbClr val="B8D0E0"/>
                </a:solidFill>
                <a:latin typeface="Arial"/>
                <a:cs typeface="Arial"/>
              </a:rPr>
              <a:t>Source: Chicco &amp; Jurman (2020); UCI dataset DOI 10.24432/C53C8N</a:t>
            </a:r>
            <a:endParaRPr lang="en-US" sz="1200" dirty="0">
              <a:solidFill>
                <a:srgbClr val="B8D0E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72410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2CF50AC-9062-A7BA-906A-3898FD77B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One dataset supports four distinct decision questions</a:t>
            </a:r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172BB727-1624-321F-AEB2-8A4B2F2F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088F43-9D91-CB4D-B878-984AAE8A1307}"/>
              </a:ext>
            </a:extLst>
          </p:cNvPr>
          <p:cNvSpPr/>
          <p:nvPr/>
        </p:nvSpPr>
        <p:spPr>
          <a:xfrm>
            <a:off x="635000" y="1447800"/>
            <a:ext cx="533400" cy="533400"/>
          </a:xfrm>
          <a:prstGeom prst="rect">
            <a:avLst/>
          </a:prstGeom>
          <a:solidFill>
            <a:srgbClr val="63B3D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ctr"/>
            <a:r>
              <a:rPr lang="en-US" sz="2000" b="1">
                <a:solidFill>
                  <a:srgbClr val="09263E"/>
                </a:solidFill>
                <a:latin typeface="Arial"/>
                <a:cs typeface="Arial"/>
              </a:rPr>
              <a:t>1</a:t>
            </a:r>
            <a:endParaRPr lang="en-US" sz="2000" b="1" dirty="0">
              <a:solidFill>
                <a:srgbClr val="09263E"/>
              </a:solidFill>
              <a:latin typeface="Arial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433488-A828-6640-84EB-E07B2E13593C}"/>
              </a:ext>
            </a:extLst>
          </p:cNvPr>
          <p:cNvSpPr txBox="1"/>
          <p:nvPr/>
        </p:nvSpPr>
        <p:spPr>
          <a:xfrm>
            <a:off x="635000" y="2159000"/>
            <a:ext cx="2413000" cy="304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400" b="1">
                <a:solidFill>
                  <a:srgbClr val="63B3D1"/>
                </a:solidFill>
                <a:latin typeface="Arial"/>
                <a:cs typeface="Arial"/>
              </a:rPr>
              <a:t>DESCRIPTIVE</a:t>
            </a:r>
            <a:endParaRPr lang="en-US" sz="1400" b="1" dirty="0">
              <a:solidFill>
                <a:srgbClr val="63B3D1"/>
              </a:solidFill>
              <a:latin typeface="Arial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E0C480-5727-7B42-8D5B-345025A3DFEF}"/>
              </a:ext>
            </a:extLst>
          </p:cNvPr>
          <p:cNvSpPr txBox="1"/>
          <p:nvPr/>
        </p:nvSpPr>
        <p:spPr>
          <a:xfrm>
            <a:off x="635000" y="2590800"/>
            <a:ext cx="2413000" cy="6096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What happened?</a:t>
            </a:r>
            <a:endParaRPr lang="en-US" sz="22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155B68-5DCB-8441-A5E7-B3CFB4A73D02}"/>
              </a:ext>
            </a:extLst>
          </p:cNvPr>
          <p:cNvSpPr txBox="1"/>
          <p:nvPr/>
        </p:nvSpPr>
        <p:spPr>
          <a:xfrm>
            <a:off x="635000" y="3390900"/>
            <a:ext cx="2413000" cy="1143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700">
                <a:solidFill>
                  <a:srgbClr val="FFFFFF"/>
                </a:solidFill>
                <a:latin typeface="Arial"/>
                <a:cs typeface="Arial"/>
              </a:rPr>
              <a:t>Profile age, sex, repeated episodes and overall survival.</a:t>
            </a:r>
            <a:endParaRPr lang="en-US" sz="17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6A5255-7E5C-5A4B-9E42-4CD7DF44E188}"/>
              </a:ext>
            </a:extLst>
          </p:cNvPr>
          <p:cNvSpPr txBox="1"/>
          <p:nvPr/>
        </p:nvSpPr>
        <p:spPr>
          <a:xfrm>
            <a:off x="635000" y="4902200"/>
            <a:ext cx="2413000" cy="406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400">
                <a:solidFill>
                  <a:srgbClr val="B8D0E0"/>
                </a:solidFill>
                <a:latin typeface="Arial"/>
                <a:cs typeface="Arial"/>
              </a:rPr>
              <a:t>User: epidemiologist</a:t>
            </a:r>
            <a:endParaRPr lang="en-US" sz="1400" dirty="0">
              <a:solidFill>
                <a:srgbClr val="B8D0E0"/>
              </a:solidFill>
              <a:latin typeface="Arial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A5E76E-6003-674E-BB53-03A6F2CFA2C0}"/>
              </a:ext>
            </a:extLst>
          </p:cNvPr>
          <p:cNvSpPr/>
          <p:nvPr/>
        </p:nvSpPr>
        <p:spPr>
          <a:xfrm>
            <a:off x="3429000" y="1447800"/>
            <a:ext cx="533400" cy="533400"/>
          </a:xfrm>
          <a:prstGeom prst="rect">
            <a:avLst/>
          </a:prstGeom>
          <a:solidFill>
            <a:srgbClr val="45B8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ctr"/>
            <a:r>
              <a:rPr lang="en-US" sz="2000" b="1">
                <a:solidFill>
                  <a:srgbClr val="09263E"/>
                </a:solidFill>
                <a:latin typeface="Arial"/>
                <a:cs typeface="Arial"/>
              </a:rPr>
              <a:t>2</a:t>
            </a:r>
            <a:endParaRPr lang="en-US" sz="2000" b="1" dirty="0">
              <a:solidFill>
                <a:srgbClr val="09263E"/>
              </a:solidFill>
              <a:latin typeface="Arial"/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C211F7-E671-3041-B4D0-CACA2E2FDF8D}"/>
              </a:ext>
            </a:extLst>
          </p:cNvPr>
          <p:cNvSpPr txBox="1"/>
          <p:nvPr/>
        </p:nvSpPr>
        <p:spPr>
          <a:xfrm>
            <a:off x="3429000" y="2159000"/>
            <a:ext cx="2413000" cy="304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400" b="1">
                <a:solidFill>
                  <a:srgbClr val="45B8B0"/>
                </a:solidFill>
                <a:latin typeface="Arial"/>
                <a:cs typeface="Arial"/>
              </a:rPr>
              <a:t>DIAGNOSTIC</a:t>
            </a:r>
            <a:endParaRPr lang="en-US" sz="1400" b="1" dirty="0">
              <a:solidFill>
                <a:srgbClr val="45B8B0"/>
              </a:solidFill>
              <a:latin typeface="Arial"/>
              <a:cs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CEBDB8-0E8B-C944-85E2-2AE1AED81E25}"/>
              </a:ext>
            </a:extLst>
          </p:cNvPr>
          <p:cNvSpPr txBox="1"/>
          <p:nvPr/>
        </p:nvSpPr>
        <p:spPr>
          <a:xfrm>
            <a:off x="3429000" y="2590800"/>
            <a:ext cx="2413000" cy="6096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Why did outcomes differ?</a:t>
            </a:r>
            <a:endParaRPr lang="en-US" sz="22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244F8E-4720-9F4C-9396-2153E06026A4}"/>
              </a:ext>
            </a:extLst>
          </p:cNvPr>
          <p:cNvSpPr txBox="1"/>
          <p:nvPr/>
        </p:nvSpPr>
        <p:spPr>
          <a:xfrm>
            <a:off x="3429000" y="3390900"/>
            <a:ext cx="2413000" cy="1143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700">
                <a:solidFill>
                  <a:srgbClr val="FFFFFF"/>
                </a:solidFill>
                <a:latin typeface="Arial"/>
                <a:cs typeface="Arial"/>
              </a:rPr>
              <a:t>Test associations between predictors and hospital outcome.</a:t>
            </a:r>
            <a:endParaRPr lang="en-US" sz="17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4FA6A6-1B84-1B48-A55A-5A6FF8DBBDCB}"/>
              </a:ext>
            </a:extLst>
          </p:cNvPr>
          <p:cNvSpPr txBox="1"/>
          <p:nvPr/>
        </p:nvSpPr>
        <p:spPr>
          <a:xfrm>
            <a:off x="3429000" y="4902200"/>
            <a:ext cx="2413000" cy="406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400">
                <a:solidFill>
                  <a:srgbClr val="B8D0E0"/>
                </a:solidFill>
                <a:latin typeface="Arial"/>
                <a:cs typeface="Arial"/>
              </a:rPr>
              <a:t>User: clinical analyst</a:t>
            </a:r>
            <a:endParaRPr lang="en-US" sz="1400" dirty="0">
              <a:solidFill>
                <a:srgbClr val="B8D0E0"/>
              </a:solidFill>
              <a:latin typeface="Arial"/>
              <a:cs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7C54AD3-55B0-524E-AADF-5E10CF28280D}"/>
              </a:ext>
            </a:extLst>
          </p:cNvPr>
          <p:cNvSpPr/>
          <p:nvPr/>
        </p:nvSpPr>
        <p:spPr>
          <a:xfrm>
            <a:off x="6223000" y="1447800"/>
            <a:ext cx="533400" cy="533400"/>
          </a:xfrm>
          <a:prstGeom prst="rect">
            <a:avLst/>
          </a:prstGeom>
          <a:solidFill>
            <a:srgbClr val="F3A6C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ctr"/>
            <a:r>
              <a:rPr lang="en-US" sz="2000" b="1">
                <a:solidFill>
                  <a:srgbClr val="09263E"/>
                </a:solidFill>
                <a:latin typeface="Arial"/>
                <a:cs typeface="Arial"/>
              </a:rPr>
              <a:t>3</a:t>
            </a:r>
            <a:endParaRPr lang="en-US" sz="2000" b="1" dirty="0">
              <a:solidFill>
                <a:srgbClr val="09263E"/>
              </a:solidFill>
              <a:latin typeface="Arial"/>
              <a:cs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EF2186-E898-7641-BCAD-14A3E0371A3C}"/>
              </a:ext>
            </a:extLst>
          </p:cNvPr>
          <p:cNvSpPr txBox="1"/>
          <p:nvPr/>
        </p:nvSpPr>
        <p:spPr>
          <a:xfrm>
            <a:off x="6223000" y="2159000"/>
            <a:ext cx="2413000" cy="304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400" b="1">
                <a:solidFill>
                  <a:srgbClr val="F3A6C8"/>
                </a:solidFill>
                <a:latin typeface="Arial"/>
                <a:cs typeface="Arial"/>
              </a:rPr>
              <a:t>PREDICTIVE</a:t>
            </a:r>
            <a:endParaRPr lang="en-US" sz="1400" b="1" dirty="0">
              <a:solidFill>
                <a:srgbClr val="F3A6C8"/>
              </a:solidFill>
              <a:latin typeface="Arial"/>
              <a:cs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9860AB-230E-C54C-8928-5C76B3A8EEBD}"/>
              </a:ext>
            </a:extLst>
          </p:cNvPr>
          <p:cNvSpPr txBox="1"/>
          <p:nvPr/>
        </p:nvSpPr>
        <p:spPr>
          <a:xfrm>
            <a:off x="6223000" y="2590800"/>
            <a:ext cx="2413000" cy="6096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What is likely to happen?</a:t>
            </a:r>
            <a:endParaRPr lang="en-US" sz="22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8C0DDE-647D-B142-BE65-78FEAE9D2DCF}"/>
              </a:ext>
            </a:extLst>
          </p:cNvPr>
          <p:cNvSpPr txBox="1"/>
          <p:nvPr/>
        </p:nvSpPr>
        <p:spPr>
          <a:xfrm>
            <a:off x="6223000" y="3390900"/>
            <a:ext cx="2413000" cy="1143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700">
                <a:solidFill>
                  <a:srgbClr val="FFFFFF"/>
                </a:solidFill>
                <a:latin typeface="Arial"/>
                <a:cs typeface="Arial"/>
              </a:rPr>
              <a:t>Estimate probability of death at admission using a baseline model.</a:t>
            </a:r>
            <a:endParaRPr lang="en-US" sz="17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460FDA-A0DF-D344-A3AC-0E0530BC0823}"/>
              </a:ext>
            </a:extLst>
          </p:cNvPr>
          <p:cNvSpPr txBox="1"/>
          <p:nvPr/>
        </p:nvSpPr>
        <p:spPr>
          <a:xfrm>
            <a:off x="6223000" y="4902200"/>
            <a:ext cx="2413000" cy="406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400">
                <a:solidFill>
                  <a:srgbClr val="B8D0E0"/>
                </a:solidFill>
                <a:latin typeface="Arial"/>
                <a:cs typeface="Arial"/>
              </a:rPr>
              <a:t>User: care team</a:t>
            </a:r>
            <a:endParaRPr lang="en-US" sz="1400" dirty="0">
              <a:solidFill>
                <a:srgbClr val="B8D0E0"/>
              </a:solidFill>
              <a:latin typeface="Arial"/>
              <a:cs typeface="Arial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C0B9E26-5F61-D541-BE5F-E420B73E3EEA}"/>
              </a:ext>
            </a:extLst>
          </p:cNvPr>
          <p:cNvSpPr/>
          <p:nvPr/>
        </p:nvSpPr>
        <p:spPr>
          <a:xfrm>
            <a:off x="9017000" y="1447800"/>
            <a:ext cx="533400" cy="533400"/>
          </a:xfrm>
          <a:prstGeom prst="rect">
            <a:avLst/>
          </a:prstGeom>
          <a:solidFill>
            <a:srgbClr val="D9EAF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ctr"/>
            <a:r>
              <a:rPr lang="en-US" sz="2000" b="1">
                <a:solidFill>
                  <a:srgbClr val="09263E"/>
                </a:solidFill>
                <a:latin typeface="Arial"/>
                <a:cs typeface="Arial"/>
              </a:rPr>
              <a:t>4</a:t>
            </a:r>
            <a:endParaRPr lang="en-US" sz="2000" b="1" dirty="0">
              <a:solidFill>
                <a:srgbClr val="09263E"/>
              </a:solidFill>
              <a:latin typeface="Arial"/>
              <a:cs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4077D9-9AC6-014F-8A8F-BAB603DE3237}"/>
              </a:ext>
            </a:extLst>
          </p:cNvPr>
          <p:cNvSpPr txBox="1"/>
          <p:nvPr/>
        </p:nvSpPr>
        <p:spPr>
          <a:xfrm>
            <a:off x="9017000" y="2159000"/>
            <a:ext cx="2413000" cy="304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400" b="1">
                <a:solidFill>
                  <a:srgbClr val="D9EAF4"/>
                </a:solidFill>
                <a:latin typeface="Arial"/>
                <a:cs typeface="Arial"/>
              </a:rPr>
              <a:t>PRESCRIPTIVE</a:t>
            </a:r>
            <a:endParaRPr lang="en-US" sz="1400" b="1" dirty="0">
              <a:solidFill>
                <a:srgbClr val="D9EAF4"/>
              </a:solidFill>
              <a:latin typeface="Arial"/>
              <a:cs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07A090-D9D3-0A42-AFB5-E48905FAAC18}"/>
              </a:ext>
            </a:extLst>
          </p:cNvPr>
          <p:cNvSpPr txBox="1"/>
          <p:nvPr/>
        </p:nvSpPr>
        <p:spPr>
          <a:xfrm>
            <a:off x="9017000" y="2590800"/>
            <a:ext cx="2413000" cy="6096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What action should follow?</a:t>
            </a:r>
            <a:endParaRPr lang="en-US" sz="22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8723A3-914B-8247-B57B-5B074FB9A056}"/>
              </a:ext>
            </a:extLst>
          </p:cNvPr>
          <p:cNvSpPr txBox="1"/>
          <p:nvPr/>
        </p:nvSpPr>
        <p:spPr>
          <a:xfrm>
            <a:off x="9017000" y="3390900"/>
            <a:ext cx="2413000" cy="1143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700">
                <a:solidFill>
                  <a:srgbClr val="FFFFFF"/>
                </a:solidFill>
                <a:latin typeface="Arial"/>
                <a:cs typeface="Arial"/>
              </a:rPr>
              <a:t>Rank referrals under capacity constraints with explicit safeguards.</a:t>
            </a:r>
            <a:endParaRPr lang="en-US" sz="17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31472D-69E1-0F48-B83A-00A9BE98ECE5}"/>
              </a:ext>
            </a:extLst>
          </p:cNvPr>
          <p:cNvSpPr txBox="1"/>
          <p:nvPr/>
        </p:nvSpPr>
        <p:spPr>
          <a:xfrm>
            <a:off x="9017000" y="4902200"/>
            <a:ext cx="2413000" cy="406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400">
                <a:solidFill>
                  <a:srgbClr val="B8D0E0"/>
                </a:solidFill>
                <a:latin typeface="Arial"/>
                <a:cs typeface="Arial"/>
              </a:rPr>
              <a:t>User: bed manager</a:t>
            </a:r>
            <a:endParaRPr lang="en-US" sz="1400" dirty="0">
              <a:solidFill>
                <a:srgbClr val="B8D0E0"/>
              </a:solidFill>
              <a:latin typeface="Arial"/>
              <a:cs typeface="Arial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A5C34BA-E851-1F45-B18D-AA6DC8E85396}"/>
              </a:ext>
            </a:extLst>
          </p:cNvPr>
          <p:cNvSpPr/>
          <p:nvPr/>
        </p:nvSpPr>
        <p:spPr>
          <a:xfrm>
            <a:off x="635000" y="5664200"/>
            <a:ext cx="10795000" cy="508000"/>
          </a:xfrm>
          <a:prstGeom prst="rect">
            <a:avLst/>
          </a:prstGeom>
          <a:solidFill>
            <a:srgbClr val="0926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rial"/>
                <a:cs typeface="Arial"/>
              </a:rPr>
              <a:t>Same records · different users · different questions · different evidence standards</a:t>
            </a:r>
            <a:endParaRPr lang="en-US" sz="16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69067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2CF50AC-9062-A7BA-906A-3898FD77B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Describe the cohort first; diagnose associations second</a:t>
            </a:r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172BB727-1624-321F-AEB2-8A4B2F2F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11FD5C-1C67-6F41-B962-B1136EF75092}"/>
              </a:ext>
            </a:extLst>
          </p:cNvPr>
          <p:cNvSpPr txBox="1"/>
          <p:nvPr/>
        </p:nvSpPr>
        <p:spPr>
          <a:xfrm>
            <a:off x="635000" y="13716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400" b="1">
                <a:solidFill>
                  <a:srgbClr val="63B3D1"/>
                </a:solidFill>
                <a:latin typeface="Arial"/>
                <a:cs typeface="Arial"/>
              </a:rPr>
              <a:t>DESCRIPTIVE</a:t>
            </a:r>
            <a:endParaRPr lang="en-US" sz="1400" b="1" dirty="0">
              <a:solidFill>
                <a:srgbClr val="63B3D1"/>
              </a:solidFill>
              <a:latin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426177-F54E-4A4D-91CF-328C3C217673}"/>
              </a:ext>
            </a:extLst>
          </p:cNvPr>
          <p:cNvSpPr/>
          <p:nvPr/>
        </p:nvSpPr>
        <p:spPr>
          <a:xfrm>
            <a:off x="635000" y="1765300"/>
            <a:ext cx="1524000" cy="431800"/>
          </a:xfrm>
          <a:prstGeom prst="rect">
            <a:avLst/>
          </a:prstGeom>
          <a:solidFill>
            <a:srgbClr val="63B3D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ctr"/>
            <a:r>
              <a:rPr lang="en-US" sz="1600" b="1">
                <a:solidFill>
                  <a:srgbClr val="09263E"/>
                </a:solidFill>
                <a:latin typeface="Arial"/>
                <a:cs typeface="Arial"/>
              </a:rPr>
              <a:t>Outputs</a:t>
            </a:r>
            <a:endParaRPr lang="en-US" sz="1600" b="1" dirty="0">
              <a:solidFill>
                <a:srgbClr val="09263E"/>
              </a:solidFill>
              <a:latin typeface="Arial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06D869-4940-A947-B7D0-A953FA52A568}"/>
              </a:ext>
            </a:extLst>
          </p:cNvPr>
          <p:cNvSpPr txBox="1"/>
          <p:nvPr/>
        </p:nvSpPr>
        <p:spPr>
          <a:xfrm>
            <a:off x="635000" y="2413000"/>
            <a:ext cx="4699000" cy="1854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900">
                <a:solidFill>
                  <a:srgbClr val="FFFFFF"/>
                </a:solidFill>
                <a:latin typeface="Arial"/>
                <a:cs typeface="Arial"/>
              </a:rPr>
              <a:t>• Age distribution and age bands
• Sex distribution
• Number of sepsis episodes
• Survival overall and by subgroup</a:t>
            </a:r>
            <a:endParaRPr lang="en-US" sz="19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1208D8-7282-2646-9024-3E7B551C81EF}"/>
              </a:ext>
            </a:extLst>
          </p:cNvPr>
          <p:cNvSpPr txBox="1"/>
          <p:nvPr/>
        </p:nvSpPr>
        <p:spPr>
          <a:xfrm>
            <a:off x="635000" y="4495800"/>
            <a:ext cx="4699000" cy="914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600">
                <a:solidFill>
                  <a:srgbClr val="B8D0E0"/>
                </a:solidFill>
                <a:latin typeface="Arial"/>
                <a:cs typeface="Arial"/>
              </a:rPr>
              <a:t>Methods: frequency tables, proportions, medians/IQR, histograms and stratified outcome tables.</a:t>
            </a:r>
            <a:endParaRPr lang="en-US" sz="1600" dirty="0">
              <a:solidFill>
                <a:srgbClr val="B8D0E0"/>
              </a:solidFill>
              <a:latin typeface="Arial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B9C374-E3D4-D24D-B133-89E3DB845DB2}"/>
              </a:ext>
            </a:extLst>
          </p:cNvPr>
          <p:cNvSpPr txBox="1"/>
          <p:nvPr/>
        </p:nvSpPr>
        <p:spPr>
          <a:xfrm>
            <a:off x="6350000" y="13716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400" b="1">
                <a:solidFill>
                  <a:srgbClr val="45B8B0"/>
                </a:solidFill>
                <a:latin typeface="Arial"/>
                <a:cs typeface="Arial"/>
              </a:rPr>
              <a:t>DIAGNOSTIC</a:t>
            </a:r>
            <a:endParaRPr lang="en-US" sz="1400" b="1" dirty="0">
              <a:solidFill>
                <a:srgbClr val="45B8B0"/>
              </a:solidFill>
              <a:latin typeface="Arial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E4856A-25FF-1944-81C1-91C42C980ED0}"/>
              </a:ext>
            </a:extLst>
          </p:cNvPr>
          <p:cNvSpPr/>
          <p:nvPr/>
        </p:nvSpPr>
        <p:spPr>
          <a:xfrm>
            <a:off x="6350000" y="1765300"/>
            <a:ext cx="1524000" cy="431800"/>
          </a:xfrm>
          <a:prstGeom prst="rect">
            <a:avLst/>
          </a:prstGeom>
          <a:solidFill>
            <a:srgbClr val="45B8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ctr"/>
            <a:r>
              <a:rPr lang="en-US" sz="1600" b="1">
                <a:solidFill>
                  <a:srgbClr val="09263E"/>
                </a:solidFill>
                <a:latin typeface="Arial"/>
                <a:cs typeface="Arial"/>
              </a:rPr>
              <a:t>Question</a:t>
            </a:r>
            <a:endParaRPr lang="en-US" sz="1600" b="1" dirty="0">
              <a:solidFill>
                <a:srgbClr val="09263E"/>
              </a:solidFill>
              <a:latin typeface="Arial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90F469-E8B5-CF4E-96FF-BA59095474DA}"/>
              </a:ext>
            </a:extLst>
          </p:cNvPr>
          <p:cNvSpPr txBox="1"/>
          <p:nvPr/>
        </p:nvSpPr>
        <p:spPr>
          <a:xfrm>
            <a:off x="6350000" y="2413000"/>
            <a:ext cx="4572000" cy="787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cs typeface="Arial"/>
              </a:rPr>
              <a:t>Are age, sex or repeated episodes associated with survival?</a:t>
            </a:r>
            <a:endParaRPr lang="en-US" sz="22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467F66-B7D8-044D-BF70-BC1C43AEF585}"/>
              </a:ext>
            </a:extLst>
          </p:cNvPr>
          <p:cNvSpPr txBox="1"/>
          <p:nvPr/>
        </p:nvSpPr>
        <p:spPr>
          <a:xfrm>
            <a:off x="6350000" y="3479800"/>
            <a:ext cx="4826000" cy="190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>
                <a:solidFill>
                  <a:srgbClr val="FFFFFF"/>
                </a:solidFill>
                <a:latin typeface="Arial"/>
                <a:cs typeface="Arial"/>
              </a:rPr>
              <a:t>Candidate tests
• Chi-square / Fisher’s exact test for categorical comparisons
• Logistic regression for adjusted associations
• Effect sizes with confidence intervals</a:t>
            </a:r>
            <a:endParaRPr lang="en-US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156F8C-4936-C043-B7CE-68003DF96BC3}"/>
              </a:ext>
            </a:extLst>
          </p:cNvPr>
          <p:cNvSpPr/>
          <p:nvPr/>
        </p:nvSpPr>
        <p:spPr>
          <a:xfrm>
            <a:off x="635000" y="5664200"/>
            <a:ext cx="10541000" cy="533400"/>
          </a:xfrm>
          <a:prstGeom prst="rect">
            <a:avLst/>
          </a:prstGeom>
          <a:solidFill>
            <a:srgbClr val="0926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rial"/>
                <a:cs typeface="Arial"/>
              </a:rPr>
              <a:t>Deliverable: a transparent baseline describing who is in the data and which variables carry signal.</a:t>
            </a:r>
            <a:endParaRPr lang="en-US" sz="16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81100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2CF50AC-9062-A7BA-906A-3898FD77B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A simple predictive baseline is easier to validate and explain</a:t>
            </a:r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172BB727-1624-321F-AEB2-8A4B2F2F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5D4A8F-32C2-C341-915E-854E0ACDCD55}"/>
              </a:ext>
            </a:extLst>
          </p:cNvPr>
          <p:cNvSpPr txBox="1"/>
          <p:nvPr/>
        </p:nvSpPr>
        <p:spPr>
          <a:xfrm>
            <a:off x="635000" y="13716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400" b="1">
                <a:solidFill>
                  <a:srgbClr val="63B3D1"/>
                </a:solidFill>
                <a:latin typeface="Arial"/>
                <a:cs typeface="Arial"/>
              </a:rPr>
              <a:t>PROPOSED PIPELINE</a:t>
            </a:r>
            <a:endParaRPr lang="en-US" sz="1400" b="1" dirty="0">
              <a:solidFill>
                <a:srgbClr val="63B3D1"/>
              </a:solidFill>
              <a:latin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302A04-B3E6-6C4E-A353-EAF03EEA2C5C}"/>
              </a:ext>
            </a:extLst>
          </p:cNvPr>
          <p:cNvSpPr/>
          <p:nvPr/>
        </p:nvSpPr>
        <p:spPr>
          <a:xfrm>
            <a:off x="635000" y="1905000"/>
            <a:ext cx="482600" cy="482600"/>
          </a:xfrm>
          <a:prstGeom prst="rect">
            <a:avLst/>
          </a:prstGeom>
          <a:solidFill>
            <a:srgbClr val="63B3D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ctr"/>
            <a:r>
              <a:rPr lang="en-US" b="1">
                <a:solidFill>
                  <a:srgbClr val="09263E"/>
                </a:solidFill>
                <a:latin typeface="Arial"/>
                <a:cs typeface="Arial"/>
              </a:rPr>
              <a:t>1</a:t>
            </a:r>
            <a:endParaRPr lang="en-US" b="1" dirty="0">
              <a:solidFill>
                <a:srgbClr val="09263E"/>
              </a:solidFill>
              <a:latin typeface="Arial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895CAE-D837-8048-ACFA-9672C7AA78D8}"/>
              </a:ext>
            </a:extLst>
          </p:cNvPr>
          <p:cNvSpPr txBox="1"/>
          <p:nvPr/>
        </p:nvSpPr>
        <p:spPr>
          <a:xfrm>
            <a:off x="635000" y="2603500"/>
            <a:ext cx="2222500" cy="3429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Arial"/>
                <a:cs typeface="Arial"/>
              </a:rPr>
              <a:t>Audit</a:t>
            </a:r>
            <a:endParaRPr lang="en-US" sz="20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62CAE2-4D39-E646-9EFD-573D25BF9C1B}"/>
              </a:ext>
            </a:extLst>
          </p:cNvPr>
          <p:cNvSpPr txBox="1"/>
          <p:nvPr/>
        </p:nvSpPr>
        <p:spPr>
          <a:xfrm>
            <a:off x="635000" y="3048000"/>
            <a:ext cx="2222500" cy="7366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600">
                <a:solidFill>
                  <a:srgbClr val="B8D0E0"/>
                </a:solidFill>
                <a:latin typeface="Arial"/>
                <a:cs typeface="Arial"/>
              </a:rPr>
              <a:t>Missingness, coding, duplicates</a:t>
            </a:r>
            <a:endParaRPr lang="en-US" sz="1600" dirty="0">
              <a:solidFill>
                <a:srgbClr val="B8D0E0"/>
              </a:solidFill>
              <a:latin typeface="Arial"/>
              <a:cs typeface="Arial"/>
            </a:endParaRP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318558E7-3970-3A41-9445-C876706768DB}"/>
              </a:ext>
            </a:extLst>
          </p:cNvPr>
          <p:cNvSpPr/>
          <p:nvPr/>
        </p:nvSpPr>
        <p:spPr>
          <a:xfrm>
            <a:off x="2870200" y="1993900"/>
            <a:ext cx="317500" cy="304800"/>
          </a:xfrm>
          <a:prstGeom prst="rightArrow">
            <a:avLst/>
          </a:prstGeom>
          <a:solidFill>
            <a:srgbClr val="B8D0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48DD05-9262-024A-8357-2EB2FE13F49F}"/>
              </a:ext>
            </a:extLst>
          </p:cNvPr>
          <p:cNvSpPr/>
          <p:nvPr/>
        </p:nvSpPr>
        <p:spPr>
          <a:xfrm>
            <a:off x="3238500" y="1905000"/>
            <a:ext cx="482600" cy="482600"/>
          </a:xfrm>
          <a:prstGeom prst="rect">
            <a:avLst/>
          </a:prstGeom>
          <a:solidFill>
            <a:srgbClr val="63B3D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ctr"/>
            <a:r>
              <a:rPr lang="en-US" b="1">
                <a:solidFill>
                  <a:srgbClr val="09263E"/>
                </a:solidFill>
                <a:latin typeface="Arial"/>
                <a:cs typeface="Arial"/>
              </a:rPr>
              <a:t>2</a:t>
            </a:r>
            <a:endParaRPr lang="en-US" b="1" dirty="0">
              <a:solidFill>
                <a:srgbClr val="09263E"/>
              </a:solidFill>
              <a:latin typeface="Arial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1155CA-0672-2B4A-BE43-8E385F048FC6}"/>
              </a:ext>
            </a:extLst>
          </p:cNvPr>
          <p:cNvSpPr txBox="1"/>
          <p:nvPr/>
        </p:nvSpPr>
        <p:spPr>
          <a:xfrm>
            <a:off x="3238500" y="2603500"/>
            <a:ext cx="2222500" cy="3429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Arial"/>
                <a:cs typeface="Arial"/>
              </a:rPr>
              <a:t>Split</a:t>
            </a:r>
            <a:endParaRPr lang="en-US" sz="20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8C2D73-EDAA-2942-9DD6-EB2EBC49EE22}"/>
              </a:ext>
            </a:extLst>
          </p:cNvPr>
          <p:cNvSpPr txBox="1"/>
          <p:nvPr/>
        </p:nvSpPr>
        <p:spPr>
          <a:xfrm>
            <a:off x="3238500" y="3048000"/>
            <a:ext cx="2222500" cy="7366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600">
                <a:solidFill>
                  <a:srgbClr val="B8D0E0"/>
                </a:solidFill>
                <a:latin typeface="Arial"/>
                <a:cs typeface="Arial"/>
              </a:rPr>
              <a:t>Patient-aware train / test split</a:t>
            </a:r>
            <a:endParaRPr lang="en-US" sz="1600" dirty="0">
              <a:solidFill>
                <a:srgbClr val="B8D0E0"/>
              </a:solidFill>
              <a:latin typeface="Arial"/>
              <a:cs typeface="Arial"/>
            </a:endParaRP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8AE753F8-D177-7E44-ACE4-6C1AF99663A7}"/>
              </a:ext>
            </a:extLst>
          </p:cNvPr>
          <p:cNvSpPr/>
          <p:nvPr/>
        </p:nvSpPr>
        <p:spPr>
          <a:xfrm>
            <a:off x="5473700" y="1993900"/>
            <a:ext cx="317500" cy="304800"/>
          </a:xfrm>
          <a:prstGeom prst="rightArrow">
            <a:avLst/>
          </a:prstGeom>
          <a:solidFill>
            <a:srgbClr val="B8D0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68AEEA-2ABF-474F-A079-2F8585D93A4F}"/>
              </a:ext>
            </a:extLst>
          </p:cNvPr>
          <p:cNvSpPr/>
          <p:nvPr/>
        </p:nvSpPr>
        <p:spPr>
          <a:xfrm>
            <a:off x="5842000" y="1905000"/>
            <a:ext cx="482600" cy="482600"/>
          </a:xfrm>
          <a:prstGeom prst="rect">
            <a:avLst/>
          </a:prstGeom>
          <a:solidFill>
            <a:srgbClr val="F3A6C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ctr"/>
            <a:r>
              <a:rPr lang="en-US" b="1">
                <a:solidFill>
                  <a:srgbClr val="09263E"/>
                </a:solidFill>
                <a:latin typeface="Arial"/>
                <a:cs typeface="Arial"/>
              </a:rPr>
              <a:t>3</a:t>
            </a:r>
            <a:endParaRPr lang="en-US" b="1" dirty="0">
              <a:solidFill>
                <a:srgbClr val="09263E"/>
              </a:solidFill>
              <a:latin typeface="Arial"/>
              <a:cs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4AB638-362E-D04D-AF38-1D4049EA30CB}"/>
              </a:ext>
            </a:extLst>
          </p:cNvPr>
          <p:cNvSpPr txBox="1"/>
          <p:nvPr/>
        </p:nvSpPr>
        <p:spPr>
          <a:xfrm>
            <a:off x="5842000" y="2603500"/>
            <a:ext cx="2222500" cy="3429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endParaRPr lang="en-US" sz="20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C00B4B-0D0E-3E4C-AED4-97CA1F998B5F}"/>
              </a:ext>
            </a:extLst>
          </p:cNvPr>
          <p:cNvSpPr txBox="1"/>
          <p:nvPr/>
        </p:nvSpPr>
        <p:spPr>
          <a:xfrm>
            <a:off x="5842000" y="3048000"/>
            <a:ext cx="2222500" cy="7366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600">
                <a:solidFill>
                  <a:srgbClr val="B8D0E0"/>
                </a:solidFill>
                <a:latin typeface="Arial"/>
                <a:cs typeface="Arial"/>
              </a:rPr>
              <a:t>Logistic regression baseline</a:t>
            </a:r>
            <a:endParaRPr lang="en-US" sz="1600" dirty="0">
              <a:solidFill>
                <a:srgbClr val="B8D0E0"/>
              </a:solidFill>
              <a:latin typeface="Arial"/>
              <a:cs typeface="Arial"/>
            </a:endParaRPr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CE6ED47E-864F-164D-8BCD-773E4BDFA2A5}"/>
              </a:ext>
            </a:extLst>
          </p:cNvPr>
          <p:cNvSpPr/>
          <p:nvPr/>
        </p:nvSpPr>
        <p:spPr>
          <a:xfrm>
            <a:off x="8077200" y="1993900"/>
            <a:ext cx="317500" cy="304800"/>
          </a:xfrm>
          <a:prstGeom prst="rightArrow">
            <a:avLst/>
          </a:prstGeom>
          <a:solidFill>
            <a:srgbClr val="B8D0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E300A4-7065-514D-A617-083B004A80EC}"/>
              </a:ext>
            </a:extLst>
          </p:cNvPr>
          <p:cNvSpPr/>
          <p:nvPr/>
        </p:nvSpPr>
        <p:spPr>
          <a:xfrm>
            <a:off x="8445500" y="1905000"/>
            <a:ext cx="482600" cy="482600"/>
          </a:xfrm>
          <a:prstGeom prst="rect">
            <a:avLst/>
          </a:prstGeom>
          <a:solidFill>
            <a:srgbClr val="63B3D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ctr"/>
            <a:r>
              <a:rPr lang="en-US" b="1">
                <a:solidFill>
                  <a:srgbClr val="09263E"/>
                </a:solidFill>
                <a:latin typeface="Arial"/>
                <a:cs typeface="Arial"/>
              </a:rPr>
              <a:t>4</a:t>
            </a:r>
            <a:endParaRPr lang="en-US" b="1" dirty="0">
              <a:solidFill>
                <a:srgbClr val="09263E"/>
              </a:solidFill>
              <a:latin typeface="Arial"/>
              <a:cs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2839FB-D1DB-D24D-AFC3-8AC39A518B53}"/>
              </a:ext>
            </a:extLst>
          </p:cNvPr>
          <p:cNvSpPr txBox="1"/>
          <p:nvPr/>
        </p:nvSpPr>
        <p:spPr>
          <a:xfrm>
            <a:off x="8445500" y="2603500"/>
            <a:ext cx="2222500" cy="3429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Arial"/>
                <a:cs typeface="Arial"/>
              </a:rPr>
              <a:t>Evaluate</a:t>
            </a:r>
            <a:endParaRPr lang="en-US" sz="20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8A59D0-1217-8742-815A-B38674AF2AC6}"/>
              </a:ext>
            </a:extLst>
          </p:cNvPr>
          <p:cNvSpPr txBox="1"/>
          <p:nvPr/>
        </p:nvSpPr>
        <p:spPr>
          <a:xfrm>
            <a:off x="8445500" y="3048000"/>
            <a:ext cx="2222500" cy="7366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600">
                <a:solidFill>
                  <a:srgbClr val="B8D0E0"/>
                </a:solidFill>
                <a:latin typeface="Arial"/>
                <a:cs typeface="Arial"/>
              </a:rPr>
              <a:t>Discrimination + calibration</a:t>
            </a:r>
            <a:endParaRPr lang="en-US" sz="1600" dirty="0">
              <a:solidFill>
                <a:srgbClr val="B8D0E0"/>
              </a:solidFill>
              <a:latin typeface="Arial"/>
              <a:cs typeface="Arial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2B7AD9B-EB69-5F42-8379-A4967B99CA05}"/>
              </a:ext>
            </a:extLst>
          </p:cNvPr>
          <p:cNvSpPr/>
          <p:nvPr/>
        </p:nvSpPr>
        <p:spPr>
          <a:xfrm>
            <a:off x="635000" y="4267200"/>
            <a:ext cx="3175000" cy="431800"/>
          </a:xfrm>
          <a:prstGeom prst="rect">
            <a:avLst/>
          </a:prstGeom>
          <a:solidFill>
            <a:srgbClr val="45B8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ctr"/>
            <a:r>
              <a:rPr lang="en-US" sz="1600" b="1">
                <a:solidFill>
                  <a:srgbClr val="09263E"/>
                </a:solidFill>
                <a:latin typeface="Arial"/>
                <a:cs typeface="Arial"/>
              </a:rPr>
              <a:t>Performance</a:t>
            </a:r>
            <a:endParaRPr lang="en-US" sz="1600" b="1" dirty="0">
              <a:solidFill>
                <a:srgbClr val="09263E"/>
              </a:solidFill>
              <a:latin typeface="Arial"/>
              <a:cs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441DEE-E723-E143-88FD-1A3F000CCA34}"/>
              </a:ext>
            </a:extLst>
          </p:cNvPr>
          <p:cNvSpPr txBox="1"/>
          <p:nvPr/>
        </p:nvSpPr>
        <p:spPr>
          <a:xfrm>
            <a:off x="635000" y="4902200"/>
            <a:ext cx="4445000" cy="939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>
                <a:solidFill>
                  <a:srgbClr val="FFFFFF"/>
                </a:solidFill>
                <a:latin typeface="Arial"/>
                <a:cs typeface="Arial"/>
              </a:rPr>
              <a:t>AUROC · sensitivity · specificity · precision/recall · Brier score · calibration plot</a:t>
            </a:r>
            <a:endParaRPr lang="en-US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DEBD8F-E6FF-254A-AE00-68E6FC41BC70}"/>
              </a:ext>
            </a:extLst>
          </p:cNvPr>
          <p:cNvSpPr/>
          <p:nvPr/>
        </p:nvSpPr>
        <p:spPr>
          <a:xfrm>
            <a:off x="6096000" y="4267200"/>
            <a:ext cx="3175000" cy="431800"/>
          </a:xfrm>
          <a:prstGeom prst="rect">
            <a:avLst/>
          </a:prstGeom>
          <a:solidFill>
            <a:srgbClr val="F3A6C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ctr"/>
            <a:r>
              <a:rPr lang="en-US" sz="1600" b="1">
                <a:solidFill>
                  <a:srgbClr val="09263E"/>
                </a:solidFill>
                <a:latin typeface="Arial"/>
                <a:cs typeface="Arial"/>
              </a:rPr>
              <a:t>Interpretability</a:t>
            </a:r>
            <a:endParaRPr lang="en-US" sz="1600" b="1" dirty="0">
              <a:solidFill>
                <a:srgbClr val="09263E"/>
              </a:solidFill>
              <a:latin typeface="Arial"/>
              <a:cs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4F6224C-0F8C-CC49-A254-389B0E619B6F}"/>
              </a:ext>
            </a:extLst>
          </p:cNvPr>
          <p:cNvSpPr txBox="1"/>
          <p:nvPr/>
        </p:nvSpPr>
        <p:spPr>
          <a:xfrm>
            <a:off x="6096000" y="4902200"/>
            <a:ext cx="4953000" cy="939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>
                <a:solidFill>
                  <a:srgbClr val="FFFFFF"/>
                </a:solidFill>
                <a:latin typeface="Arial"/>
                <a:cs typeface="Arial"/>
              </a:rPr>
              <a:t>Coefficients / odds ratios, predicted probabilities and subgroup performance — not a black-box score.</a:t>
            </a:r>
            <a:endParaRPr lang="en-US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52864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2CF50AC-9062-A7BA-906A-3898FD77B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Prescriptive support must combine risk, capacity and explicit clinical rules</a:t>
            </a:r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172BB727-1624-321F-AEB2-8A4B2F2F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EBCCD9-E288-0141-9753-7869BFA68751}"/>
              </a:ext>
            </a:extLst>
          </p:cNvPr>
          <p:cNvSpPr txBox="1"/>
          <p:nvPr/>
        </p:nvSpPr>
        <p:spPr>
          <a:xfrm>
            <a:off x="635000" y="13716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400" b="1">
                <a:solidFill>
                  <a:srgbClr val="63B3D1"/>
                </a:solidFill>
                <a:latin typeface="Arial"/>
                <a:cs typeface="Arial"/>
              </a:rPr>
              <a:t>DECISION INPUTS</a:t>
            </a:r>
            <a:endParaRPr lang="en-US" sz="1400" b="1" dirty="0">
              <a:solidFill>
                <a:srgbClr val="63B3D1"/>
              </a:solidFill>
              <a:latin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7FEFF9-7117-E34E-8AEF-036DB7721B32}"/>
              </a:ext>
            </a:extLst>
          </p:cNvPr>
          <p:cNvSpPr/>
          <p:nvPr/>
        </p:nvSpPr>
        <p:spPr>
          <a:xfrm>
            <a:off x="635000" y="1905000"/>
            <a:ext cx="2413000" cy="812800"/>
          </a:xfrm>
          <a:prstGeom prst="rect">
            <a:avLst/>
          </a:prstGeom>
          <a:solidFill>
            <a:srgbClr val="63B3D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ctr"/>
            <a:r>
              <a:rPr lang="en-US" sz="2000" b="1">
                <a:solidFill>
                  <a:srgbClr val="09263E"/>
                </a:solidFill>
                <a:latin typeface="Arial"/>
                <a:cs typeface="Arial"/>
              </a:rPr>
              <a:t>Predicted risk</a:t>
            </a:r>
            <a:endParaRPr lang="en-US" sz="2000" b="1" dirty="0">
              <a:solidFill>
                <a:srgbClr val="09263E"/>
              </a:solidFill>
              <a:latin typeface="Arial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7CF9DD-ADB2-EC44-BC54-831423F9A822}"/>
              </a:ext>
            </a:extLst>
          </p:cNvPr>
          <p:cNvSpPr/>
          <p:nvPr/>
        </p:nvSpPr>
        <p:spPr>
          <a:xfrm>
            <a:off x="635000" y="2946400"/>
            <a:ext cx="2413000" cy="812800"/>
          </a:xfrm>
          <a:prstGeom prst="rect">
            <a:avLst/>
          </a:prstGeom>
          <a:solidFill>
            <a:srgbClr val="45B8B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ctr"/>
            <a:r>
              <a:rPr lang="en-US" sz="2000" b="1">
                <a:solidFill>
                  <a:srgbClr val="09263E"/>
                </a:solidFill>
                <a:latin typeface="Arial"/>
                <a:cs typeface="Arial"/>
              </a:rPr>
              <a:t>Available beds</a:t>
            </a:r>
            <a:endParaRPr lang="en-US" sz="2000" b="1" dirty="0">
              <a:solidFill>
                <a:srgbClr val="09263E"/>
              </a:solidFill>
              <a:latin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A58435-84EE-BB4C-944D-2E18B3D2991D}"/>
              </a:ext>
            </a:extLst>
          </p:cNvPr>
          <p:cNvSpPr/>
          <p:nvPr/>
        </p:nvSpPr>
        <p:spPr>
          <a:xfrm>
            <a:off x="635000" y="3987800"/>
            <a:ext cx="2413000" cy="812800"/>
          </a:xfrm>
          <a:prstGeom prst="rect">
            <a:avLst/>
          </a:prstGeom>
          <a:solidFill>
            <a:srgbClr val="F3A6C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ctr"/>
            <a:r>
              <a:rPr lang="en-US" sz="2000" b="1">
                <a:solidFill>
                  <a:srgbClr val="09263E"/>
                </a:solidFill>
                <a:latin typeface="Arial"/>
                <a:cs typeface="Arial"/>
              </a:rPr>
              <a:t>Clinical rules</a:t>
            </a:r>
            <a:endParaRPr lang="en-US" sz="2000" b="1" dirty="0">
              <a:solidFill>
                <a:srgbClr val="09263E"/>
              </a:solidFill>
              <a:latin typeface="Arial"/>
              <a:cs typeface="Arial"/>
            </a:endParaRP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DDC2FD1A-42ED-1A49-A206-E2956DDD4AD1}"/>
              </a:ext>
            </a:extLst>
          </p:cNvPr>
          <p:cNvSpPr/>
          <p:nvPr/>
        </p:nvSpPr>
        <p:spPr>
          <a:xfrm>
            <a:off x="3429000" y="3200400"/>
            <a:ext cx="1143000" cy="304800"/>
          </a:xfrm>
          <a:prstGeom prst="rightArrow">
            <a:avLst/>
          </a:prstGeom>
          <a:solidFill>
            <a:srgbClr val="B8D0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F05AB0-9C1B-D744-A7A8-D6E3A140F2CE}"/>
              </a:ext>
            </a:extLst>
          </p:cNvPr>
          <p:cNvSpPr/>
          <p:nvPr/>
        </p:nvSpPr>
        <p:spPr>
          <a:xfrm>
            <a:off x="4953000" y="2565400"/>
            <a:ext cx="2667000" cy="1574800"/>
          </a:xfrm>
          <a:prstGeom prst="rect">
            <a:avLst/>
          </a:prstGeom>
          <a:solidFill>
            <a:srgbClr val="0926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ctr"/>
            <a:r>
              <a:rPr lang="en-US" sz="2600" b="1">
                <a:solidFill>
                  <a:srgbClr val="FFFFFF"/>
                </a:solidFill>
                <a:latin typeface="Arial"/>
                <a:cs typeface="Arial"/>
              </a:rPr>
              <a:t>Priority list
for review</a:t>
            </a:r>
            <a:endParaRPr lang="en-US" sz="26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8A785B7C-D200-8546-B37C-A8A50B31F578}"/>
              </a:ext>
            </a:extLst>
          </p:cNvPr>
          <p:cNvSpPr/>
          <p:nvPr/>
        </p:nvSpPr>
        <p:spPr>
          <a:xfrm>
            <a:off x="7937500" y="3200400"/>
            <a:ext cx="698500" cy="304800"/>
          </a:xfrm>
          <a:prstGeom prst="rightArrow">
            <a:avLst/>
          </a:prstGeom>
          <a:solidFill>
            <a:srgbClr val="B8D0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5F5665-B83F-9D4F-9BF5-68F201EA079E}"/>
              </a:ext>
            </a:extLst>
          </p:cNvPr>
          <p:cNvSpPr txBox="1"/>
          <p:nvPr/>
        </p:nvSpPr>
        <p:spPr>
          <a:xfrm>
            <a:off x="8890000" y="13716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400" b="1">
                <a:solidFill>
                  <a:srgbClr val="F3A6C8"/>
                </a:solidFill>
                <a:latin typeface="Arial"/>
                <a:cs typeface="Arial"/>
              </a:rPr>
              <a:t>SAFETY GUARDRAILS</a:t>
            </a:r>
            <a:endParaRPr lang="en-US" sz="1400" b="1" dirty="0">
              <a:solidFill>
                <a:srgbClr val="F3A6C8"/>
              </a:solidFill>
              <a:latin typeface="Arial"/>
              <a:cs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ED1F09-1C22-E744-B49E-B49FC1EEB523}"/>
              </a:ext>
            </a:extLst>
          </p:cNvPr>
          <p:cNvSpPr txBox="1"/>
          <p:nvPr/>
        </p:nvSpPr>
        <p:spPr>
          <a:xfrm>
            <a:off x="8890000" y="1905000"/>
            <a:ext cx="2667000" cy="2730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>
                <a:solidFill>
                  <a:srgbClr val="FFFFFF"/>
                </a:solidFill>
                <a:latin typeface="Arial"/>
                <a:cs typeface="Arial"/>
              </a:rPr>
              <a:t>• Decision support, not automatic admission denial
• Clinician override and documented rationale
• Fairness checks by age and sex
• Local validation before use
• Continuous monitoring for drift</a:t>
            </a:r>
            <a:endParaRPr lang="en-US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409D2F-42C9-9541-824F-A852F7A38C9F}"/>
              </a:ext>
            </a:extLst>
          </p:cNvPr>
          <p:cNvSpPr/>
          <p:nvPr/>
        </p:nvSpPr>
        <p:spPr>
          <a:xfrm>
            <a:off x="635000" y="5410200"/>
            <a:ext cx="10795000" cy="609600"/>
          </a:xfrm>
          <a:prstGeom prst="rect">
            <a:avLst/>
          </a:prstGeom>
          <a:solidFill>
            <a:srgbClr val="0926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/>
                <a:cs typeface="Arial"/>
              </a:rPr>
              <a:t>The output is a review queue — final decisions remain clinical and accountable.</a:t>
            </a:r>
            <a:endParaRPr lang="en-US" sz="17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97118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2CF50AC-9062-A7BA-906A-3898FD77B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A lightweight plan keeps the project reproducible</a:t>
            </a:r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172BB727-1624-321F-AEB2-8A4B2F2F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FCB9E7-9481-DB4E-B0EE-B784D409D3F6}"/>
              </a:ext>
            </a:extLst>
          </p:cNvPr>
          <p:cNvSpPr txBox="1"/>
          <p:nvPr/>
        </p:nvSpPr>
        <p:spPr>
          <a:xfrm>
            <a:off x="635000" y="132080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400" b="1">
                <a:solidFill>
                  <a:srgbClr val="63B3D1"/>
                </a:solidFill>
                <a:latin typeface="Arial"/>
                <a:cs typeface="Arial"/>
              </a:rPr>
              <a:t>PROJECT ROADMAP</a:t>
            </a:r>
            <a:endParaRPr lang="en-US" sz="1400" b="1" dirty="0">
              <a:solidFill>
                <a:srgbClr val="63B3D1"/>
              </a:solidFill>
              <a:latin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5B22FE-8EF8-6943-9AD0-FE71BEC113AD}"/>
              </a:ext>
            </a:extLst>
          </p:cNvPr>
          <p:cNvSpPr/>
          <p:nvPr/>
        </p:nvSpPr>
        <p:spPr>
          <a:xfrm>
            <a:off x="635000" y="1778000"/>
            <a:ext cx="1841500" cy="381000"/>
          </a:xfrm>
          <a:prstGeom prst="rect">
            <a:avLst/>
          </a:prstGeom>
          <a:solidFill>
            <a:srgbClr val="63B3D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ctr"/>
            <a:r>
              <a:rPr lang="en-US" sz="1400" b="1">
                <a:solidFill>
                  <a:srgbClr val="09263E"/>
                </a:solidFill>
                <a:latin typeface="Arial"/>
                <a:cs typeface="Arial"/>
              </a:rPr>
              <a:t>28 SEP</a:t>
            </a:r>
            <a:endParaRPr lang="en-US" sz="1400" b="1" dirty="0">
              <a:solidFill>
                <a:srgbClr val="09263E"/>
              </a:solidFill>
              <a:latin typeface="Arial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FE68D5-66C7-F242-BEB5-6581D4EA341E}"/>
              </a:ext>
            </a:extLst>
          </p:cNvPr>
          <p:cNvSpPr txBox="1"/>
          <p:nvPr/>
        </p:nvSpPr>
        <p:spPr>
          <a:xfrm>
            <a:off x="635000" y="2336800"/>
            <a:ext cx="18415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900" b="1">
                <a:solidFill>
                  <a:srgbClr val="FFFFFF"/>
                </a:solidFill>
                <a:latin typeface="Arial"/>
                <a:cs typeface="Arial"/>
              </a:rPr>
              <a:t>Scope</a:t>
            </a:r>
            <a:endParaRPr lang="en-US" sz="19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A2951E-F115-6446-8508-1345B81703E1}"/>
              </a:ext>
            </a:extLst>
          </p:cNvPr>
          <p:cNvSpPr txBox="1"/>
          <p:nvPr/>
        </p:nvSpPr>
        <p:spPr>
          <a:xfrm>
            <a:off x="635000" y="2717800"/>
            <a:ext cx="1841500" cy="457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400">
                <a:solidFill>
                  <a:srgbClr val="B8D0E0"/>
                </a:solidFill>
                <a:latin typeface="Arial"/>
                <a:cs typeface="Arial"/>
              </a:rPr>
              <a:t>Seminar feedback</a:t>
            </a:r>
            <a:endParaRPr lang="en-US" sz="1400" dirty="0">
              <a:solidFill>
                <a:srgbClr val="B8D0E0"/>
              </a:solidFill>
              <a:latin typeface="Arial"/>
              <a:cs typeface="Arial"/>
            </a:endParaRP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592F0DCC-3907-5342-BCA4-04880D83FEB7}"/>
              </a:ext>
            </a:extLst>
          </p:cNvPr>
          <p:cNvSpPr/>
          <p:nvPr/>
        </p:nvSpPr>
        <p:spPr>
          <a:xfrm>
            <a:off x="2489200" y="1866900"/>
            <a:ext cx="254000" cy="228600"/>
          </a:xfrm>
          <a:prstGeom prst="rightArrow">
            <a:avLst/>
          </a:prstGeom>
          <a:solidFill>
            <a:srgbClr val="B8D0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4528D7-07D8-B244-9584-54B103F1EF53}"/>
              </a:ext>
            </a:extLst>
          </p:cNvPr>
          <p:cNvSpPr/>
          <p:nvPr/>
        </p:nvSpPr>
        <p:spPr>
          <a:xfrm>
            <a:off x="2794000" y="1778000"/>
            <a:ext cx="1841500" cy="381000"/>
          </a:xfrm>
          <a:prstGeom prst="rect">
            <a:avLst/>
          </a:prstGeom>
          <a:solidFill>
            <a:srgbClr val="63B3D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ctr"/>
            <a:r>
              <a:rPr lang="en-US" sz="1400" b="1">
                <a:solidFill>
                  <a:srgbClr val="09263E"/>
                </a:solidFill>
                <a:latin typeface="Arial"/>
                <a:cs typeface="Arial"/>
              </a:rPr>
              <a:t>2 OCT</a:t>
            </a:r>
            <a:endParaRPr lang="en-US" sz="1400" b="1" dirty="0">
              <a:solidFill>
                <a:srgbClr val="09263E"/>
              </a:solidFill>
              <a:latin typeface="Arial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E22CA2-8DE9-AF4F-BE4C-F86BA0012EEC}"/>
              </a:ext>
            </a:extLst>
          </p:cNvPr>
          <p:cNvSpPr txBox="1"/>
          <p:nvPr/>
        </p:nvSpPr>
        <p:spPr>
          <a:xfrm>
            <a:off x="2794000" y="2336800"/>
            <a:ext cx="18415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900" b="1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lang="en-US" sz="19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F93D3F-8101-534D-AB65-9A1002A1310B}"/>
              </a:ext>
            </a:extLst>
          </p:cNvPr>
          <p:cNvSpPr txBox="1"/>
          <p:nvPr/>
        </p:nvSpPr>
        <p:spPr>
          <a:xfrm>
            <a:off x="2794000" y="2717800"/>
            <a:ext cx="1841500" cy="457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400">
                <a:solidFill>
                  <a:srgbClr val="B8D0E0"/>
                </a:solidFill>
                <a:latin typeface="Arial"/>
                <a:cs typeface="Arial"/>
              </a:rPr>
              <a:t>Audit + descriptives</a:t>
            </a:r>
            <a:endParaRPr lang="en-US" sz="1400" dirty="0">
              <a:solidFill>
                <a:srgbClr val="B8D0E0"/>
              </a:solidFill>
              <a:latin typeface="Arial"/>
              <a:cs typeface="Arial"/>
            </a:endParaRP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182B1FC0-49EF-A44D-9DFA-279B45E41795}"/>
              </a:ext>
            </a:extLst>
          </p:cNvPr>
          <p:cNvSpPr/>
          <p:nvPr/>
        </p:nvSpPr>
        <p:spPr>
          <a:xfrm>
            <a:off x="4648200" y="1866900"/>
            <a:ext cx="254000" cy="228600"/>
          </a:xfrm>
          <a:prstGeom prst="rightArrow">
            <a:avLst/>
          </a:prstGeom>
          <a:solidFill>
            <a:srgbClr val="B8D0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1C7258-C9D5-0840-8CFC-996BC5529F0A}"/>
              </a:ext>
            </a:extLst>
          </p:cNvPr>
          <p:cNvSpPr/>
          <p:nvPr/>
        </p:nvSpPr>
        <p:spPr>
          <a:xfrm>
            <a:off x="4953000" y="1778000"/>
            <a:ext cx="1841500" cy="381000"/>
          </a:xfrm>
          <a:prstGeom prst="rect">
            <a:avLst/>
          </a:prstGeom>
          <a:solidFill>
            <a:srgbClr val="63B3D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ctr"/>
            <a:r>
              <a:rPr lang="en-US" sz="1400" b="1">
                <a:solidFill>
                  <a:srgbClr val="09263E"/>
                </a:solidFill>
                <a:latin typeface="Arial"/>
                <a:cs typeface="Arial"/>
              </a:rPr>
              <a:t>9 OCT</a:t>
            </a:r>
            <a:endParaRPr lang="en-US" sz="1400" b="1" dirty="0">
              <a:solidFill>
                <a:srgbClr val="09263E"/>
              </a:solidFill>
              <a:latin typeface="Arial"/>
              <a:cs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AACAD9-801A-A44A-9AAB-F92BDE086BCA}"/>
              </a:ext>
            </a:extLst>
          </p:cNvPr>
          <p:cNvSpPr txBox="1"/>
          <p:nvPr/>
        </p:nvSpPr>
        <p:spPr>
          <a:xfrm>
            <a:off x="4953000" y="2336800"/>
            <a:ext cx="18415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900" b="1">
                <a:solidFill>
                  <a:srgbClr val="FFFFFF"/>
                </a:solidFill>
                <a:latin typeface="Arial"/>
                <a:cs typeface="Arial"/>
              </a:rPr>
              <a:t>Models</a:t>
            </a:r>
            <a:endParaRPr lang="en-US" sz="19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BAFD0F-8610-5340-B7B4-5A825028D9F1}"/>
              </a:ext>
            </a:extLst>
          </p:cNvPr>
          <p:cNvSpPr txBox="1"/>
          <p:nvPr/>
        </p:nvSpPr>
        <p:spPr>
          <a:xfrm>
            <a:off x="4953000" y="2717800"/>
            <a:ext cx="1841500" cy="457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400">
                <a:solidFill>
                  <a:srgbClr val="B8D0E0"/>
                </a:solidFill>
                <a:latin typeface="Arial"/>
                <a:cs typeface="Arial"/>
              </a:rPr>
              <a:t>Association + prediction</a:t>
            </a:r>
            <a:endParaRPr lang="en-US" sz="1400" dirty="0">
              <a:solidFill>
                <a:srgbClr val="B8D0E0"/>
              </a:solidFill>
              <a:latin typeface="Arial"/>
              <a:cs typeface="Arial"/>
            </a:endParaRPr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CC6CC37A-C720-B144-A55A-58B8B6A17847}"/>
              </a:ext>
            </a:extLst>
          </p:cNvPr>
          <p:cNvSpPr/>
          <p:nvPr/>
        </p:nvSpPr>
        <p:spPr>
          <a:xfrm>
            <a:off x="6807200" y="1866900"/>
            <a:ext cx="254000" cy="228600"/>
          </a:xfrm>
          <a:prstGeom prst="rightArrow">
            <a:avLst/>
          </a:prstGeom>
          <a:solidFill>
            <a:srgbClr val="B8D0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169230-FC18-F94A-A213-E45D0D4BD177}"/>
              </a:ext>
            </a:extLst>
          </p:cNvPr>
          <p:cNvSpPr/>
          <p:nvPr/>
        </p:nvSpPr>
        <p:spPr>
          <a:xfrm>
            <a:off x="7112000" y="1778000"/>
            <a:ext cx="1841500" cy="381000"/>
          </a:xfrm>
          <a:prstGeom prst="rect">
            <a:avLst/>
          </a:prstGeom>
          <a:solidFill>
            <a:srgbClr val="63B3D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ctr"/>
            <a:r>
              <a:rPr lang="en-US" sz="1400" b="1">
                <a:solidFill>
                  <a:srgbClr val="09263E"/>
                </a:solidFill>
                <a:latin typeface="Arial"/>
                <a:cs typeface="Arial"/>
              </a:rPr>
              <a:t>16 OCT</a:t>
            </a:r>
            <a:endParaRPr lang="en-US" sz="1400" b="1" dirty="0">
              <a:solidFill>
                <a:srgbClr val="09263E"/>
              </a:solidFill>
              <a:latin typeface="Arial"/>
              <a:cs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25A3B4-93EA-0F4D-86FE-2310B539FE52}"/>
              </a:ext>
            </a:extLst>
          </p:cNvPr>
          <p:cNvSpPr txBox="1"/>
          <p:nvPr/>
        </p:nvSpPr>
        <p:spPr>
          <a:xfrm>
            <a:off x="7112000" y="2336800"/>
            <a:ext cx="18415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900" b="1">
                <a:solidFill>
                  <a:srgbClr val="FFFFFF"/>
                </a:solidFill>
                <a:latin typeface="Arial"/>
                <a:cs typeface="Arial"/>
              </a:rPr>
              <a:t>Synthesis</a:t>
            </a:r>
            <a:endParaRPr lang="en-US" sz="19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087C1F-D89B-2348-82F0-6F19A517BE65}"/>
              </a:ext>
            </a:extLst>
          </p:cNvPr>
          <p:cNvSpPr txBox="1"/>
          <p:nvPr/>
        </p:nvSpPr>
        <p:spPr>
          <a:xfrm>
            <a:off x="7112000" y="2717800"/>
            <a:ext cx="1841500" cy="457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400">
                <a:solidFill>
                  <a:srgbClr val="B8D0E0"/>
                </a:solidFill>
                <a:latin typeface="Arial"/>
                <a:cs typeface="Arial"/>
              </a:rPr>
              <a:t>Ethics + recommendations</a:t>
            </a:r>
            <a:endParaRPr lang="en-US" sz="1400" dirty="0">
              <a:solidFill>
                <a:srgbClr val="B8D0E0"/>
              </a:solidFill>
              <a:latin typeface="Arial"/>
              <a:cs typeface="Arial"/>
            </a:endParaRPr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C5CCCFE3-0A85-8C45-8C5D-AAFE3179308F}"/>
              </a:ext>
            </a:extLst>
          </p:cNvPr>
          <p:cNvSpPr/>
          <p:nvPr/>
        </p:nvSpPr>
        <p:spPr>
          <a:xfrm>
            <a:off x="8966200" y="1866900"/>
            <a:ext cx="254000" cy="228600"/>
          </a:xfrm>
          <a:prstGeom prst="rightArrow">
            <a:avLst/>
          </a:prstGeom>
          <a:solidFill>
            <a:srgbClr val="B8D0E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3CAF28-8CEB-6F48-B1A9-1A6830AF67CF}"/>
              </a:ext>
            </a:extLst>
          </p:cNvPr>
          <p:cNvSpPr/>
          <p:nvPr/>
        </p:nvSpPr>
        <p:spPr>
          <a:xfrm>
            <a:off x="9271000" y="1778000"/>
            <a:ext cx="1841500" cy="381000"/>
          </a:xfrm>
          <a:prstGeom prst="rect">
            <a:avLst/>
          </a:prstGeom>
          <a:solidFill>
            <a:srgbClr val="F3A6C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ctr"/>
            <a:r>
              <a:rPr lang="en-US" sz="1400" b="1">
                <a:solidFill>
                  <a:srgbClr val="09263E"/>
                </a:solidFill>
                <a:latin typeface="Arial"/>
                <a:cs typeface="Arial"/>
              </a:rPr>
              <a:t>23 OCT</a:t>
            </a:r>
            <a:endParaRPr lang="en-US" sz="1400" b="1" dirty="0">
              <a:solidFill>
                <a:srgbClr val="09263E"/>
              </a:solidFill>
              <a:latin typeface="Arial"/>
              <a:cs typeface="Arial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63D5E0-00BA-9E4C-8894-96E0CCCB1D28}"/>
              </a:ext>
            </a:extLst>
          </p:cNvPr>
          <p:cNvSpPr txBox="1"/>
          <p:nvPr/>
        </p:nvSpPr>
        <p:spPr>
          <a:xfrm>
            <a:off x="9271000" y="2336800"/>
            <a:ext cx="18415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900" b="1">
                <a:solidFill>
                  <a:srgbClr val="FFFFFF"/>
                </a:solidFill>
                <a:latin typeface="Arial"/>
                <a:cs typeface="Arial"/>
              </a:rPr>
              <a:t>Submit</a:t>
            </a:r>
            <a:endParaRPr lang="en-US" sz="19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2DB58E9-E27E-684D-8FCA-575063EB97D8}"/>
              </a:ext>
            </a:extLst>
          </p:cNvPr>
          <p:cNvSpPr txBox="1"/>
          <p:nvPr/>
        </p:nvSpPr>
        <p:spPr>
          <a:xfrm>
            <a:off x="9271000" y="2717800"/>
            <a:ext cx="1841500" cy="457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400">
                <a:solidFill>
                  <a:srgbClr val="B8D0E0"/>
                </a:solidFill>
                <a:latin typeface="Arial"/>
                <a:cs typeface="Arial"/>
              </a:rPr>
              <a:t>Final report</a:t>
            </a:r>
            <a:endParaRPr lang="en-US" sz="1400" dirty="0">
              <a:solidFill>
                <a:srgbClr val="B8D0E0"/>
              </a:solidFill>
              <a:latin typeface="Arial"/>
              <a:cs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09B12C-0456-8D4F-A532-A763028A52EA}"/>
              </a:ext>
            </a:extLst>
          </p:cNvPr>
          <p:cNvSpPr txBox="1"/>
          <p:nvPr/>
        </p:nvSpPr>
        <p:spPr>
          <a:xfrm>
            <a:off x="635000" y="3708400"/>
            <a:ext cx="4699000" cy="279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400" b="1">
                <a:solidFill>
                  <a:srgbClr val="45B8B0"/>
                </a:solidFill>
                <a:latin typeface="Arial"/>
                <a:cs typeface="Arial"/>
              </a:rPr>
              <a:t>RESPONSIBILITIES</a:t>
            </a:r>
            <a:endParaRPr lang="en-US" sz="1400" b="1" dirty="0">
              <a:solidFill>
                <a:srgbClr val="45B8B0"/>
              </a:solidFill>
              <a:latin typeface="Arial"/>
              <a:cs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012446-D7C4-5643-90D0-C294954D0512}"/>
              </a:ext>
            </a:extLst>
          </p:cNvPr>
          <p:cNvSpPr txBox="1"/>
          <p:nvPr/>
        </p:nvSpPr>
        <p:spPr>
          <a:xfrm>
            <a:off x="635000" y="4140200"/>
            <a:ext cx="4699000" cy="158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700">
                <a:solidFill>
                  <a:srgbClr val="FFFFFF"/>
                </a:solidFill>
                <a:latin typeface="Arial"/>
                <a:cs typeface="Arial"/>
              </a:rPr>
              <a:t>• Shared repository and version control
• Named owner for data, analysis, writing and slides
• Peer review before merging results
• Decision log for assumptions and changes</a:t>
            </a:r>
            <a:endParaRPr lang="en-US" sz="17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ED1DDE1-3E73-1A46-B4A1-B9BBA54B0787}"/>
              </a:ext>
            </a:extLst>
          </p:cNvPr>
          <p:cNvSpPr txBox="1"/>
          <p:nvPr/>
        </p:nvSpPr>
        <p:spPr>
          <a:xfrm>
            <a:off x="6350000" y="3708400"/>
            <a:ext cx="4953000" cy="279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400" b="1">
                <a:solidFill>
                  <a:srgbClr val="F3A6C8"/>
                </a:solidFill>
                <a:latin typeface="Arial"/>
                <a:cs typeface="Arial"/>
              </a:rPr>
              <a:t>ETHICAL &amp; ENVIRONMENTAL CHECKS</a:t>
            </a:r>
            <a:endParaRPr lang="en-US" sz="1400" b="1" dirty="0">
              <a:solidFill>
                <a:srgbClr val="F3A6C8"/>
              </a:solidFill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AFCDF92-9D43-364A-A770-F4EF6747FE13}"/>
              </a:ext>
            </a:extLst>
          </p:cNvPr>
          <p:cNvSpPr txBox="1"/>
          <p:nvPr/>
        </p:nvSpPr>
        <p:spPr>
          <a:xfrm>
            <a:off x="6350000" y="4140200"/>
            <a:ext cx="4953000" cy="158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700">
                <a:solidFill>
                  <a:srgbClr val="FFFFFF"/>
                </a:solidFill>
                <a:latin typeface="Arial"/>
                <a:cs typeface="Arial"/>
              </a:rPr>
              <a:t>• Historical Norwegian data may not generalize locally
• Age and sex can encode structural inequities
• Minimal variables limit clinical completeness
• Use efficient baseline models before complex alternatives</a:t>
            </a:r>
            <a:endParaRPr lang="en-US" sz="17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F19F557-9728-0F49-A4CA-7D7387E575D8}"/>
              </a:ext>
            </a:extLst>
          </p:cNvPr>
          <p:cNvSpPr txBox="1"/>
          <p:nvPr/>
        </p:nvSpPr>
        <p:spPr>
          <a:xfrm>
            <a:off x="635000" y="5943600"/>
            <a:ext cx="10414000" cy="279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300">
                <a:solidFill>
                  <a:srgbClr val="B8D0E0"/>
                </a:solidFill>
                <a:latin typeface="Arial"/>
                <a:cs typeface="Arial"/>
              </a:rPr>
              <a:t>AI use: Grammarly for language review; all analytical choices and claims remain the group’s responsibility.</a:t>
            </a:r>
            <a:endParaRPr lang="en-US" sz="1300" dirty="0">
              <a:solidFill>
                <a:srgbClr val="B8D0E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86725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3ADF171-0556-1E6C-DF0C-10463B9A8C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 dirty="0" err="1"/>
              <a:t>Questions</a:t>
            </a:r>
            <a:r>
              <a:rPr lang="sv-SE" dirty="0"/>
              <a:t> for </a:t>
            </a:r>
            <a:r>
              <a:rPr lang="sv-SE" dirty="0" err="1"/>
              <a:t>Monday’s</a:t>
            </a:r>
            <a:r>
              <a:rPr lang="sv-SE" dirty="0"/>
              <a:t> </a:t>
            </a:r>
            <a:r>
              <a:rPr lang="sv-SE" dirty="0" err="1"/>
              <a:t>seminar</a:t>
            </a:r>
            <a:endParaRPr lang="sv-SE" dirty="0"/>
          </a:p>
        </p:txBody>
      </p:sp>
      <p:sp>
        <p:nvSpPr>
          <p:cNvPr id="5" name="Underrubrik 4">
            <a:extLst>
              <a:ext uri="{FF2B5EF4-FFF2-40B4-BE49-F238E27FC236}">
                <a16:creationId xmlns:a16="http://schemas.microsoft.com/office/drawing/2014/main" id="{7C32B4D4-3616-EA2A-5AA0-232158ADF8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v-SE"/>
              <a:t>We want feedback on scope, methods and responsible use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86D2EE-9A2B-3748-A238-043C2A3938B3}"/>
              </a:ext>
            </a:extLst>
          </p:cNvPr>
          <p:cNvSpPr txBox="1"/>
          <p:nvPr/>
        </p:nvSpPr>
        <p:spPr>
          <a:xfrm>
            <a:off x="838200" y="4368800"/>
            <a:ext cx="355600" cy="3556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2000" b="1">
                <a:solidFill>
                  <a:srgbClr val="F3A6C8"/>
                </a:solidFill>
                <a:latin typeface="Arial"/>
                <a:cs typeface="Arial"/>
              </a:rPr>
              <a:t>1</a:t>
            </a:r>
            <a:endParaRPr lang="en-US" sz="2000" b="1" dirty="0">
              <a:solidFill>
                <a:srgbClr val="F3A6C8"/>
              </a:solidFill>
              <a:latin typeface="Arial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29FD0E-5614-564A-AE2F-4EC0497F301D}"/>
              </a:ext>
            </a:extLst>
          </p:cNvPr>
          <p:cNvSpPr txBox="1"/>
          <p:nvPr/>
        </p:nvSpPr>
        <p:spPr>
          <a:xfrm>
            <a:off x="1371600" y="4368800"/>
            <a:ext cx="3048000" cy="685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Is the four-family framing clear and clinically meaningful?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1923EB-2007-7C43-9244-36380A618552}"/>
              </a:ext>
            </a:extLst>
          </p:cNvPr>
          <p:cNvSpPr txBox="1"/>
          <p:nvPr/>
        </p:nvSpPr>
        <p:spPr>
          <a:xfrm>
            <a:off x="4546600" y="4368800"/>
            <a:ext cx="355600" cy="3556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2000" b="1">
                <a:solidFill>
                  <a:srgbClr val="45B8B0"/>
                </a:solidFill>
                <a:latin typeface="Arial"/>
                <a:cs typeface="Arial"/>
              </a:rPr>
              <a:t>2</a:t>
            </a:r>
            <a:endParaRPr lang="en-US" sz="2000" b="1" dirty="0">
              <a:solidFill>
                <a:srgbClr val="45B8B0"/>
              </a:solidFill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6A046-31D2-6A4E-BBF0-696D5329F8B2}"/>
              </a:ext>
            </a:extLst>
          </p:cNvPr>
          <p:cNvSpPr txBox="1"/>
          <p:nvPr/>
        </p:nvSpPr>
        <p:spPr>
          <a:xfrm>
            <a:off x="5080000" y="4368800"/>
            <a:ext cx="3048000" cy="685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Arial"/>
                <a:cs typeface="Arial"/>
              </a:rPr>
              <a:t>Are logistic regression and association tests an appropriate baseline?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D6B88F-499A-3C48-9560-59457BA3FA4B}"/>
              </a:ext>
            </a:extLst>
          </p:cNvPr>
          <p:cNvSpPr txBox="1"/>
          <p:nvPr/>
        </p:nvSpPr>
        <p:spPr>
          <a:xfrm>
            <a:off x="8255000" y="4368800"/>
            <a:ext cx="355600" cy="3556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2000" b="1">
                <a:solidFill>
                  <a:srgbClr val="63B3D1"/>
                </a:solidFill>
                <a:latin typeface="Arial"/>
                <a:cs typeface="Arial"/>
              </a:rPr>
              <a:t>3</a:t>
            </a:r>
            <a:endParaRPr lang="en-US" sz="2000" b="1" dirty="0">
              <a:solidFill>
                <a:srgbClr val="63B3D1"/>
              </a:solidFill>
              <a:latin typeface="Arial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F24A41-2D89-B147-A944-395B83E5D2D5}"/>
              </a:ext>
            </a:extLst>
          </p:cNvPr>
          <p:cNvSpPr txBox="1"/>
          <p:nvPr/>
        </p:nvSpPr>
        <p:spPr>
          <a:xfrm>
            <a:off x="8788400" y="4368800"/>
            <a:ext cx="2921000" cy="685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What safeguards are essential before discussing prioritization?</a:t>
            </a:r>
            <a:endParaRPr lang="en-US" sz="15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7F7DB7-1B6C-BE46-BE62-2F28FE190092}"/>
              </a:ext>
            </a:extLst>
          </p:cNvPr>
          <p:cNvSpPr txBox="1"/>
          <p:nvPr/>
        </p:nvSpPr>
        <p:spPr>
          <a:xfrm>
            <a:off x="838200" y="6388100"/>
            <a:ext cx="10414000" cy="3048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000">
                <a:solidFill>
                  <a:srgbClr val="B8D0E0"/>
                </a:solidFill>
                <a:latin typeface="Arial"/>
                <a:cs typeface="Arial"/>
              </a:rPr>
              <a:t>Yuanrui Zou · Evangelos Balanikas · Qizheng Zhao · Zoltan Kurhejja · Xuehai Wang · Anupom Das · Christian Schinkel · Kaiwen Huang</a:t>
            </a:r>
            <a:endParaRPr lang="en-US" sz="1000" dirty="0">
              <a:solidFill>
                <a:srgbClr val="B8D0E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0014408"/>
      </p:ext>
    </p:extLst>
  </p:cSld>
  <p:clrMapOvr>
    <a:masterClrMapping/>
  </p:clrMapOvr>
</p:sld>
</file>

<file path=ppt/theme/theme1.xml><?xml version="1.0" encoding="utf-8"?>
<a:theme xmlns:a="http://schemas.openxmlformats.org/drawingml/2006/main" name="Stockholms Universitet">
  <a:themeElements>
    <a:clrScheme name="Stockholms Universitet - Färger Mörk">
      <a:dk1>
        <a:sysClr val="windowText" lastClr="000000"/>
      </a:dk1>
      <a:lt1>
        <a:sysClr val="window" lastClr="FFFFFF"/>
      </a:lt1>
      <a:dk2>
        <a:srgbClr val="002F5F"/>
      </a:dk2>
      <a:lt2>
        <a:srgbClr val="F8F8F8"/>
      </a:lt2>
      <a:accent1>
        <a:srgbClr val="FFFFFF"/>
      </a:accent1>
      <a:accent2>
        <a:srgbClr val="ACDEE6"/>
      </a:accent2>
      <a:accent3>
        <a:srgbClr val="9BB2CE"/>
      </a:accent3>
      <a:accent4>
        <a:srgbClr val="EB7125"/>
      </a:accent4>
      <a:accent5>
        <a:srgbClr val="A3A86B"/>
      </a:accent5>
      <a:accent6>
        <a:srgbClr val="33587F"/>
      </a:accent6>
      <a:hlink>
        <a:srgbClr val="FFFFFF"/>
      </a:hlink>
      <a:folHlink>
        <a:srgbClr val="ACDEE6"/>
      </a:folHlink>
    </a:clrScheme>
    <a:fontScheme name="Stockholms Universitet - Typsnit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 dirty="0">
            <a:solidFill>
              <a:schemeClr val="bg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ockholms universitet - Mörk.potx" id="{55A92D32-9989-4A22-AC21-030F6321F412}" vid="{B926C999-3D20-4301-881B-3530F66239C1}"/>
    </a:ext>
  </a:extLst>
</a:theme>
</file>

<file path=ppt/theme/theme2.xml><?xml version="1.0" encoding="utf-8"?>
<a:theme xmlns:a="http://schemas.openxmlformats.org/drawingml/2006/main" name="Office-tema">
  <a:themeElements>
    <a:clrScheme name="Stockholms Universitet - Färger">
      <a:dk1>
        <a:sysClr val="windowText" lastClr="000000"/>
      </a:dk1>
      <a:lt1>
        <a:sysClr val="window" lastClr="FFFFFF"/>
      </a:lt1>
      <a:dk2>
        <a:srgbClr val="002F5F"/>
      </a:dk2>
      <a:lt2>
        <a:srgbClr val="F8F8F8"/>
      </a:lt2>
      <a:accent1>
        <a:srgbClr val="002F5F"/>
      </a:accent1>
      <a:accent2>
        <a:srgbClr val="ACDEE6"/>
      </a:accent2>
      <a:accent3>
        <a:srgbClr val="9BB2CE"/>
      </a:accent3>
      <a:accent4>
        <a:srgbClr val="EB7125"/>
      </a:accent4>
      <a:accent5>
        <a:srgbClr val="A3A86B"/>
      </a:accent5>
      <a:accent6>
        <a:srgbClr val="33587F"/>
      </a:accent6>
      <a:hlink>
        <a:srgbClr val="002F5F"/>
      </a:hlink>
      <a:folHlink>
        <a:srgbClr val="33587F"/>
      </a:folHlink>
    </a:clrScheme>
    <a:fontScheme name="Stockholms Universitet - Typsnit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ma">
  <a:themeElements>
    <a:clrScheme name="Stockholms Universitet - Färger">
      <a:dk1>
        <a:sysClr val="windowText" lastClr="000000"/>
      </a:dk1>
      <a:lt1>
        <a:sysClr val="window" lastClr="FFFFFF"/>
      </a:lt1>
      <a:dk2>
        <a:srgbClr val="002F5F"/>
      </a:dk2>
      <a:lt2>
        <a:srgbClr val="F8F8F8"/>
      </a:lt2>
      <a:accent1>
        <a:srgbClr val="002F5F"/>
      </a:accent1>
      <a:accent2>
        <a:srgbClr val="ACDEE6"/>
      </a:accent2>
      <a:accent3>
        <a:srgbClr val="9BB2CE"/>
      </a:accent3>
      <a:accent4>
        <a:srgbClr val="EB7125"/>
      </a:accent4>
      <a:accent5>
        <a:srgbClr val="A3A86B"/>
      </a:accent5>
      <a:accent6>
        <a:srgbClr val="33587F"/>
      </a:accent6>
      <a:hlink>
        <a:srgbClr val="5F5F5F"/>
      </a:hlink>
      <a:folHlink>
        <a:srgbClr val="919191"/>
      </a:folHlink>
    </a:clrScheme>
    <a:fontScheme name="Stockholms Universitet - Typsnit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F5AFF641-9837-4361-9718-D85FB1B0B86F}">
  <we:reference id="33491e4f-5d38-4c24-85cb-c5144f8a0d2f" version="1.0.0.0" store="EXCatalog" storeType="EXCatalog"/>
  <we:alternateReferences/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E613E4F0-4D38-964F-9EBB-E25A0517A6B4}">
  <we:reference id="wa200010215" version="2.0.0.1" store="en-US" storeType="OMEX"/>
  <we:alternateReferences>
    <we:reference id="WA200010215" version="2.0.0.1" store="" storeType="OMEX"/>
  </we:alternateReferences>
  <we:properties>
    <we:property name="bps.codex_control.document_id" value="&quot;b8a0a971-2ef6-42cd-9fcb-3d23ee332c06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DEA9E5426AFC6429736A46F0DA455F2" ma:contentTypeVersion="3" ma:contentTypeDescription="Create a new document." ma:contentTypeScope="" ma:versionID="e4c8b3d6f7990df4f1d2d8a7ae0bdd44">
  <xsd:schema xmlns:xsd="http://www.w3.org/2001/XMLSchema" xmlns:xs="http://www.w3.org/2001/XMLSchema" xmlns:p="http://schemas.microsoft.com/office/2006/metadata/properties" xmlns:ns2="1f5dded1-1c70-4dcf-942e-13d22f48ba26" targetNamespace="http://schemas.microsoft.com/office/2006/metadata/properties" ma:root="true" ma:fieldsID="19812d7f122323a4ddec8ee848f22be1" ns2:_="">
    <xsd:import namespace="1f5dded1-1c70-4dcf-942e-13d22f48ba2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5dded1-1c70-4dcf-942e-13d22f48ba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4ABDA6A-1F6C-4B42-8544-08E5AE6AC91F}">
  <ds:schemaRefs>
    <ds:schemaRef ds:uri="10c3a147-0d64-46aa-a281-dc97358e8373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www.w3.org/XML/1998/namespace"/>
    <ds:schemaRef ds:uri="d7532cd0-e888-47d6-8f58-db0210f25002"/>
    <ds:schemaRef ds:uri="http://schemas.microsoft.com/office/2006/metadata/properties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9CEBAD6A-AFE5-46E0-9A90-AF4AB80FFBE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13D1B49-C289-42B9-9003-086CB8906C3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f5dded1-1c70-4dcf-942e-13d22f48ba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Stockholms Universitet</Template>
  <TotalTime>17</TotalTime>
  <Words>675</Words>
  <Application>Microsoft Macintosh PowerPoint</Application>
  <PresentationFormat>Widescreen</PresentationFormat>
  <Paragraphs>104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Stockholms Universitet</vt:lpstr>
      <vt:lpstr>Sepsis survival from minimal clinical records</vt:lpstr>
      <vt:lpstr>Three variables may support early risk stratification — but not replace clinical judgment</vt:lpstr>
      <vt:lpstr>One dataset supports four distinct decision questions</vt:lpstr>
      <vt:lpstr>Describe the cohort first; diagnose associations second</vt:lpstr>
      <vt:lpstr>A simple predictive baseline is easier to validate and explain</vt:lpstr>
      <vt:lpstr>Prescriptive support must combine risk, capacity and explicit clinical rules</vt:lpstr>
      <vt:lpstr>A lightweight plan keeps the project reproducible</vt:lpstr>
      <vt:lpstr>Questions for Monday’s seminar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Schinkel</dc:creator>
  <cp:lastModifiedBy>Christian Schinkel</cp:lastModifiedBy>
  <cp:revision>2</cp:revision>
  <dcterms:created xsi:type="dcterms:W3CDTF">2026-09-26T19:14:54Z</dcterms:created>
  <dcterms:modified xsi:type="dcterms:W3CDTF">2026-09-26T19:31:58Z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0x010100FDEA9E5426AFC6429736A46F0DA455F2</vt:lpwstr>
  </property>
  <property fmtid="{D5CDD505-2E9C-101B-9397-08002B2CF9AE}" pid="3" name="Order">
    <vt:r8>32000</vt:r8>
  </property>
  <property fmtid="{D5CDD505-2E9C-101B-9397-08002B2CF9AE}" pid="4" name="MediaServiceImageTags">
    <vt:lpwstr/>
  </property>
  <property fmtid="{D5CDD505-2E9C-101B-9397-08002B2CF9AE}" pid="5" name="Godkänd">
    <vt:bool>false</vt:bool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  <property fmtid="{D5CDD505-2E9C-101B-9397-08002B2CF9AE}" pid="13" name="xd_Signature">
    <vt:bool>false</vt:bool>
  </property>
</Properties>
</file>